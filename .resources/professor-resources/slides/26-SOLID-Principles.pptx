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8" r:id="rId3"/>
    <p:sldMasterId id="2147483706" r:id="rId4"/>
  </p:sldMasterIdLst>
  <p:notesMasterIdLst>
    <p:notesMasterId r:id="rId48"/>
  </p:notesMasterIdLst>
  <p:sldIdLst>
    <p:sldId id="563" r:id="rId5"/>
    <p:sldId id="362" r:id="rId6"/>
    <p:sldId id="364" r:id="rId7"/>
    <p:sldId id="365" r:id="rId8"/>
    <p:sldId id="366" r:id="rId9"/>
    <p:sldId id="367" r:id="rId10"/>
    <p:sldId id="380" r:id="rId11"/>
    <p:sldId id="381" r:id="rId12"/>
    <p:sldId id="675" r:id="rId13"/>
    <p:sldId id="368" r:id="rId14"/>
    <p:sldId id="369" r:id="rId15"/>
    <p:sldId id="674" r:id="rId16"/>
    <p:sldId id="671" r:id="rId17"/>
    <p:sldId id="673" r:id="rId18"/>
    <p:sldId id="672" r:id="rId19"/>
    <p:sldId id="382" r:id="rId20"/>
    <p:sldId id="383" r:id="rId21"/>
    <p:sldId id="385" r:id="rId22"/>
    <p:sldId id="384" r:id="rId23"/>
    <p:sldId id="373" r:id="rId24"/>
    <p:sldId id="374" r:id="rId25"/>
    <p:sldId id="375" r:id="rId26"/>
    <p:sldId id="676" r:id="rId27"/>
    <p:sldId id="684" r:id="rId28"/>
    <p:sldId id="437" r:id="rId29"/>
    <p:sldId id="376" r:id="rId30"/>
    <p:sldId id="677" r:id="rId31"/>
    <p:sldId id="377" r:id="rId32"/>
    <p:sldId id="683" r:id="rId33"/>
    <p:sldId id="300" r:id="rId34"/>
    <p:sldId id="678" r:id="rId35"/>
    <p:sldId id="685" r:id="rId36"/>
    <p:sldId id="679" r:id="rId37"/>
    <p:sldId id="680" r:id="rId38"/>
    <p:sldId id="378" r:id="rId39"/>
    <p:sldId id="681" r:id="rId40"/>
    <p:sldId id="379" r:id="rId41"/>
    <p:sldId id="682" r:id="rId42"/>
    <p:sldId id="389" r:id="rId43"/>
    <p:sldId id="393" r:id="rId44"/>
    <p:sldId id="390" r:id="rId45"/>
    <p:sldId id="394" r:id="rId46"/>
    <p:sldId id="395" r:id="rId4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581BC-8399-4C35-A99F-C5997CCAB4FA}" v="7" dt="2025-11-06T07:40:08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 autoAdjust="0"/>
    <p:restoredTop sz="90566" autoAdjust="0"/>
  </p:normalViewPr>
  <p:slideViewPr>
    <p:cSldViewPr>
      <p:cViewPr varScale="1">
        <p:scale>
          <a:sx n="83" d="100"/>
          <a:sy n="83" d="100"/>
        </p:scale>
        <p:origin x="58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DI MARTINO" userId="72def432-61df-4c62-97db-ecf35466c3f0" providerId="ADAL" clId="{EBC940B7-09B3-4E22-9439-BB5AB578558A}"/>
    <pc:docChg chg="undo custSel mod addSld delSld modSld modMainMaster">
      <pc:chgData name="SERGIO DI MARTINO" userId="72def432-61df-4c62-97db-ecf35466c3f0" providerId="ADAL" clId="{EBC940B7-09B3-4E22-9439-BB5AB578558A}" dt="2025-11-06T07:40:09.986" v="58" actId="47"/>
      <pc:docMkLst>
        <pc:docMk/>
      </pc:docMkLst>
      <pc:sldChg chg="modSp mod">
        <pc:chgData name="SERGIO DI MARTINO" userId="72def432-61df-4c62-97db-ecf35466c3f0" providerId="ADAL" clId="{EBC940B7-09B3-4E22-9439-BB5AB578558A}" dt="2025-11-06T07:38:55.755" v="44" actId="27636"/>
        <pc:sldMkLst>
          <pc:docMk/>
          <pc:sldMk cId="0" sldId="300"/>
        </pc:sldMkLst>
        <pc:spChg chg="mod">
          <ac:chgData name="SERGIO DI MARTINO" userId="72def432-61df-4c62-97db-ecf35466c3f0" providerId="ADAL" clId="{EBC940B7-09B3-4E22-9439-BB5AB578558A}" dt="2025-11-06T07:38:55.755" v="44" actId="27636"/>
          <ac:spMkLst>
            <pc:docMk/>
            <pc:sldMk cId="0" sldId="300"/>
            <ac:spMk id="3" creationId="{93D8E18E-2A8B-4A1E-9D0E-666C8B22361D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00"/>
            <ac:spMk id="17410" creationId="{F77AC9A4-C063-403F-8F5D-4BB3431E406F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2"/>
            <ac:spMk id="2560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842" v="47" actId="27636"/>
        <pc:sldMkLst>
          <pc:docMk/>
          <pc:sldMk cId="0" sldId="364"/>
        </pc:sldMkLst>
        <pc:spChg chg="mod">
          <ac:chgData name="SERGIO DI MARTINO" userId="72def432-61df-4c62-97db-ecf35466c3f0" providerId="ADAL" clId="{EBC940B7-09B3-4E22-9439-BB5AB578558A}" dt="2025-11-06T07:38:55.842" v="47" actId="27636"/>
          <ac:spMkLst>
            <pc:docMk/>
            <pc:sldMk cId="0" sldId="364"/>
            <ac:spMk id="2765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4"/>
            <ac:spMk id="8192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4.049" v="41"/>
        <pc:sldMkLst>
          <pc:docMk/>
          <pc:sldMk cId="0" sldId="36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5"/>
            <ac:spMk id="3" creationId="{3DCB394E-60C0-4149-9010-5D8AB704199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5"/>
            <ac:spMk id="28674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4.586" v="42" actId="27636"/>
        <pc:sldMkLst>
          <pc:docMk/>
          <pc:sldMk cId="0" sldId="366"/>
        </pc:sldMkLst>
        <pc:spChg chg="mod">
          <ac:chgData name="SERGIO DI MARTINO" userId="72def432-61df-4c62-97db-ecf35466c3f0" providerId="ADAL" clId="{EBC940B7-09B3-4E22-9439-BB5AB578558A}" dt="2025-11-06T07:38:54.586" v="42" actId="27636"/>
          <ac:spMkLst>
            <pc:docMk/>
            <pc:sldMk cId="0" sldId="366"/>
            <ac:spMk id="8397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7"/>
            <ac:spMk id="31746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7"/>
            <ac:spMk id="8499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8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8"/>
            <ac:spMk id="2" creationId="{9778452F-11BB-4932-BA53-34CB02F40D27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9"/>
            <ac:spMk id="3481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9"/>
            <ac:spMk id="8704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3"/>
            <ac:spMk id="38914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3"/>
            <ac:spMk id="9216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5"/>
            <ac:spMk id="4096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5"/>
            <ac:spMk id="9421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6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6"/>
            <ac:spMk id="41986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6"/>
            <ac:spMk id="96258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7"/>
            <ac:spMk id="4301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7"/>
            <ac:spMk id="9728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8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8"/>
            <ac:spMk id="44034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8"/>
            <ac:spMk id="9830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9"/>
            <ac:spMk id="4505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9"/>
            <ac:spMk id="9933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0"/>
            <ac:spMk id="5734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1"/>
            <ac:spMk id="5837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2"/>
            <ac:spMk id="5939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3"/>
            <ac:spMk id="60418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9:09.017" v="48" actId="1076"/>
        <pc:sldMkLst>
          <pc:docMk/>
          <pc:sldMk cId="0" sldId="38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4"/>
            <ac:spMk id="3" creationId="{61B883E5-D1AD-4CC2-A433-C37F8D66C7E8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4"/>
            <ac:spMk id="61442" creationId="{00000000-0000-0000-0000-000000000000}"/>
          </ac:spMkLst>
        </pc:spChg>
        <pc:picChg chg="mod">
          <ac:chgData name="SERGIO DI MARTINO" userId="72def432-61df-4c62-97db-ecf35466c3f0" providerId="ADAL" clId="{EBC940B7-09B3-4E22-9439-BB5AB578558A}" dt="2025-11-06T07:39:09.017" v="48" actId="1076"/>
          <ac:picMkLst>
            <pc:docMk/>
            <pc:sldMk cId="0" sldId="384"/>
            <ac:picMk id="61444" creationId="{00000000-0000-0000-0000-000000000000}"/>
          </ac:picMkLst>
        </pc:pic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5"/>
            <ac:spMk id="6246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9"/>
            <ac:spMk id="3" creationId="{B2288A2A-E85E-4484-8407-E0021D7C9B23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9"/>
            <ac:spMk id="6758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0"/>
            <ac:spMk id="3" creationId="{B467DF0E-7CDC-4329-9D42-EE2EA736EF61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0"/>
            <ac:spMk id="70658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3"/>
            <ac:spMk id="7475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3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3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039307765" sldId="43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9307765" sldId="437"/>
            <ac:spMk id="120834" creationId="{00000000-0000-0000-0000-000000000000}"/>
          </ac:spMkLst>
        </pc:spChg>
      </pc:sldChg>
      <pc:sldChg chg="modSp del">
        <pc:chgData name="SERGIO DI MARTINO" userId="72def432-61df-4c62-97db-ecf35466c3f0" providerId="ADAL" clId="{EBC940B7-09B3-4E22-9439-BB5AB578558A}" dt="2025-11-06T07:40:09.986" v="58" actId="47"/>
        <pc:sldMkLst>
          <pc:docMk/>
          <pc:sldMk cId="1542248357" sldId="4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1542248357" sldId="483"/>
            <ac:spMk id="7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1542248357" sldId="483"/>
            <ac:spMk id="18" creationId="{00000000-0000-0000-0000-000000000000}"/>
          </ac:spMkLst>
        </pc:spChg>
      </pc:sldChg>
      <pc:sldChg chg="modSp add mod">
        <pc:chgData name="SERGIO DI MARTINO" userId="72def432-61df-4c62-97db-ecf35466c3f0" providerId="ADAL" clId="{EBC940B7-09B3-4E22-9439-BB5AB578558A}" dt="2025-11-06T07:40:08.478" v="57"/>
        <pc:sldMkLst>
          <pc:docMk/>
          <pc:sldMk cId="1958421680" sldId="563"/>
        </pc:sldMkLst>
        <pc:spChg chg="mod">
          <ac:chgData name="SERGIO DI MARTINO" userId="72def432-61df-4c62-97db-ecf35466c3f0" providerId="ADAL" clId="{EBC940B7-09B3-4E22-9439-BB5AB578558A}" dt="2025-11-06T07:40:08.478" v="57"/>
          <ac:spMkLst>
            <pc:docMk/>
            <pc:sldMk cId="1958421680" sldId="563"/>
            <ac:spMk id="4" creationId="{92D29E63-3D13-46CA-CD8F-A9359DF53D43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67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1"/>
            <ac:spMk id="3584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1"/>
            <ac:spMk id="9011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67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2"/>
            <ac:spMk id="3789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2"/>
            <ac:spMk id="9318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944465454" sldId="67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944465454" sldId="673"/>
            <ac:spMk id="3584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944465454" sldId="673"/>
            <ac:spMk id="9011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056993571" sldId="67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056993571" sldId="675"/>
            <ac:spMk id="5837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01684727" sldId="676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01684727" sldId="676"/>
            <ac:spMk id="2" creationId="{70FE4D32-DB29-46C5-96C7-EB771CD6EDB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01684727" sldId="676"/>
            <ac:spMk id="3" creationId="{CAAC64C5-974E-4475-A058-622F69EE6A04}"/>
          </ac:spMkLst>
        </pc:spChg>
      </pc:sldChg>
      <pc:sldChg chg="addSp delSp modSp mod chgLayout">
        <pc:chgData name="SERGIO DI MARTINO" userId="72def432-61df-4c62-97db-ecf35466c3f0" providerId="ADAL" clId="{EBC940B7-09B3-4E22-9439-BB5AB578558A}" dt="2025-11-06T07:39:27.135" v="53" actId="14100"/>
        <pc:sldMkLst>
          <pc:docMk/>
          <pc:sldMk cId="3483978661" sldId="677"/>
        </pc:sldMkLst>
        <pc:spChg chg="mod ord">
          <ac:chgData name="SERGIO DI MARTINO" userId="72def432-61df-4c62-97db-ecf35466c3f0" providerId="ADAL" clId="{EBC940B7-09B3-4E22-9439-BB5AB578558A}" dt="2025-11-06T07:39:27.135" v="53" actId="14100"/>
          <ac:spMkLst>
            <pc:docMk/>
            <pc:sldMk cId="3483978661" sldId="677"/>
            <ac:spMk id="2" creationId="{54ED96E2-B92A-49DA-AF2C-BC64476794B4}"/>
          </ac:spMkLst>
        </pc:spChg>
        <pc:spChg chg="add del mo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3" creationId="{B46B3155-AFB1-435E-8989-E7675F1847FC}"/>
          </ac:spMkLst>
        </pc:spChg>
        <pc:spChg chg="add del mo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4" creationId="{D7CD8A30-F69C-52A1-8607-E0808F546DE4}"/>
          </ac:spMkLst>
        </pc:spChg>
        <pc:spChg chg="add del mod or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6" creationId="{CCE2510E-463F-220A-1F70-99F276108783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782" v="45" actId="27636"/>
        <pc:sldMkLst>
          <pc:docMk/>
          <pc:sldMk cId="0" sldId="678"/>
        </pc:sldMkLst>
        <pc:spChg chg="mod">
          <ac:chgData name="SERGIO DI MARTINO" userId="72def432-61df-4c62-97db-ecf35466c3f0" providerId="ADAL" clId="{EBC940B7-09B3-4E22-9439-BB5AB578558A}" dt="2025-11-06T07:38:55.782" v="45" actId="27636"/>
          <ac:spMkLst>
            <pc:docMk/>
            <pc:sldMk cId="0" sldId="678"/>
            <ac:spMk id="3" creationId="{E34028CA-F767-445E-BB37-5BAF04477B0E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8"/>
            <ac:spMk id="17410" creationId="{522ABE44-108A-4E1F-8C00-C6323A580CC3}"/>
          </ac:spMkLst>
        </pc:spChg>
      </pc:sldChg>
      <pc:sldChg chg="modSp mod">
        <pc:chgData name="SERGIO DI MARTINO" userId="72def432-61df-4c62-97db-ecf35466c3f0" providerId="ADAL" clId="{EBC940B7-09B3-4E22-9439-BB5AB578558A}" dt="2025-11-06T07:39:33.915" v="54" actId="1076"/>
        <pc:sldMkLst>
          <pc:docMk/>
          <pc:sldMk cId="4207430810" sldId="679"/>
        </pc:sldMkLst>
        <pc:spChg chg="mod">
          <ac:chgData name="SERGIO DI MARTINO" userId="72def432-61df-4c62-97db-ecf35466c3f0" providerId="ADAL" clId="{EBC940B7-09B3-4E22-9439-BB5AB578558A}" dt="2025-11-06T07:39:33.915" v="54" actId="1076"/>
          <ac:spMkLst>
            <pc:docMk/>
            <pc:sldMk cId="4207430810" sldId="679"/>
            <ac:spMk id="2" creationId="{AF2E4BCE-DFA2-41CA-8994-92AC3AEB9FC7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40073710" sldId="68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073710" sldId="680"/>
            <ac:spMk id="2" creationId="{264CF161-5C07-4374-86F0-FD82E910AF89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387024585" sldId="68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387024585" sldId="681"/>
            <ac:spMk id="3" creationId="{4426492C-4D26-45DD-A268-65BF35B8E029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40802615" sldId="68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802615" sldId="682"/>
            <ac:spMk id="4505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802615" sldId="682"/>
            <ac:spMk id="9933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034495619" sldId="6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4495619" sldId="683"/>
            <ac:spMk id="4301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4495619" sldId="683"/>
            <ac:spMk id="9728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725" v="43" actId="27636"/>
        <pc:sldMkLst>
          <pc:docMk/>
          <pc:sldMk cId="835225829" sldId="68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835225829" sldId="684"/>
            <ac:spMk id="3" creationId="{DAD65D0E-AF9A-49BD-9EAB-6E0EA35A5FE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835225829" sldId="684"/>
            <ac:spMk id="5" creationId="{861A6E58-DDE7-4737-9FAA-BD208C6FDB19}"/>
          </ac:spMkLst>
        </pc:spChg>
        <pc:spChg chg="mod">
          <ac:chgData name="SERGIO DI MARTINO" userId="72def432-61df-4c62-97db-ecf35466c3f0" providerId="ADAL" clId="{EBC940B7-09B3-4E22-9439-BB5AB578558A}" dt="2025-11-06T07:38:55.725" v="43" actId="27636"/>
          <ac:spMkLst>
            <pc:docMk/>
            <pc:sldMk cId="835225829" sldId="684"/>
            <ac:spMk id="6" creationId="{FDB4283B-7CBD-41F3-87E6-39C49FA445FD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800" v="46" actId="27636"/>
        <pc:sldMkLst>
          <pc:docMk/>
          <pc:sldMk cId="3283415248" sldId="68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283415248" sldId="685"/>
            <ac:spMk id="2" creationId="{CA712FE5-2D45-441E-A8A6-8A69A34ADE98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283415248" sldId="685"/>
            <ac:spMk id="3" creationId="{41CFF305-5E18-479B-AABE-5DD5E5771A6C}"/>
          </ac:spMkLst>
        </pc:spChg>
        <pc:spChg chg="mod">
          <ac:chgData name="SERGIO DI MARTINO" userId="72def432-61df-4c62-97db-ecf35466c3f0" providerId="ADAL" clId="{EBC940B7-09B3-4E22-9439-BB5AB578558A}" dt="2025-11-06T07:38:55.800" v="46" actId="27636"/>
          <ac:spMkLst>
            <pc:docMk/>
            <pc:sldMk cId="3283415248" sldId="685"/>
            <ac:spMk id="4" creationId="{0D02FC1F-DD57-4BAD-B90C-1FA2F0573032}"/>
          </ac:spMkLst>
        </pc:spChg>
      </pc:sldChg>
      <pc:sldMasterChg chg="modSldLayout">
        <pc:chgData name="SERGIO DI MARTINO" userId="72def432-61df-4c62-97db-ecf35466c3f0" providerId="ADAL" clId="{EBC940B7-09B3-4E22-9439-BB5AB578558A}" dt="2025-11-06T07:38:54.049" v="41"/>
        <pc:sldMasterMkLst>
          <pc:docMk/>
          <pc:sldMasterMk cId="115716117" sldId="2147483706"/>
        </pc:sldMasterMkLst>
        <pc:sldLayoutChg chg="delSp">
          <pc:chgData name="SERGIO DI MARTINO" userId="72def432-61df-4c62-97db-ecf35466c3f0" providerId="ADAL" clId="{EBC940B7-09B3-4E22-9439-BB5AB578558A}" dt="2025-11-06T07:38:54.049" v="41"/>
          <pc:sldLayoutMkLst>
            <pc:docMk/>
            <pc:sldMasterMk cId="115716117" sldId="2147483706"/>
            <pc:sldLayoutMk cId="3944469165" sldId="2147483723"/>
          </pc:sldLayoutMkLst>
          <pc:grpChg chg="del">
            <ac:chgData name="SERGIO DI MARTINO" userId="72def432-61df-4c62-97db-ecf35466c3f0" providerId="ADAL" clId="{EBC940B7-09B3-4E22-9439-BB5AB578558A}" dt="2025-11-06T07:38:54.049" v="41"/>
            <ac:grpSpMkLst>
              <pc:docMk/>
              <pc:sldMasterMk cId="115716117" sldId="2147483706"/>
              <pc:sldLayoutMk cId="3944469165" sldId="2147483723"/>
              <ac:grpSpMk id="7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7BF33-F869-4609-AF1C-93512564A0AA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F198F-E8D6-4D80-B6D0-9B23B102617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213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194E-F922-4124-A065-652441D00185}" type="slidenum">
              <a:rPr lang="en-GB" smtClean="0"/>
              <a:t>1</a:t>
            </a:fld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BBD35-E7C4-3A52-AA81-AB440B9BECC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05/03/2024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1B684-D9A4-7B81-C48B-549CF0629C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it-IT"/>
              <a:t>Luigi Libero Lucio Starace, Ph.D.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5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SOLID is an acronym of 5 acronyms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Refactor individual responsibilities to individual classes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F198F-E8D6-4D80-B6D0-9B23B1026174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798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We made some minor classes. For instance in the base classes we declared the methods as “Virtual” then to allow derived classes override them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9BCA6B-1579-4E1F-95C0-0BBC6F0AC1AB}" type="slidenum">
              <a:rPr lang="fa-IR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1488" y="3683000"/>
            <a:ext cx="6186487" cy="58578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5328" tIns="46828" rIns="95328" bIns="46828"/>
          <a:lstStyle/>
          <a:p>
            <a:r>
              <a:rPr lang="en-US"/>
              <a:t>Inheritance is a generalization technique, in which the behavior of a superclass is shared by all its subclasses. Sometimes it is misused as an implementation technique.</a:t>
            </a:r>
          </a:p>
          <a:p>
            <a:endParaRPr lang="en-US"/>
          </a:p>
          <a:p>
            <a:r>
              <a:rPr lang="en-US" sz="2000"/>
              <a:t>Question: Can you give me an example for unwanted behavior?</a:t>
            </a:r>
            <a:endParaRPr lang="en-US"/>
          </a:p>
          <a:p>
            <a:endParaRPr lang="en-US"/>
          </a:p>
        </p:txBody>
      </p:sp>
      <p:sp>
        <p:nvSpPr>
          <p:cNvPr id="121859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34925"/>
            <a:ext cx="6208712" cy="34925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02902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02D1F1C1-41B3-4EA4-A64E-F98818B18D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2AA791C-9A09-4B4E-93D4-F0A6D1A30725}" type="slidenum">
              <a:rPr lang="en-US" altLang="en-US">
                <a:latin typeface="Arial" panose="020B0604020202020204" pitchFamily="34" charset="0"/>
              </a:rPr>
              <a:pPr/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869E666-9467-4D8F-9A47-89EC76B44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3F5F995-2D0C-4E0F-A6B7-5EF7C947F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1000B83-7E62-4C79-892B-2AFE92E94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976C7E0-7A7B-40D8-AA86-9E89BF8F4D93}" type="slidenum">
              <a:rPr lang="en-US" altLang="en-US">
                <a:latin typeface="Arial" panose="020B0604020202020204" pitchFamily="34" charset="0"/>
              </a:rPr>
              <a:pPr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132BE7A-2D87-4AE0-9C7E-C9DBDF0BB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D1A30DD-1551-4B08-BC44-CFB7364D2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5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There is a relationship between Program class and Report class, in terms of concrete classes, rather than abstractions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Implementation level relations between TabloidPrint class and ReportPrinter (dependencies in terms of concrete types rather than interfaces)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Implementation level relations between TabloidPrint class and ReportPrinter (dependencies in terms of concrete types rather than interfaces)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60100" cy="1138237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78451" cy="45243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1252" y="1600201"/>
            <a:ext cx="5378449" cy="45243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idx="10"/>
          </p:nvPr>
        </p:nvSpPr>
        <p:spPr>
          <a:xfrm>
            <a:off x="609601" y="6245225"/>
            <a:ext cx="2832100" cy="471488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idx="11"/>
          </p:nvPr>
        </p:nvSpPr>
        <p:spPr>
          <a:xfrm>
            <a:off x="4165601" y="6245225"/>
            <a:ext cx="3848100" cy="471488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idx="12"/>
          </p:nvPr>
        </p:nvSpPr>
        <p:spPr>
          <a:xfrm>
            <a:off x="8737601" y="6245225"/>
            <a:ext cx="2832100" cy="471488"/>
          </a:xfrm>
        </p:spPr>
        <p:txBody>
          <a:bodyPr/>
          <a:lstStyle>
            <a:lvl1pPr>
              <a:defRPr/>
            </a:lvl1pPr>
          </a:lstStyle>
          <a:p>
            <a:fld id="{F76A921E-7FC0-4F77-AB72-AE57CDC2C076}" type="slidenum">
              <a:rPr lang="en-GB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2161E-BC85-489D-979E-8E5BD1AFA5FD}" type="slidenum">
              <a:rPr lang="en-US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F82C-EA28-2F88-DEF7-0F0507C991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084" y="1691014"/>
            <a:ext cx="10425047" cy="295485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GB" dirty="0"/>
              <a:t>LECTURE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094BF-FCBE-D891-29CA-7C1A910A2F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3084" y="4670926"/>
            <a:ext cx="10425047" cy="519025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Presenter name and last name,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4B4E27-7CE6-E667-F9CB-7864A4CC88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085" y="974007"/>
            <a:ext cx="10425830" cy="616123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COURSE NAME – LECTURE 01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150EE4-C231-7643-F4E9-827BCD005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301" y="5215003"/>
            <a:ext cx="10425830" cy="939451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/>
              <a:t>Email, </a:t>
            </a:r>
          </a:p>
          <a:p>
            <a:pPr lvl="0"/>
            <a:r>
              <a:rPr lang="it-IT" dirty="0"/>
              <a:t>website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D09011B-9799-4EA8-A447-E83769094C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085" y="618766"/>
            <a:ext cx="10425830" cy="30479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INSTITUTION NAME</a:t>
            </a:r>
            <a:endParaRPr lang="en-GB" dirty="0"/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3481FD6E-9AF5-EC4B-2011-C5897523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85" y="0"/>
            <a:ext cx="6880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23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F82C-EA28-2F88-DEF7-0F0507C991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084" y="1691014"/>
            <a:ext cx="10632509" cy="2954859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GB" dirty="0"/>
              <a:t>LECTURE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094BF-FCBE-D891-29CA-7C1A910A2F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3084" y="4670926"/>
            <a:ext cx="10632510" cy="519025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Presenter name and last name,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4B4E27-7CE6-E667-F9CB-7864A4CC88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085" y="974007"/>
            <a:ext cx="10425830" cy="616123"/>
          </a:xfrm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COURSE NAME – LECTURE 01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150EE4-C231-7643-F4E9-827BCD005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301" y="5215003"/>
            <a:ext cx="10632510" cy="939451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pPr lvl="0"/>
            <a:r>
              <a:rPr lang="it-IT" dirty="0"/>
              <a:t>Email, </a:t>
            </a:r>
          </a:p>
          <a:p>
            <a:pPr lvl="0"/>
            <a:r>
              <a:rPr lang="it-IT" dirty="0"/>
              <a:t>website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D09011B-9799-4EA8-A447-E83769094C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085" y="618766"/>
            <a:ext cx="10425830" cy="304799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INSTITUTION NAME</a:t>
            </a:r>
            <a:endParaRPr lang="en-GB" dirty="0"/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3481FD6E-9AF5-EC4B-2011-C5897523D8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76"/>
          <a:stretch/>
        </p:blipFill>
        <p:spPr>
          <a:xfrm>
            <a:off x="6389769" y="0"/>
            <a:ext cx="5802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17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40F6-672B-E110-618F-48B09A61CD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0" y="2706364"/>
            <a:ext cx="10425832" cy="1445272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SET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94ACD-F63B-A166-1A2C-53B4EC3520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3080" y="4258102"/>
            <a:ext cx="10425834" cy="1089122"/>
          </a:xfrm>
        </p:spPr>
        <p:txBody>
          <a:bodyPr/>
          <a:lstStyle>
            <a:lvl1pPr marL="0" indent="0">
              <a:buNone/>
              <a:defRPr sz="2400" i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section subtitle text</a:t>
            </a:r>
          </a:p>
        </p:txBody>
      </p:sp>
      <p:pic>
        <p:nvPicPr>
          <p:cNvPr id="7" name="Picture 6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EB4859F7-D5FE-D0BF-312B-D4B1257CAE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76"/>
          <a:stretch/>
        </p:blipFill>
        <p:spPr>
          <a:xfrm>
            <a:off x="6389769" y="0"/>
            <a:ext cx="5802231" cy="6858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941154E-92DF-1754-C780-E12F3FA6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6F6DB0B-944B-BFA9-1ED2-BD6EC32C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66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A49E-60BD-C79F-138C-F20D70E5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F6A01-61C3-684E-523C-0378593A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63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4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6EBBB4-245B-65B9-21F4-83BA404F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42DBB-DD6F-D93C-579C-43E2C1A0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D982161E-BC85-489D-979E-8E5BD1AFA5F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7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5126"/>
            <a:ext cx="10425829" cy="102526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81283"/>
            <a:ext cx="5136714" cy="40956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E0E4A6-905E-6967-CBE6-0F5560E4C4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3082" y="1565754"/>
            <a:ext cx="5157787" cy="433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6298DD6-52B5-1F30-058E-8109706D177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83082" y="2081284"/>
            <a:ext cx="5157787" cy="40956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5676583-0FF2-CBA8-5963-9235484A58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172200" y="1565754"/>
            <a:ext cx="5136714" cy="433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861722D-C220-0D15-1BE8-34F0D59C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626F0A9-503D-740D-737F-A988CFC4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758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59420"/>
            <a:ext cx="5136715" cy="102526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E5128FD-4F6F-71F8-07D7-E2B608FEFC8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59420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7999B50-C898-8210-136A-438F0229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00A545D-49E3-3B95-17A5-C78185BD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14388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9044"/>
            <a:ext cx="5136715" cy="1025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84A31FC-43D1-BE35-38C7-9EB1CB2F7F9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61102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E3A31F-567B-4960-87DF-1F8C1E9F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E338531-5EA0-032C-9303-CB40B124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911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8B357-D9BE-8DE9-5EC1-32A3AEC89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9044"/>
            <a:ext cx="5136715" cy="1025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C01E5AB-9DCA-A925-14E0-578E7FB1E1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61102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67CF3B-B314-1B69-5232-F18ECFC1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DAA9EB-E5F2-9DFC-6B58-1E28E18C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1900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5126"/>
            <a:ext cx="5136715" cy="102526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D7A664-40BB-F575-00CC-F4D18640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DB3C65-EC46-F3BC-F4F8-11D4C6C2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637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56C-E5D2-E5F0-C712-23076F474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2" y="365126"/>
            <a:ext cx="3265024" cy="1025264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 dirty="0"/>
              <a:t>I</a:t>
            </a:r>
            <a:r>
              <a:rPr lang="en-GB" dirty="0"/>
              <a:t>TEM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5A26B6-6426-C323-B97C-DF67DA37DD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3485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2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7D07E33-C058-DCB0-4593-D108D7E97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3889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60DB6F-8BE4-42BA-11EA-226DD01647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650" y="1565754"/>
            <a:ext cx="326548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4E01E1-9999-3945-3500-AF269FB41C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63022" y="1565753"/>
            <a:ext cx="3265488" cy="461120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DB662E3-09ED-E16B-9E79-8CEEB1AB0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43657" y="1565754"/>
            <a:ext cx="3265488" cy="461120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AA145B-536B-F0B8-0E04-37920F98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EE966E-328E-B290-E2D0-3988D87D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0615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way comparison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56C-E5D2-E5F0-C712-23076F474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2" y="365126"/>
            <a:ext cx="3265024" cy="1025264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 dirty="0"/>
              <a:t>I</a:t>
            </a:r>
            <a:r>
              <a:rPr lang="en-GB" dirty="0"/>
              <a:t>TEM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5A26B6-6426-C323-B97C-DF67DA37DD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3485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2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7D07E33-C058-DCB0-4593-D108D7E97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3889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60DB6F-8BE4-42BA-11EA-226DD01647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650" y="3331860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4E01E1-9999-3945-3500-AF269FB41C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63022" y="3331859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DB662E3-09ED-E16B-9E79-8CEEB1AB0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43657" y="3331858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D62F5C5-BFE9-7317-6CFB-90A5CE107C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82185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DCE6645C-626A-4F83-3108-B3D5A0C812E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463022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26D5EF72-EC21-7D0E-FC8B-65787D14A3A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043426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D989AC-1270-310D-A79C-B0BBB67B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5CD0A5-960D-572A-6E44-7D2BC617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246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Pho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F75B8-AABC-1967-C71E-D01B7F3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F994E-A762-02BD-2C67-92AF82D9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7D7F9-857F-7048-55B1-8460E0D1A549}"/>
              </a:ext>
            </a:extLst>
          </p:cNvPr>
          <p:cNvSpPr/>
          <p:nvPr/>
        </p:nvSpPr>
        <p:spPr>
          <a:xfrm>
            <a:off x="0" y="0"/>
            <a:ext cx="37307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580CD-6A61-4FD7-36DF-92413C4A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081" y="365126"/>
            <a:ext cx="5942834" cy="10252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0BA869-DC69-9BA1-EF26-44FB5EF169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5749" y="1497013"/>
            <a:ext cx="5942833" cy="475271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5203C-CAE6-992D-CAFE-30D819D2E0AD}"/>
              </a:ext>
            </a:extLst>
          </p:cNvPr>
          <p:cNvSpPr/>
          <p:nvPr/>
        </p:nvSpPr>
        <p:spPr>
          <a:xfrm>
            <a:off x="1040957" y="1497013"/>
            <a:ext cx="3896436" cy="5360987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F3A0C5-A73D-1FD7-FC01-B7EB434766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9116" y="1883391"/>
            <a:ext cx="3739487" cy="4974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B2139-C261-F89A-1DAB-2BA6010C32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26"/>
          <a:stretch/>
        </p:blipFill>
        <p:spPr>
          <a:xfrm>
            <a:off x="638760" y="901875"/>
            <a:ext cx="4700829" cy="5956125"/>
          </a:xfrm>
          <a:prstGeom prst="rect">
            <a:avLst/>
          </a:pr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22253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Graphic 7" descr="Books with solid fill">
            <a:extLst>
              <a:ext uri="{FF2B5EF4-FFF2-40B4-BE49-F238E27FC236}">
                <a16:creationId xmlns:a16="http://schemas.microsoft.com/office/drawing/2014/main" id="{8733C15B-EBC5-CC65-FF20-39C4AD15CEC6}"/>
              </a:ext>
            </a:extLst>
          </p:cNvPr>
          <p:cNvSpPr/>
          <p:nvPr/>
        </p:nvSpPr>
        <p:spPr>
          <a:xfrm>
            <a:off x="8773269" y="703195"/>
            <a:ext cx="2566555" cy="2394849"/>
          </a:xfrm>
          <a:custGeom>
            <a:avLst/>
            <a:gdLst>
              <a:gd name="connsiteX0" fmla="*/ 2566556 w 2566555"/>
              <a:gd name="connsiteY0" fmla="*/ 843469 h 2394849"/>
              <a:gd name="connsiteX1" fmla="*/ 2409912 w 2566555"/>
              <a:gd name="connsiteY1" fmla="*/ 786234 h 2394849"/>
              <a:gd name="connsiteX2" fmla="*/ 2409912 w 2566555"/>
              <a:gd name="connsiteY2" fmla="*/ 457883 h 2394849"/>
              <a:gd name="connsiteX3" fmla="*/ 2566556 w 2566555"/>
              <a:gd name="connsiteY3" fmla="*/ 391611 h 2394849"/>
              <a:gd name="connsiteX4" fmla="*/ 2057583 w 2566555"/>
              <a:gd name="connsiteY4" fmla="*/ 203638 h 2394849"/>
              <a:gd name="connsiteX5" fmla="*/ 1506195 w 2566555"/>
              <a:gd name="connsiteY5" fmla="*/ 0 h 2394849"/>
              <a:gd name="connsiteX6" fmla="*/ 1115106 w 2566555"/>
              <a:gd name="connsiteY6" fmla="*/ 137064 h 2394849"/>
              <a:gd name="connsiteX7" fmla="*/ 659553 w 2566555"/>
              <a:gd name="connsiteY7" fmla="*/ 296720 h 2394849"/>
              <a:gd name="connsiteX8" fmla="*/ 216892 w 2566555"/>
              <a:gd name="connsiteY8" fmla="*/ 451858 h 2394849"/>
              <a:gd name="connsiteX9" fmla="*/ 90372 w 2566555"/>
              <a:gd name="connsiteY9" fmla="*/ 813345 h 2394849"/>
              <a:gd name="connsiteX10" fmla="*/ 105434 w 2566555"/>
              <a:gd name="connsiteY10" fmla="*/ 945890 h 2394849"/>
              <a:gd name="connsiteX11" fmla="*/ 0 w 2566555"/>
              <a:gd name="connsiteY11" fmla="*/ 1295328 h 2394849"/>
              <a:gd name="connsiteX12" fmla="*/ 90372 w 2566555"/>
              <a:gd name="connsiteY12" fmla="*/ 1557405 h 2394849"/>
              <a:gd name="connsiteX13" fmla="*/ 84347 w 2566555"/>
              <a:gd name="connsiteY13" fmla="*/ 1747186 h 2394849"/>
              <a:gd name="connsiteX14" fmla="*/ 240991 w 2566555"/>
              <a:gd name="connsiteY14" fmla="*/ 2048425 h 2394849"/>
              <a:gd name="connsiteX15" fmla="*/ 668088 w 2566555"/>
              <a:gd name="connsiteY15" fmla="*/ 2225102 h 2394849"/>
              <a:gd name="connsiteX16" fmla="*/ 1078436 w 2566555"/>
              <a:gd name="connsiteY16" fmla="*/ 2394850 h 2394849"/>
              <a:gd name="connsiteX17" fmla="*/ 1528005 w 2566555"/>
              <a:gd name="connsiteY17" fmla="*/ 2208443 h 2394849"/>
              <a:gd name="connsiteX18" fmla="*/ 1977574 w 2566555"/>
              <a:gd name="connsiteY18" fmla="*/ 2022036 h 2394849"/>
              <a:gd name="connsiteX19" fmla="*/ 2560531 w 2566555"/>
              <a:gd name="connsiteY19" fmla="*/ 1780322 h 2394849"/>
              <a:gd name="connsiteX20" fmla="*/ 2403887 w 2566555"/>
              <a:gd name="connsiteY20" fmla="*/ 1723087 h 2394849"/>
              <a:gd name="connsiteX21" fmla="*/ 2403887 w 2566555"/>
              <a:gd name="connsiteY21" fmla="*/ 1391724 h 2394849"/>
              <a:gd name="connsiteX22" fmla="*/ 2560531 w 2566555"/>
              <a:gd name="connsiteY22" fmla="*/ 1325451 h 2394849"/>
              <a:gd name="connsiteX23" fmla="*/ 2319540 w 2566555"/>
              <a:gd name="connsiteY23" fmla="*/ 1235080 h 2394849"/>
              <a:gd name="connsiteX24" fmla="*/ 2319540 w 2566555"/>
              <a:gd name="connsiteY24" fmla="*/ 945890 h 2394849"/>
              <a:gd name="connsiteX25" fmla="*/ 2566556 w 2566555"/>
              <a:gd name="connsiteY25" fmla="*/ 843469 h 2394849"/>
              <a:gd name="connsiteX26" fmla="*/ 253041 w 2566555"/>
              <a:gd name="connsiteY26" fmla="*/ 662726 h 2394849"/>
              <a:gd name="connsiteX27" fmla="*/ 646640 w 2566555"/>
              <a:gd name="connsiteY27" fmla="*/ 817051 h 2394849"/>
              <a:gd name="connsiteX28" fmla="*/ 1090485 w 2566555"/>
              <a:gd name="connsiteY28" fmla="*/ 991076 h 2394849"/>
              <a:gd name="connsiteX29" fmla="*/ 1455075 w 2566555"/>
              <a:gd name="connsiteY29" fmla="*/ 843961 h 2394849"/>
              <a:gd name="connsiteX30" fmla="*/ 1867742 w 2566555"/>
              <a:gd name="connsiteY30" fmla="*/ 677446 h 2394849"/>
              <a:gd name="connsiteX31" fmla="*/ 2292429 w 2566555"/>
              <a:gd name="connsiteY31" fmla="*/ 506081 h 2394849"/>
              <a:gd name="connsiteX32" fmla="*/ 2292429 w 2566555"/>
              <a:gd name="connsiteY32" fmla="*/ 765147 h 2394849"/>
              <a:gd name="connsiteX33" fmla="*/ 1891781 w 2566555"/>
              <a:gd name="connsiteY33" fmla="*/ 931833 h 2394849"/>
              <a:gd name="connsiteX34" fmla="*/ 1467094 w 2566555"/>
              <a:gd name="connsiteY34" fmla="*/ 1108519 h 2394849"/>
              <a:gd name="connsiteX35" fmla="*/ 1090485 w 2566555"/>
              <a:gd name="connsiteY35" fmla="*/ 1265204 h 2394849"/>
              <a:gd name="connsiteX36" fmla="*/ 671763 w 2566555"/>
              <a:gd name="connsiteY36" fmla="*/ 1099523 h 2394849"/>
              <a:gd name="connsiteX37" fmla="*/ 253041 w 2566555"/>
              <a:gd name="connsiteY37" fmla="*/ 933841 h 2394849"/>
              <a:gd name="connsiteX38" fmla="*/ 253041 w 2566555"/>
              <a:gd name="connsiteY38" fmla="*/ 662726 h 2394849"/>
              <a:gd name="connsiteX39" fmla="*/ 2286404 w 2566555"/>
              <a:gd name="connsiteY39" fmla="*/ 1702000 h 2394849"/>
              <a:gd name="connsiteX40" fmla="*/ 1861717 w 2566555"/>
              <a:gd name="connsiteY40" fmla="*/ 1877623 h 2394849"/>
              <a:gd name="connsiteX41" fmla="*/ 1485108 w 2566555"/>
              <a:gd name="connsiteY41" fmla="*/ 2033363 h 2394849"/>
              <a:gd name="connsiteX42" fmla="*/ 1084460 w 2566555"/>
              <a:gd name="connsiteY42" fmla="*/ 2199045 h 2394849"/>
              <a:gd name="connsiteX43" fmla="*/ 681041 w 2566555"/>
              <a:gd name="connsiteY43" fmla="*/ 2039991 h 2394849"/>
              <a:gd name="connsiteX44" fmla="*/ 244004 w 2566555"/>
              <a:gd name="connsiteY44" fmla="*/ 1867682 h 2394849"/>
              <a:gd name="connsiteX45" fmla="*/ 244004 w 2566555"/>
              <a:gd name="connsiteY45" fmla="*/ 1632715 h 2394849"/>
              <a:gd name="connsiteX46" fmla="*/ 626547 w 2566555"/>
              <a:gd name="connsiteY46" fmla="*/ 1789420 h 2394849"/>
              <a:gd name="connsiteX47" fmla="*/ 994089 w 2566555"/>
              <a:gd name="connsiteY47" fmla="*/ 1939979 h 2394849"/>
              <a:gd name="connsiteX48" fmla="*/ 1425865 w 2566555"/>
              <a:gd name="connsiteY48" fmla="*/ 1769277 h 2394849"/>
              <a:gd name="connsiteX49" fmla="*/ 1831734 w 2566555"/>
              <a:gd name="connsiteY49" fmla="*/ 1608817 h 2394849"/>
              <a:gd name="connsiteX50" fmla="*/ 2289416 w 2566555"/>
              <a:gd name="connsiteY50" fmla="*/ 1427873 h 2394849"/>
              <a:gd name="connsiteX51" fmla="*/ 2286404 w 2566555"/>
              <a:gd name="connsiteY51" fmla="*/ 1702000 h 2394849"/>
              <a:gd name="connsiteX52" fmla="*/ 2202057 w 2566555"/>
              <a:gd name="connsiteY52" fmla="*/ 1250142 h 2394849"/>
              <a:gd name="connsiteX53" fmla="*/ 1837467 w 2566555"/>
              <a:gd name="connsiteY53" fmla="*/ 1400912 h 2394849"/>
              <a:gd name="connsiteX54" fmla="*/ 1424800 w 2566555"/>
              <a:gd name="connsiteY54" fmla="*/ 1571564 h 2394849"/>
              <a:gd name="connsiteX55" fmla="*/ 1000113 w 2566555"/>
              <a:gd name="connsiteY55" fmla="*/ 1747186 h 2394849"/>
              <a:gd name="connsiteX56" fmla="*/ 589765 w 2566555"/>
              <a:gd name="connsiteY56" fmla="*/ 1584818 h 2394849"/>
              <a:gd name="connsiteX57" fmla="*/ 162669 w 2566555"/>
              <a:gd name="connsiteY57" fmla="*/ 1415823 h 2394849"/>
              <a:gd name="connsiteX58" fmla="*/ 162669 w 2566555"/>
              <a:gd name="connsiteY58" fmla="*/ 1144708 h 2394849"/>
              <a:gd name="connsiteX59" fmla="*/ 602056 w 2566555"/>
              <a:gd name="connsiteY59" fmla="*/ 1319849 h 2394849"/>
              <a:gd name="connsiteX60" fmla="*/ 1024213 w 2566555"/>
              <a:gd name="connsiteY60" fmla="*/ 1488121 h 2394849"/>
              <a:gd name="connsiteX61" fmla="*/ 1441449 w 2566555"/>
              <a:gd name="connsiteY61" fmla="*/ 1313563 h 2394849"/>
              <a:gd name="connsiteX62" fmla="*/ 1835067 w 2566555"/>
              <a:gd name="connsiteY62" fmla="*/ 1148886 h 2394849"/>
              <a:gd name="connsiteX63" fmla="*/ 2205069 w 2566555"/>
              <a:gd name="connsiteY63" fmla="*/ 994089 h 2394849"/>
              <a:gd name="connsiteX64" fmla="*/ 2205069 w 2566555"/>
              <a:gd name="connsiteY64" fmla="*/ 1250142 h 2394849"/>
              <a:gd name="connsiteX65" fmla="*/ 2202057 w 2566555"/>
              <a:gd name="connsiteY65" fmla="*/ 1250142 h 239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566555" h="2394849" fill="none" extrusionOk="0">
                <a:moveTo>
                  <a:pt x="2566556" y="843469"/>
                </a:moveTo>
                <a:cubicBezTo>
                  <a:pt x="2518082" y="829583"/>
                  <a:pt x="2483145" y="801214"/>
                  <a:pt x="2409912" y="786234"/>
                </a:cubicBezTo>
                <a:cubicBezTo>
                  <a:pt x="2386192" y="688984"/>
                  <a:pt x="2432986" y="607008"/>
                  <a:pt x="2409912" y="457883"/>
                </a:cubicBezTo>
                <a:cubicBezTo>
                  <a:pt x="2453212" y="437882"/>
                  <a:pt x="2520665" y="423895"/>
                  <a:pt x="2566556" y="391611"/>
                </a:cubicBezTo>
                <a:cubicBezTo>
                  <a:pt x="2304513" y="352467"/>
                  <a:pt x="2201689" y="205195"/>
                  <a:pt x="2057583" y="203638"/>
                </a:cubicBezTo>
                <a:cubicBezTo>
                  <a:pt x="1913477" y="202081"/>
                  <a:pt x="1752051" y="71945"/>
                  <a:pt x="1506195" y="0"/>
                </a:cubicBezTo>
                <a:cubicBezTo>
                  <a:pt x="1414372" y="58970"/>
                  <a:pt x="1230195" y="63782"/>
                  <a:pt x="1115106" y="137064"/>
                </a:cubicBezTo>
                <a:cubicBezTo>
                  <a:pt x="1000017" y="210346"/>
                  <a:pt x="753984" y="260002"/>
                  <a:pt x="659553" y="296720"/>
                </a:cubicBezTo>
                <a:cubicBezTo>
                  <a:pt x="565122" y="333438"/>
                  <a:pt x="379344" y="337416"/>
                  <a:pt x="216892" y="451858"/>
                </a:cubicBezTo>
                <a:cubicBezTo>
                  <a:pt x="61455" y="495574"/>
                  <a:pt x="97069" y="651867"/>
                  <a:pt x="90372" y="813345"/>
                </a:cubicBezTo>
                <a:cubicBezTo>
                  <a:pt x="79919" y="855521"/>
                  <a:pt x="88231" y="911583"/>
                  <a:pt x="105434" y="945890"/>
                </a:cubicBezTo>
                <a:cubicBezTo>
                  <a:pt x="26357" y="1020049"/>
                  <a:pt x="-7150" y="1160561"/>
                  <a:pt x="0" y="1295328"/>
                </a:cubicBezTo>
                <a:cubicBezTo>
                  <a:pt x="6368" y="1397363"/>
                  <a:pt x="22963" y="1493171"/>
                  <a:pt x="90372" y="1557405"/>
                </a:cubicBezTo>
                <a:cubicBezTo>
                  <a:pt x="75101" y="1600875"/>
                  <a:pt x="68542" y="1676873"/>
                  <a:pt x="84347" y="1747186"/>
                </a:cubicBezTo>
                <a:cubicBezTo>
                  <a:pt x="76352" y="1894122"/>
                  <a:pt x="122466" y="2021052"/>
                  <a:pt x="240991" y="2048425"/>
                </a:cubicBezTo>
                <a:cubicBezTo>
                  <a:pt x="389087" y="2057302"/>
                  <a:pt x="460301" y="2181507"/>
                  <a:pt x="668088" y="2225102"/>
                </a:cubicBezTo>
                <a:cubicBezTo>
                  <a:pt x="875875" y="2268697"/>
                  <a:pt x="974561" y="2368342"/>
                  <a:pt x="1078436" y="2394850"/>
                </a:cubicBezTo>
                <a:cubicBezTo>
                  <a:pt x="1251122" y="2304172"/>
                  <a:pt x="1369755" y="2322706"/>
                  <a:pt x="1528005" y="2208443"/>
                </a:cubicBezTo>
                <a:cubicBezTo>
                  <a:pt x="1686255" y="2094180"/>
                  <a:pt x="1830999" y="2144302"/>
                  <a:pt x="1977574" y="2022036"/>
                </a:cubicBezTo>
                <a:cubicBezTo>
                  <a:pt x="2124149" y="1899770"/>
                  <a:pt x="2439962" y="1871583"/>
                  <a:pt x="2560531" y="1780322"/>
                </a:cubicBezTo>
                <a:cubicBezTo>
                  <a:pt x="2483145" y="1768519"/>
                  <a:pt x="2441606" y="1729211"/>
                  <a:pt x="2403887" y="1723087"/>
                </a:cubicBezTo>
                <a:cubicBezTo>
                  <a:pt x="2392695" y="1654809"/>
                  <a:pt x="2435615" y="1510883"/>
                  <a:pt x="2403887" y="1391724"/>
                </a:cubicBezTo>
                <a:cubicBezTo>
                  <a:pt x="2451194" y="1355756"/>
                  <a:pt x="2500359" y="1372240"/>
                  <a:pt x="2560531" y="1325451"/>
                </a:cubicBezTo>
                <a:cubicBezTo>
                  <a:pt x="2476887" y="1315089"/>
                  <a:pt x="2393310" y="1261555"/>
                  <a:pt x="2319540" y="1235080"/>
                </a:cubicBezTo>
                <a:cubicBezTo>
                  <a:pt x="2317127" y="1099970"/>
                  <a:pt x="2334096" y="1014864"/>
                  <a:pt x="2319540" y="945890"/>
                </a:cubicBezTo>
                <a:cubicBezTo>
                  <a:pt x="2370077" y="903455"/>
                  <a:pt x="2514690" y="867588"/>
                  <a:pt x="2566556" y="843469"/>
                </a:cubicBezTo>
                <a:close/>
                <a:moveTo>
                  <a:pt x="253041" y="662726"/>
                </a:moveTo>
                <a:cubicBezTo>
                  <a:pt x="413083" y="692200"/>
                  <a:pt x="449926" y="778659"/>
                  <a:pt x="646640" y="817051"/>
                </a:cubicBezTo>
                <a:cubicBezTo>
                  <a:pt x="843354" y="855442"/>
                  <a:pt x="933341" y="986554"/>
                  <a:pt x="1090485" y="991076"/>
                </a:cubicBezTo>
                <a:cubicBezTo>
                  <a:pt x="1222747" y="936252"/>
                  <a:pt x="1361965" y="915986"/>
                  <a:pt x="1455075" y="843961"/>
                </a:cubicBezTo>
                <a:cubicBezTo>
                  <a:pt x="1548184" y="771936"/>
                  <a:pt x="1752708" y="774739"/>
                  <a:pt x="1867742" y="677446"/>
                </a:cubicBezTo>
                <a:cubicBezTo>
                  <a:pt x="1982776" y="580153"/>
                  <a:pt x="2117777" y="588138"/>
                  <a:pt x="2292429" y="506081"/>
                </a:cubicBezTo>
                <a:cubicBezTo>
                  <a:pt x="2298474" y="573593"/>
                  <a:pt x="2262307" y="636976"/>
                  <a:pt x="2292429" y="765147"/>
                </a:cubicBezTo>
                <a:cubicBezTo>
                  <a:pt x="2100143" y="865138"/>
                  <a:pt x="2058085" y="846983"/>
                  <a:pt x="1891781" y="931833"/>
                </a:cubicBezTo>
                <a:cubicBezTo>
                  <a:pt x="1725477" y="1016682"/>
                  <a:pt x="1617298" y="998808"/>
                  <a:pt x="1467094" y="1108519"/>
                </a:cubicBezTo>
                <a:cubicBezTo>
                  <a:pt x="1316891" y="1218230"/>
                  <a:pt x="1152013" y="1199658"/>
                  <a:pt x="1090485" y="1265204"/>
                </a:cubicBezTo>
                <a:cubicBezTo>
                  <a:pt x="929807" y="1234488"/>
                  <a:pt x="879040" y="1170331"/>
                  <a:pt x="671763" y="1099523"/>
                </a:cubicBezTo>
                <a:cubicBezTo>
                  <a:pt x="464486" y="1028715"/>
                  <a:pt x="370727" y="957175"/>
                  <a:pt x="253041" y="933841"/>
                </a:cubicBezTo>
                <a:cubicBezTo>
                  <a:pt x="221000" y="804734"/>
                  <a:pt x="268695" y="748337"/>
                  <a:pt x="253041" y="662726"/>
                </a:cubicBezTo>
                <a:close/>
                <a:moveTo>
                  <a:pt x="2286404" y="1702000"/>
                </a:moveTo>
                <a:cubicBezTo>
                  <a:pt x="2138621" y="1817499"/>
                  <a:pt x="2019162" y="1774500"/>
                  <a:pt x="1861717" y="1877623"/>
                </a:cubicBezTo>
                <a:cubicBezTo>
                  <a:pt x="1704272" y="1980746"/>
                  <a:pt x="1593381" y="1963163"/>
                  <a:pt x="1485108" y="2033363"/>
                </a:cubicBezTo>
                <a:cubicBezTo>
                  <a:pt x="1376836" y="2103563"/>
                  <a:pt x="1255777" y="2099011"/>
                  <a:pt x="1084460" y="2199045"/>
                </a:cubicBezTo>
                <a:cubicBezTo>
                  <a:pt x="932900" y="2163334"/>
                  <a:pt x="883376" y="2085257"/>
                  <a:pt x="681041" y="2039991"/>
                </a:cubicBezTo>
                <a:cubicBezTo>
                  <a:pt x="478706" y="1994725"/>
                  <a:pt x="399381" y="1886115"/>
                  <a:pt x="244004" y="1867682"/>
                </a:cubicBezTo>
                <a:cubicBezTo>
                  <a:pt x="217562" y="1815930"/>
                  <a:pt x="270311" y="1691437"/>
                  <a:pt x="244004" y="1632715"/>
                </a:cubicBezTo>
                <a:cubicBezTo>
                  <a:pt x="350932" y="1670821"/>
                  <a:pt x="455614" y="1767524"/>
                  <a:pt x="626547" y="1789420"/>
                </a:cubicBezTo>
                <a:cubicBezTo>
                  <a:pt x="797480" y="1811315"/>
                  <a:pt x="811225" y="1905279"/>
                  <a:pt x="994089" y="1939979"/>
                </a:cubicBezTo>
                <a:cubicBezTo>
                  <a:pt x="1151747" y="1862139"/>
                  <a:pt x="1228676" y="1852653"/>
                  <a:pt x="1425865" y="1769277"/>
                </a:cubicBezTo>
                <a:cubicBezTo>
                  <a:pt x="1623054" y="1685901"/>
                  <a:pt x="1695534" y="1716292"/>
                  <a:pt x="1831734" y="1608817"/>
                </a:cubicBezTo>
                <a:cubicBezTo>
                  <a:pt x="1967934" y="1501342"/>
                  <a:pt x="2126011" y="1522536"/>
                  <a:pt x="2289416" y="1427873"/>
                </a:cubicBezTo>
                <a:cubicBezTo>
                  <a:pt x="2319205" y="1556298"/>
                  <a:pt x="2257434" y="1610875"/>
                  <a:pt x="2286404" y="1702000"/>
                </a:cubicBezTo>
                <a:close/>
                <a:moveTo>
                  <a:pt x="2202057" y="1250142"/>
                </a:moveTo>
                <a:cubicBezTo>
                  <a:pt x="2070062" y="1329829"/>
                  <a:pt x="1931773" y="1317395"/>
                  <a:pt x="1837467" y="1400912"/>
                </a:cubicBezTo>
                <a:cubicBezTo>
                  <a:pt x="1743161" y="1484429"/>
                  <a:pt x="1589261" y="1447712"/>
                  <a:pt x="1424800" y="1571564"/>
                </a:cubicBezTo>
                <a:cubicBezTo>
                  <a:pt x="1260339" y="1695415"/>
                  <a:pt x="1146113" y="1668192"/>
                  <a:pt x="1000113" y="1747186"/>
                </a:cubicBezTo>
                <a:cubicBezTo>
                  <a:pt x="892479" y="1712525"/>
                  <a:pt x="720804" y="1598617"/>
                  <a:pt x="589765" y="1584818"/>
                </a:cubicBezTo>
                <a:cubicBezTo>
                  <a:pt x="458726" y="1571019"/>
                  <a:pt x="299905" y="1437071"/>
                  <a:pt x="162669" y="1415823"/>
                </a:cubicBezTo>
                <a:cubicBezTo>
                  <a:pt x="149079" y="1298405"/>
                  <a:pt x="182954" y="1257406"/>
                  <a:pt x="162669" y="1144708"/>
                </a:cubicBezTo>
                <a:cubicBezTo>
                  <a:pt x="355969" y="1219984"/>
                  <a:pt x="466186" y="1270646"/>
                  <a:pt x="602056" y="1319849"/>
                </a:cubicBezTo>
                <a:cubicBezTo>
                  <a:pt x="737926" y="1369052"/>
                  <a:pt x="886404" y="1490678"/>
                  <a:pt x="1024213" y="1488121"/>
                </a:cubicBezTo>
                <a:cubicBezTo>
                  <a:pt x="1138576" y="1433855"/>
                  <a:pt x="1367363" y="1388207"/>
                  <a:pt x="1441449" y="1313563"/>
                </a:cubicBezTo>
                <a:cubicBezTo>
                  <a:pt x="1515535" y="1238919"/>
                  <a:pt x="1738958" y="1217296"/>
                  <a:pt x="1835067" y="1148886"/>
                </a:cubicBezTo>
                <a:cubicBezTo>
                  <a:pt x="1931176" y="1080476"/>
                  <a:pt x="2108377" y="1071069"/>
                  <a:pt x="2205069" y="994089"/>
                </a:cubicBezTo>
                <a:cubicBezTo>
                  <a:pt x="2206927" y="1089469"/>
                  <a:pt x="2176267" y="1155804"/>
                  <a:pt x="2205069" y="1250142"/>
                </a:cubicBezTo>
                <a:cubicBezTo>
                  <a:pt x="2203916" y="1250351"/>
                  <a:pt x="2203039" y="1249920"/>
                  <a:pt x="2202057" y="1250142"/>
                </a:cubicBezTo>
                <a:close/>
              </a:path>
              <a:path w="2566555" h="2394849" stroke="0" extrusionOk="0">
                <a:moveTo>
                  <a:pt x="2566556" y="843469"/>
                </a:moveTo>
                <a:cubicBezTo>
                  <a:pt x="2525512" y="836267"/>
                  <a:pt x="2478843" y="796357"/>
                  <a:pt x="2409912" y="786234"/>
                </a:cubicBezTo>
                <a:cubicBezTo>
                  <a:pt x="2392548" y="656602"/>
                  <a:pt x="2418204" y="526993"/>
                  <a:pt x="2409912" y="457883"/>
                </a:cubicBezTo>
                <a:cubicBezTo>
                  <a:pt x="2469511" y="420798"/>
                  <a:pt x="2501119" y="440530"/>
                  <a:pt x="2566556" y="391611"/>
                </a:cubicBezTo>
                <a:cubicBezTo>
                  <a:pt x="2437322" y="391401"/>
                  <a:pt x="2278925" y="261732"/>
                  <a:pt x="2068186" y="207554"/>
                </a:cubicBezTo>
                <a:cubicBezTo>
                  <a:pt x="1857447" y="153376"/>
                  <a:pt x="1684307" y="-5408"/>
                  <a:pt x="1506195" y="0"/>
                </a:cubicBezTo>
                <a:cubicBezTo>
                  <a:pt x="1396367" y="97004"/>
                  <a:pt x="1159727" y="99353"/>
                  <a:pt x="1050641" y="159656"/>
                </a:cubicBezTo>
                <a:cubicBezTo>
                  <a:pt x="941555" y="219959"/>
                  <a:pt x="816882" y="188135"/>
                  <a:pt x="633767" y="305757"/>
                </a:cubicBezTo>
                <a:cubicBezTo>
                  <a:pt x="450652" y="423379"/>
                  <a:pt x="321417" y="411233"/>
                  <a:pt x="216892" y="451858"/>
                </a:cubicBezTo>
                <a:cubicBezTo>
                  <a:pt x="97597" y="506531"/>
                  <a:pt x="58510" y="687680"/>
                  <a:pt x="90372" y="813345"/>
                </a:cubicBezTo>
                <a:cubicBezTo>
                  <a:pt x="90355" y="854508"/>
                  <a:pt x="90674" y="910727"/>
                  <a:pt x="105434" y="945890"/>
                </a:cubicBezTo>
                <a:cubicBezTo>
                  <a:pt x="23954" y="1018219"/>
                  <a:pt x="-22200" y="1171583"/>
                  <a:pt x="0" y="1295328"/>
                </a:cubicBezTo>
                <a:cubicBezTo>
                  <a:pt x="-10581" y="1388539"/>
                  <a:pt x="36136" y="1491229"/>
                  <a:pt x="90372" y="1557405"/>
                </a:cubicBezTo>
                <a:cubicBezTo>
                  <a:pt x="77741" y="1611104"/>
                  <a:pt x="89988" y="1672113"/>
                  <a:pt x="84347" y="1747186"/>
                </a:cubicBezTo>
                <a:cubicBezTo>
                  <a:pt x="74610" y="1890007"/>
                  <a:pt x="101899" y="2022043"/>
                  <a:pt x="240991" y="2048425"/>
                </a:cubicBezTo>
                <a:cubicBezTo>
                  <a:pt x="464600" y="2093870"/>
                  <a:pt x="463776" y="2176861"/>
                  <a:pt x="668088" y="2225102"/>
                </a:cubicBezTo>
                <a:cubicBezTo>
                  <a:pt x="872400" y="2273343"/>
                  <a:pt x="973468" y="2405899"/>
                  <a:pt x="1078436" y="2394850"/>
                </a:cubicBezTo>
                <a:cubicBezTo>
                  <a:pt x="1225767" y="2314490"/>
                  <a:pt x="1361181" y="2326646"/>
                  <a:pt x="1587289" y="2183862"/>
                </a:cubicBezTo>
                <a:cubicBezTo>
                  <a:pt x="1813397" y="2041078"/>
                  <a:pt x="2007657" y="2049818"/>
                  <a:pt x="2096141" y="1972874"/>
                </a:cubicBezTo>
                <a:cubicBezTo>
                  <a:pt x="2184625" y="1895930"/>
                  <a:pt x="2375250" y="1895709"/>
                  <a:pt x="2560531" y="1780322"/>
                </a:cubicBezTo>
                <a:cubicBezTo>
                  <a:pt x="2509558" y="1779155"/>
                  <a:pt x="2460363" y="1741821"/>
                  <a:pt x="2403887" y="1723087"/>
                </a:cubicBezTo>
                <a:cubicBezTo>
                  <a:pt x="2397635" y="1608805"/>
                  <a:pt x="2415720" y="1489552"/>
                  <a:pt x="2403887" y="1391724"/>
                </a:cubicBezTo>
                <a:cubicBezTo>
                  <a:pt x="2477106" y="1353306"/>
                  <a:pt x="2490459" y="1371761"/>
                  <a:pt x="2560531" y="1325451"/>
                </a:cubicBezTo>
                <a:cubicBezTo>
                  <a:pt x="2480163" y="1308236"/>
                  <a:pt x="2404986" y="1240219"/>
                  <a:pt x="2319540" y="1235080"/>
                </a:cubicBezTo>
                <a:cubicBezTo>
                  <a:pt x="2310130" y="1168404"/>
                  <a:pt x="2330499" y="1088559"/>
                  <a:pt x="2319540" y="945890"/>
                </a:cubicBezTo>
                <a:cubicBezTo>
                  <a:pt x="2417376" y="876575"/>
                  <a:pt x="2483296" y="904057"/>
                  <a:pt x="2566556" y="843469"/>
                </a:cubicBezTo>
                <a:close/>
                <a:moveTo>
                  <a:pt x="253041" y="662726"/>
                </a:moveTo>
                <a:cubicBezTo>
                  <a:pt x="388346" y="679929"/>
                  <a:pt x="452598" y="779455"/>
                  <a:pt x="671763" y="826901"/>
                </a:cubicBezTo>
                <a:cubicBezTo>
                  <a:pt x="890928" y="874347"/>
                  <a:pt x="898142" y="958239"/>
                  <a:pt x="1090485" y="991076"/>
                </a:cubicBezTo>
                <a:cubicBezTo>
                  <a:pt x="1207877" y="932520"/>
                  <a:pt x="1323818" y="897490"/>
                  <a:pt x="1515172" y="819711"/>
                </a:cubicBezTo>
                <a:cubicBezTo>
                  <a:pt x="1706526" y="741932"/>
                  <a:pt x="1806473" y="736600"/>
                  <a:pt x="1903800" y="662896"/>
                </a:cubicBezTo>
                <a:cubicBezTo>
                  <a:pt x="2001127" y="589192"/>
                  <a:pt x="2163758" y="572276"/>
                  <a:pt x="2292429" y="506081"/>
                </a:cubicBezTo>
                <a:cubicBezTo>
                  <a:pt x="2302336" y="587521"/>
                  <a:pt x="2262464" y="667645"/>
                  <a:pt x="2292429" y="765147"/>
                </a:cubicBezTo>
                <a:cubicBezTo>
                  <a:pt x="2144163" y="834059"/>
                  <a:pt x="1962962" y="846205"/>
                  <a:pt x="1867742" y="941834"/>
                </a:cubicBezTo>
                <a:cubicBezTo>
                  <a:pt x="1772522" y="1037463"/>
                  <a:pt x="1578905" y="1046557"/>
                  <a:pt x="1491133" y="1098518"/>
                </a:cubicBezTo>
                <a:cubicBezTo>
                  <a:pt x="1403361" y="1150479"/>
                  <a:pt x="1177729" y="1194098"/>
                  <a:pt x="1090485" y="1265204"/>
                </a:cubicBezTo>
                <a:cubicBezTo>
                  <a:pt x="972591" y="1228142"/>
                  <a:pt x="798351" y="1115506"/>
                  <a:pt x="696886" y="1109463"/>
                </a:cubicBezTo>
                <a:cubicBezTo>
                  <a:pt x="595421" y="1103420"/>
                  <a:pt x="471100" y="1003780"/>
                  <a:pt x="253041" y="933841"/>
                </a:cubicBezTo>
                <a:cubicBezTo>
                  <a:pt x="236218" y="824827"/>
                  <a:pt x="261812" y="778592"/>
                  <a:pt x="253041" y="662726"/>
                </a:cubicBezTo>
                <a:close/>
                <a:moveTo>
                  <a:pt x="2286404" y="1702000"/>
                </a:moveTo>
                <a:cubicBezTo>
                  <a:pt x="2087664" y="1797182"/>
                  <a:pt x="1984134" y="1797757"/>
                  <a:pt x="1861717" y="1877623"/>
                </a:cubicBezTo>
                <a:cubicBezTo>
                  <a:pt x="1739300" y="1957489"/>
                  <a:pt x="1630524" y="1937962"/>
                  <a:pt x="1437030" y="2053245"/>
                </a:cubicBezTo>
                <a:cubicBezTo>
                  <a:pt x="1243536" y="2168528"/>
                  <a:pt x="1189708" y="2137365"/>
                  <a:pt x="1084460" y="2199045"/>
                </a:cubicBezTo>
                <a:cubicBezTo>
                  <a:pt x="981210" y="2168953"/>
                  <a:pt x="758446" y="2043817"/>
                  <a:pt x="664232" y="2033364"/>
                </a:cubicBezTo>
                <a:cubicBezTo>
                  <a:pt x="570018" y="2022911"/>
                  <a:pt x="423068" y="1895314"/>
                  <a:pt x="244004" y="1867682"/>
                </a:cubicBezTo>
                <a:cubicBezTo>
                  <a:pt x="237124" y="1764340"/>
                  <a:pt x="246231" y="1739421"/>
                  <a:pt x="244004" y="1632715"/>
                </a:cubicBezTo>
                <a:cubicBezTo>
                  <a:pt x="341596" y="1670882"/>
                  <a:pt x="535223" y="1755624"/>
                  <a:pt x="626547" y="1789420"/>
                </a:cubicBezTo>
                <a:cubicBezTo>
                  <a:pt x="717871" y="1823216"/>
                  <a:pt x="840204" y="1885308"/>
                  <a:pt x="994089" y="1939979"/>
                </a:cubicBezTo>
                <a:cubicBezTo>
                  <a:pt x="1083438" y="1854006"/>
                  <a:pt x="1254012" y="1896544"/>
                  <a:pt x="1451771" y="1759035"/>
                </a:cubicBezTo>
                <a:cubicBezTo>
                  <a:pt x="1649530" y="1621526"/>
                  <a:pt x="1754888" y="1692477"/>
                  <a:pt x="1883547" y="1588333"/>
                </a:cubicBezTo>
                <a:cubicBezTo>
                  <a:pt x="2012206" y="1484189"/>
                  <a:pt x="2136325" y="1521480"/>
                  <a:pt x="2289416" y="1427873"/>
                </a:cubicBezTo>
                <a:cubicBezTo>
                  <a:pt x="2317698" y="1528702"/>
                  <a:pt x="2277184" y="1645743"/>
                  <a:pt x="2286404" y="1702000"/>
                </a:cubicBezTo>
                <a:close/>
                <a:moveTo>
                  <a:pt x="2202057" y="1250142"/>
                </a:moveTo>
                <a:cubicBezTo>
                  <a:pt x="2067403" y="1344902"/>
                  <a:pt x="1954370" y="1308258"/>
                  <a:pt x="1801409" y="1415823"/>
                </a:cubicBezTo>
                <a:cubicBezTo>
                  <a:pt x="1648448" y="1523388"/>
                  <a:pt x="1564613" y="1497105"/>
                  <a:pt x="1376722" y="1591446"/>
                </a:cubicBezTo>
                <a:cubicBezTo>
                  <a:pt x="1188831" y="1685787"/>
                  <a:pt x="1117510" y="1687983"/>
                  <a:pt x="1000113" y="1747186"/>
                </a:cubicBezTo>
                <a:cubicBezTo>
                  <a:pt x="790607" y="1717841"/>
                  <a:pt x="791230" y="1655569"/>
                  <a:pt x="598140" y="1588132"/>
                </a:cubicBezTo>
                <a:cubicBezTo>
                  <a:pt x="405051" y="1520695"/>
                  <a:pt x="285567" y="1464437"/>
                  <a:pt x="162669" y="1415823"/>
                </a:cubicBezTo>
                <a:cubicBezTo>
                  <a:pt x="150125" y="1333024"/>
                  <a:pt x="187615" y="1210461"/>
                  <a:pt x="162669" y="1144708"/>
                </a:cubicBezTo>
                <a:cubicBezTo>
                  <a:pt x="364992" y="1221137"/>
                  <a:pt x="465359" y="1292500"/>
                  <a:pt x="576210" y="1309546"/>
                </a:cubicBezTo>
                <a:cubicBezTo>
                  <a:pt x="687061" y="1326592"/>
                  <a:pt x="911410" y="1464560"/>
                  <a:pt x="1024213" y="1488121"/>
                </a:cubicBezTo>
                <a:cubicBezTo>
                  <a:pt x="1194657" y="1394999"/>
                  <a:pt x="1276774" y="1384236"/>
                  <a:pt x="1429640" y="1318503"/>
                </a:cubicBezTo>
                <a:cubicBezTo>
                  <a:pt x="1582506" y="1252770"/>
                  <a:pt x="1700582" y="1225601"/>
                  <a:pt x="1799642" y="1163707"/>
                </a:cubicBezTo>
                <a:cubicBezTo>
                  <a:pt x="1898702" y="1101812"/>
                  <a:pt x="2123545" y="1068322"/>
                  <a:pt x="2205069" y="994089"/>
                </a:cubicBezTo>
                <a:cubicBezTo>
                  <a:pt x="2232552" y="1086890"/>
                  <a:pt x="2196746" y="1133325"/>
                  <a:pt x="2205069" y="1250142"/>
                </a:cubicBezTo>
                <a:cubicBezTo>
                  <a:pt x="2203936" y="1250371"/>
                  <a:pt x="2203026" y="1250106"/>
                  <a:pt x="2202057" y="125014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9525" cap="flat">
            <a:solidFill>
              <a:srgbClr val="00647A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63771717">
                  <a:custGeom>
                    <a:avLst/>
                    <a:gdLst>
                      <a:gd name="connsiteX0" fmla="*/ 2566556 w 2566555"/>
                      <a:gd name="connsiteY0" fmla="*/ 843469 h 2394849"/>
                      <a:gd name="connsiteX1" fmla="*/ 2409912 w 2566555"/>
                      <a:gd name="connsiteY1" fmla="*/ 786234 h 2394849"/>
                      <a:gd name="connsiteX2" fmla="*/ 2409912 w 2566555"/>
                      <a:gd name="connsiteY2" fmla="*/ 457883 h 2394849"/>
                      <a:gd name="connsiteX3" fmla="*/ 2566556 w 2566555"/>
                      <a:gd name="connsiteY3" fmla="*/ 391611 h 2394849"/>
                      <a:gd name="connsiteX4" fmla="*/ 1506195 w 2566555"/>
                      <a:gd name="connsiteY4" fmla="*/ 0 h 2394849"/>
                      <a:gd name="connsiteX5" fmla="*/ 216892 w 2566555"/>
                      <a:gd name="connsiteY5" fmla="*/ 451858 h 2394849"/>
                      <a:gd name="connsiteX6" fmla="*/ 90372 w 2566555"/>
                      <a:gd name="connsiteY6" fmla="*/ 813345 h 2394849"/>
                      <a:gd name="connsiteX7" fmla="*/ 105434 w 2566555"/>
                      <a:gd name="connsiteY7" fmla="*/ 945890 h 2394849"/>
                      <a:gd name="connsiteX8" fmla="*/ 0 w 2566555"/>
                      <a:gd name="connsiteY8" fmla="*/ 1295328 h 2394849"/>
                      <a:gd name="connsiteX9" fmla="*/ 90372 w 2566555"/>
                      <a:gd name="connsiteY9" fmla="*/ 1557405 h 2394849"/>
                      <a:gd name="connsiteX10" fmla="*/ 84347 w 2566555"/>
                      <a:gd name="connsiteY10" fmla="*/ 1747186 h 2394849"/>
                      <a:gd name="connsiteX11" fmla="*/ 240991 w 2566555"/>
                      <a:gd name="connsiteY11" fmla="*/ 2048425 h 2394849"/>
                      <a:gd name="connsiteX12" fmla="*/ 1078436 w 2566555"/>
                      <a:gd name="connsiteY12" fmla="*/ 2394850 h 2394849"/>
                      <a:gd name="connsiteX13" fmla="*/ 2560531 w 2566555"/>
                      <a:gd name="connsiteY13" fmla="*/ 1780322 h 2394849"/>
                      <a:gd name="connsiteX14" fmla="*/ 2403887 w 2566555"/>
                      <a:gd name="connsiteY14" fmla="*/ 1723087 h 2394849"/>
                      <a:gd name="connsiteX15" fmla="*/ 2403887 w 2566555"/>
                      <a:gd name="connsiteY15" fmla="*/ 1391724 h 2394849"/>
                      <a:gd name="connsiteX16" fmla="*/ 2560531 w 2566555"/>
                      <a:gd name="connsiteY16" fmla="*/ 1325451 h 2394849"/>
                      <a:gd name="connsiteX17" fmla="*/ 2319540 w 2566555"/>
                      <a:gd name="connsiteY17" fmla="*/ 1235080 h 2394849"/>
                      <a:gd name="connsiteX18" fmla="*/ 2319540 w 2566555"/>
                      <a:gd name="connsiteY18" fmla="*/ 945890 h 2394849"/>
                      <a:gd name="connsiteX19" fmla="*/ 2566556 w 2566555"/>
                      <a:gd name="connsiteY19" fmla="*/ 843469 h 2394849"/>
                      <a:gd name="connsiteX20" fmla="*/ 253041 w 2566555"/>
                      <a:gd name="connsiteY20" fmla="*/ 662726 h 2394849"/>
                      <a:gd name="connsiteX21" fmla="*/ 1090485 w 2566555"/>
                      <a:gd name="connsiteY21" fmla="*/ 991076 h 2394849"/>
                      <a:gd name="connsiteX22" fmla="*/ 2292429 w 2566555"/>
                      <a:gd name="connsiteY22" fmla="*/ 506081 h 2394849"/>
                      <a:gd name="connsiteX23" fmla="*/ 2292429 w 2566555"/>
                      <a:gd name="connsiteY23" fmla="*/ 765147 h 2394849"/>
                      <a:gd name="connsiteX24" fmla="*/ 1090485 w 2566555"/>
                      <a:gd name="connsiteY24" fmla="*/ 1265204 h 2394849"/>
                      <a:gd name="connsiteX25" fmla="*/ 253041 w 2566555"/>
                      <a:gd name="connsiteY25" fmla="*/ 933841 h 2394849"/>
                      <a:gd name="connsiteX26" fmla="*/ 253041 w 2566555"/>
                      <a:gd name="connsiteY26" fmla="*/ 662726 h 2394849"/>
                      <a:gd name="connsiteX27" fmla="*/ 2286404 w 2566555"/>
                      <a:gd name="connsiteY27" fmla="*/ 1702000 h 2394849"/>
                      <a:gd name="connsiteX28" fmla="*/ 1084460 w 2566555"/>
                      <a:gd name="connsiteY28" fmla="*/ 2199045 h 2394849"/>
                      <a:gd name="connsiteX29" fmla="*/ 244004 w 2566555"/>
                      <a:gd name="connsiteY29" fmla="*/ 1867682 h 2394849"/>
                      <a:gd name="connsiteX30" fmla="*/ 244004 w 2566555"/>
                      <a:gd name="connsiteY30" fmla="*/ 1632715 h 2394849"/>
                      <a:gd name="connsiteX31" fmla="*/ 994089 w 2566555"/>
                      <a:gd name="connsiteY31" fmla="*/ 1939979 h 2394849"/>
                      <a:gd name="connsiteX32" fmla="*/ 2289416 w 2566555"/>
                      <a:gd name="connsiteY32" fmla="*/ 1427873 h 2394849"/>
                      <a:gd name="connsiteX33" fmla="*/ 2286404 w 2566555"/>
                      <a:gd name="connsiteY33" fmla="*/ 1702000 h 2394849"/>
                      <a:gd name="connsiteX34" fmla="*/ 2202057 w 2566555"/>
                      <a:gd name="connsiteY34" fmla="*/ 1250142 h 2394849"/>
                      <a:gd name="connsiteX35" fmla="*/ 1000113 w 2566555"/>
                      <a:gd name="connsiteY35" fmla="*/ 1747186 h 2394849"/>
                      <a:gd name="connsiteX36" fmla="*/ 162669 w 2566555"/>
                      <a:gd name="connsiteY36" fmla="*/ 1415823 h 2394849"/>
                      <a:gd name="connsiteX37" fmla="*/ 162669 w 2566555"/>
                      <a:gd name="connsiteY37" fmla="*/ 1144708 h 2394849"/>
                      <a:gd name="connsiteX38" fmla="*/ 1024213 w 2566555"/>
                      <a:gd name="connsiteY38" fmla="*/ 1488121 h 2394849"/>
                      <a:gd name="connsiteX39" fmla="*/ 2205069 w 2566555"/>
                      <a:gd name="connsiteY39" fmla="*/ 994089 h 2394849"/>
                      <a:gd name="connsiteX40" fmla="*/ 2205069 w 2566555"/>
                      <a:gd name="connsiteY40" fmla="*/ 1250142 h 23948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566555" h="2394849">
                        <a:moveTo>
                          <a:pt x="2566556" y="843469"/>
                        </a:moveTo>
                        <a:lnTo>
                          <a:pt x="2409912" y="786234"/>
                        </a:lnTo>
                        <a:lnTo>
                          <a:pt x="2409912" y="457883"/>
                        </a:lnTo>
                        <a:lnTo>
                          <a:pt x="2566556" y="391611"/>
                        </a:lnTo>
                        <a:lnTo>
                          <a:pt x="1506195" y="0"/>
                        </a:lnTo>
                        <a:lnTo>
                          <a:pt x="216892" y="451858"/>
                        </a:lnTo>
                        <a:cubicBezTo>
                          <a:pt x="93384" y="512106"/>
                          <a:pt x="90372" y="677788"/>
                          <a:pt x="90372" y="813345"/>
                        </a:cubicBezTo>
                        <a:cubicBezTo>
                          <a:pt x="90372" y="858531"/>
                          <a:pt x="96396" y="903717"/>
                          <a:pt x="105434" y="945890"/>
                        </a:cubicBezTo>
                        <a:cubicBezTo>
                          <a:pt x="3012" y="1012163"/>
                          <a:pt x="0" y="1165795"/>
                          <a:pt x="0" y="1295328"/>
                        </a:cubicBezTo>
                        <a:cubicBezTo>
                          <a:pt x="0" y="1400761"/>
                          <a:pt x="24099" y="1497158"/>
                          <a:pt x="90372" y="1557405"/>
                        </a:cubicBezTo>
                        <a:cubicBezTo>
                          <a:pt x="75310" y="1608616"/>
                          <a:pt x="84347" y="1671876"/>
                          <a:pt x="84347" y="1747186"/>
                        </a:cubicBezTo>
                        <a:cubicBezTo>
                          <a:pt x="84347" y="1882744"/>
                          <a:pt x="120496" y="2006252"/>
                          <a:pt x="240991" y="2048425"/>
                        </a:cubicBezTo>
                        <a:lnTo>
                          <a:pt x="1078436" y="2394850"/>
                        </a:lnTo>
                        <a:lnTo>
                          <a:pt x="2560531" y="1780322"/>
                        </a:lnTo>
                        <a:lnTo>
                          <a:pt x="2403887" y="1723087"/>
                        </a:lnTo>
                        <a:lnTo>
                          <a:pt x="2403887" y="1391724"/>
                        </a:lnTo>
                        <a:lnTo>
                          <a:pt x="2560531" y="1325451"/>
                        </a:lnTo>
                        <a:lnTo>
                          <a:pt x="2319540" y="1235080"/>
                        </a:lnTo>
                        <a:lnTo>
                          <a:pt x="2319540" y="945890"/>
                        </a:lnTo>
                        <a:lnTo>
                          <a:pt x="2566556" y="843469"/>
                        </a:lnTo>
                        <a:close/>
                        <a:moveTo>
                          <a:pt x="253041" y="662726"/>
                        </a:moveTo>
                        <a:lnTo>
                          <a:pt x="1090485" y="991076"/>
                        </a:lnTo>
                        <a:lnTo>
                          <a:pt x="2292429" y="506081"/>
                        </a:lnTo>
                        <a:lnTo>
                          <a:pt x="2292429" y="765147"/>
                        </a:lnTo>
                        <a:lnTo>
                          <a:pt x="1090485" y="1265204"/>
                        </a:lnTo>
                        <a:lnTo>
                          <a:pt x="253041" y="933841"/>
                        </a:lnTo>
                        <a:lnTo>
                          <a:pt x="253041" y="662726"/>
                        </a:lnTo>
                        <a:close/>
                        <a:moveTo>
                          <a:pt x="2286404" y="1702000"/>
                        </a:moveTo>
                        <a:lnTo>
                          <a:pt x="1084460" y="2199045"/>
                        </a:lnTo>
                        <a:lnTo>
                          <a:pt x="244004" y="1867682"/>
                        </a:lnTo>
                        <a:lnTo>
                          <a:pt x="244004" y="1632715"/>
                        </a:lnTo>
                        <a:lnTo>
                          <a:pt x="994089" y="1939979"/>
                        </a:lnTo>
                        <a:lnTo>
                          <a:pt x="2289416" y="1427873"/>
                        </a:lnTo>
                        <a:lnTo>
                          <a:pt x="2286404" y="1702000"/>
                        </a:lnTo>
                        <a:close/>
                        <a:moveTo>
                          <a:pt x="2202057" y="1250142"/>
                        </a:moveTo>
                        <a:lnTo>
                          <a:pt x="1000113" y="1747186"/>
                        </a:lnTo>
                        <a:lnTo>
                          <a:pt x="162669" y="1415823"/>
                        </a:lnTo>
                        <a:lnTo>
                          <a:pt x="162669" y="1144708"/>
                        </a:lnTo>
                        <a:lnTo>
                          <a:pt x="1024213" y="1488121"/>
                        </a:lnTo>
                        <a:lnTo>
                          <a:pt x="2205069" y="994089"/>
                        </a:lnTo>
                        <a:lnTo>
                          <a:pt x="2205069" y="1250142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3F68C7B0-3A26-DB3C-1D88-48569C4C810B}"/>
              </a:ext>
            </a:extLst>
          </p:cNvPr>
          <p:cNvSpPr/>
          <p:nvPr/>
        </p:nvSpPr>
        <p:spPr>
          <a:xfrm>
            <a:off x="8606297" y="2747193"/>
            <a:ext cx="372166" cy="437842"/>
          </a:xfrm>
          <a:custGeom>
            <a:avLst/>
            <a:gdLst>
              <a:gd name="connsiteX0" fmla="*/ 186083 w 372166"/>
              <a:gd name="connsiteY0" fmla="*/ 0 h 437842"/>
              <a:gd name="connsiteX1" fmla="*/ 186083 w 372166"/>
              <a:gd name="connsiteY1" fmla="*/ 0 h 437842"/>
              <a:gd name="connsiteX2" fmla="*/ 372166 w 372166"/>
              <a:gd name="connsiteY2" fmla="*/ 218921 h 437842"/>
              <a:gd name="connsiteX3" fmla="*/ 372166 w 372166"/>
              <a:gd name="connsiteY3" fmla="*/ 218921 h 437842"/>
              <a:gd name="connsiteX4" fmla="*/ 186083 w 372166"/>
              <a:gd name="connsiteY4" fmla="*/ 437843 h 437842"/>
              <a:gd name="connsiteX5" fmla="*/ 186083 w 372166"/>
              <a:gd name="connsiteY5" fmla="*/ 437843 h 437842"/>
              <a:gd name="connsiteX6" fmla="*/ 0 w 372166"/>
              <a:gd name="connsiteY6" fmla="*/ 218921 h 437842"/>
              <a:gd name="connsiteX7" fmla="*/ 0 w 372166"/>
              <a:gd name="connsiteY7" fmla="*/ 218921 h 437842"/>
              <a:gd name="connsiteX8" fmla="*/ 186083 w 372166"/>
              <a:gd name="connsiteY8" fmla="*/ 0 h 43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66" h="437842" fill="none" extrusionOk="0">
                <a:moveTo>
                  <a:pt x="186083" y="0"/>
                </a:moveTo>
                <a:lnTo>
                  <a:pt x="186083" y="0"/>
                </a:lnTo>
                <a:cubicBezTo>
                  <a:pt x="232080" y="77318"/>
                  <a:pt x="288995" y="178282"/>
                  <a:pt x="372166" y="218921"/>
                </a:cubicBezTo>
                <a:lnTo>
                  <a:pt x="372166" y="218921"/>
                </a:lnTo>
                <a:cubicBezTo>
                  <a:pt x="274965" y="267766"/>
                  <a:pt x="230311" y="335205"/>
                  <a:pt x="186083" y="437843"/>
                </a:cubicBezTo>
                <a:lnTo>
                  <a:pt x="186083" y="437843"/>
                </a:lnTo>
                <a:cubicBezTo>
                  <a:pt x="166621" y="338513"/>
                  <a:pt x="113627" y="258013"/>
                  <a:pt x="0" y="218921"/>
                </a:cubicBezTo>
                <a:lnTo>
                  <a:pt x="0" y="218921"/>
                </a:lnTo>
                <a:cubicBezTo>
                  <a:pt x="106908" y="189967"/>
                  <a:pt x="177957" y="93476"/>
                  <a:pt x="186083" y="0"/>
                </a:cubicBezTo>
                <a:close/>
              </a:path>
              <a:path w="372166" h="437842" stroke="0" extrusionOk="0">
                <a:moveTo>
                  <a:pt x="186083" y="0"/>
                </a:moveTo>
                <a:lnTo>
                  <a:pt x="186083" y="0"/>
                </a:lnTo>
                <a:cubicBezTo>
                  <a:pt x="223025" y="69156"/>
                  <a:pt x="278547" y="201978"/>
                  <a:pt x="372166" y="218921"/>
                </a:cubicBezTo>
                <a:lnTo>
                  <a:pt x="372166" y="218921"/>
                </a:lnTo>
                <a:cubicBezTo>
                  <a:pt x="298060" y="239992"/>
                  <a:pt x="209278" y="349555"/>
                  <a:pt x="186083" y="437843"/>
                </a:cubicBezTo>
                <a:lnTo>
                  <a:pt x="186083" y="437843"/>
                </a:lnTo>
                <a:cubicBezTo>
                  <a:pt x="167197" y="329289"/>
                  <a:pt x="94331" y="263111"/>
                  <a:pt x="0" y="218921"/>
                </a:cubicBezTo>
                <a:lnTo>
                  <a:pt x="0" y="218921"/>
                </a:lnTo>
                <a:cubicBezTo>
                  <a:pt x="85553" y="156459"/>
                  <a:pt x="164669" y="83870"/>
                  <a:pt x="1860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4214406867">
                  <a:custGeom>
                    <a:avLst/>
                    <a:gdLst>
                      <a:gd name="connsiteX0" fmla="*/ 186083 w 372166"/>
                      <a:gd name="connsiteY0" fmla="*/ 0 h 437842"/>
                      <a:gd name="connsiteX1" fmla="*/ 186083 w 372166"/>
                      <a:gd name="connsiteY1" fmla="*/ 0 h 437842"/>
                      <a:gd name="connsiteX2" fmla="*/ 372166 w 372166"/>
                      <a:gd name="connsiteY2" fmla="*/ 218921 h 437842"/>
                      <a:gd name="connsiteX3" fmla="*/ 372166 w 372166"/>
                      <a:gd name="connsiteY3" fmla="*/ 218921 h 437842"/>
                      <a:gd name="connsiteX4" fmla="*/ 186083 w 372166"/>
                      <a:gd name="connsiteY4" fmla="*/ 437843 h 437842"/>
                      <a:gd name="connsiteX5" fmla="*/ 186083 w 372166"/>
                      <a:gd name="connsiteY5" fmla="*/ 437843 h 437842"/>
                      <a:gd name="connsiteX6" fmla="*/ 0 w 372166"/>
                      <a:gd name="connsiteY6" fmla="*/ 218921 h 437842"/>
                      <a:gd name="connsiteX7" fmla="*/ 0 w 372166"/>
                      <a:gd name="connsiteY7" fmla="*/ 218921 h 437842"/>
                      <a:gd name="connsiteX8" fmla="*/ 186083 w 372166"/>
                      <a:gd name="connsiteY8" fmla="*/ 0 h 437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72166" h="437842">
                        <a:moveTo>
                          <a:pt x="186083" y="0"/>
                        </a:moveTo>
                        <a:lnTo>
                          <a:pt x="186083" y="0"/>
                        </a:lnTo>
                        <a:cubicBezTo>
                          <a:pt x="211624" y="94866"/>
                          <a:pt x="280949" y="175137"/>
                          <a:pt x="372166" y="218921"/>
                        </a:cubicBezTo>
                        <a:lnTo>
                          <a:pt x="372166" y="218921"/>
                        </a:lnTo>
                        <a:cubicBezTo>
                          <a:pt x="280949" y="262706"/>
                          <a:pt x="215273" y="342977"/>
                          <a:pt x="186083" y="437843"/>
                        </a:cubicBezTo>
                        <a:lnTo>
                          <a:pt x="186083" y="437843"/>
                        </a:lnTo>
                        <a:cubicBezTo>
                          <a:pt x="160542" y="342977"/>
                          <a:pt x="91217" y="262706"/>
                          <a:pt x="0" y="218921"/>
                        </a:cubicBezTo>
                        <a:lnTo>
                          <a:pt x="0" y="218921"/>
                        </a:lnTo>
                        <a:cubicBezTo>
                          <a:pt x="91217" y="175137"/>
                          <a:pt x="160542" y="94866"/>
                          <a:pt x="186083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4617ECC0-91E0-12CD-5649-880D01FD1866}"/>
              </a:ext>
            </a:extLst>
          </p:cNvPr>
          <p:cNvSpPr/>
          <p:nvPr/>
        </p:nvSpPr>
        <p:spPr>
          <a:xfrm>
            <a:off x="6271135" y="3549905"/>
            <a:ext cx="372166" cy="437842"/>
          </a:xfrm>
          <a:custGeom>
            <a:avLst/>
            <a:gdLst>
              <a:gd name="connsiteX0" fmla="*/ 186083 w 372166"/>
              <a:gd name="connsiteY0" fmla="*/ 0 h 437842"/>
              <a:gd name="connsiteX1" fmla="*/ 186083 w 372166"/>
              <a:gd name="connsiteY1" fmla="*/ 0 h 437842"/>
              <a:gd name="connsiteX2" fmla="*/ 372166 w 372166"/>
              <a:gd name="connsiteY2" fmla="*/ 218921 h 437842"/>
              <a:gd name="connsiteX3" fmla="*/ 372166 w 372166"/>
              <a:gd name="connsiteY3" fmla="*/ 218921 h 437842"/>
              <a:gd name="connsiteX4" fmla="*/ 186083 w 372166"/>
              <a:gd name="connsiteY4" fmla="*/ 437843 h 437842"/>
              <a:gd name="connsiteX5" fmla="*/ 186083 w 372166"/>
              <a:gd name="connsiteY5" fmla="*/ 437843 h 437842"/>
              <a:gd name="connsiteX6" fmla="*/ 0 w 372166"/>
              <a:gd name="connsiteY6" fmla="*/ 218921 h 437842"/>
              <a:gd name="connsiteX7" fmla="*/ 0 w 372166"/>
              <a:gd name="connsiteY7" fmla="*/ 218921 h 437842"/>
              <a:gd name="connsiteX8" fmla="*/ 186083 w 372166"/>
              <a:gd name="connsiteY8" fmla="*/ 0 h 43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66" h="437842" fill="none" extrusionOk="0">
                <a:moveTo>
                  <a:pt x="186083" y="0"/>
                </a:moveTo>
                <a:lnTo>
                  <a:pt x="186083" y="0"/>
                </a:lnTo>
                <a:cubicBezTo>
                  <a:pt x="213213" y="110402"/>
                  <a:pt x="285655" y="159877"/>
                  <a:pt x="372166" y="218921"/>
                </a:cubicBezTo>
                <a:lnTo>
                  <a:pt x="372166" y="218921"/>
                </a:lnTo>
                <a:cubicBezTo>
                  <a:pt x="276008" y="265489"/>
                  <a:pt x="239474" y="338867"/>
                  <a:pt x="186083" y="437843"/>
                </a:cubicBezTo>
                <a:lnTo>
                  <a:pt x="186083" y="437843"/>
                </a:lnTo>
                <a:cubicBezTo>
                  <a:pt x="188520" y="347620"/>
                  <a:pt x="85850" y="269460"/>
                  <a:pt x="0" y="218921"/>
                </a:cubicBezTo>
                <a:lnTo>
                  <a:pt x="0" y="218921"/>
                </a:lnTo>
                <a:cubicBezTo>
                  <a:pt x="101246" y="181773"/>
                  <a:pt x="165767" y="99968"/>
                  <a:pt x="186083" y="0"/>
                </a:cubicBezTo>
                <a:close/>
              </a:path>
              <a:path w="372166" h="437842" stroke="0" extrusionOk="0">
                <a:moveTo>
                  <a:pt x="186083" y="0"/>
                </a:moveTo>
                <a:lnTo>
                  <a:pt x="186083" y="0"/>
                </a:lnTo>
                <a:cubicBezTo>
                  <a:pt x="217218" y="92890"/>
                  <a:pt x="284579" y="155108"/>
                  <a:pt x="372166" y="218921"/>
                </a:cubicBezTo>
                <a:lnTo>
                  <a:pt x="372166" y="218921"/>
                </a:lnTo>
                <a:cubicBezTo>
                  <a:pt x="295474" y="262889"/>
                  <a:pt x="221265" y="343031"/>
                  <a:pt x="186083" y="437843"/>
                </a:cubicBezTo>
                <a:lnTo>
                  <a:pt x="186083" y="437843"/>
                </a:lnTo>
                <a:cubicBezTo>
                  <a:pt x="162696" y="341954"/>
                  <a:pt x="100369" y="288547"/>
                  <a:pt x="0" y="218921"/>
                </a:cubicBezTo>
                <a:lnTo>
                  <a:pt x="0" y="218921"/>
                </a:lnTo>
                <a:cubicBezTo>
                  <a:pt x="73419" y="168068"/>
                  <a:pt x="141285" y="75187"/>
                  <a:pt x="1860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353944771">
                  <a:custGeom>
                    <a:avLst/>
                    <a:gdLst>
                      <a:gd name="connsiteX0" fmla="*/ 186083 w 372166"/>
                      <a:gd name="connsiteY0" fmla="*/ 0 h 437842"/>
                      <a:gd name="connsiteX1" fmla="*/ 186083 w 372166"/>
                      <a:gd name="connsiteY1" fmla="*/ 0 h 437842"/>
                      <a:gd name="connsiteX2" fmla="*/ 372166 w 372166"/>
                      <a:gd name="connsiteY2" fmla="*/ 218921 h 437842"/>
                      <a:gd name="connsiteX3" fmla="*/ 372166 w 372166"/>
                      <a:gd name="connsiteY3" fmla="*/ 218921 h 437842"/>
                      <a:gd name="connsiteX4" fmla="*/ 186083 w 372166"/>
                      <a:gd name="connsiteY4" fmla="*/ 437843 h 437842"/>
                      <a:gd name="connsiteX5" fmla="*/ 186083 w 372166"/>
                      <a:gd name="connsiteY5" fmla="*/ 437843 h 437842"/>
                      <a:gd name="connsiteX6" fmla="*/ 0 w 372166"/>
                      <a:gd name="connsiteY6" fmla="*/ 218921 h 437842"/>
                      <a:gd name="connsiteX7" fmla="*/ 0 w 372166"/>
                      <a:gd name="connsiteY7" fmla="*/ 218921 h 437842"/>
                      <a:gd name="connsiteX8" fmla="*/ 186083 w 372166"/>
                      <a:gd name="connsiteY8" fmla="*/ 0 h 437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72166" h="437842">
                        <a:moveTo>
                          <a:pt x="186083" y="0"/>
                        </a:moveTo>
                        <a:lnTo>
                          <a:pt x="186083" y="0"/>
                        </a:lnTo>
                        <a:cubicBezTo>
                          <a:pt x="211624" y="94866"/>
                          <a:pt x="280949" y="175137"/>
                          <a:pt x="372166" y="218921"/>
                        </a:cubicBezTo>
                        <a:lnTo>
                          <a:pt x="372166" y="218921"/>
                        </a:lnTo>
                        <a:cubicBezTo>
                          <a:pt x="280949" y="262706"/>
                          <a:pt x="215273" y="342977"/>
                          <a:pt x="186083" y="437843"/>
                        </a:cubicBezTo>
                        <a:lnTo>
                          <a:pt x="186083" y="437843"/>
                        </a:lnTo>
                        <a:cubicBezTo>
                          <a:pt x="160542" y="342977"/>
                          <a:pt x="91217" y="262706"/>
                          <a:pt x="0" y="218921"/>
                        </a:cubicBezTo>
                        <a:lnTo>
                          <a:pt x="0" y="218921"/>
                        </a:lnTo>
                        <a:cubicBezTo>
                          <a:pt x="91217" y="175137"/>
                          <a:pt x="160542" y="94866"/>
                          <a:pt x="186083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19A2D17-1812-1C4C-6B0E-ACD296356BAA}"/>
              </a:ext>
            </a:extLst>
          </p:cNvPr>
          <p:cNvSpPr/>
          <p:nvPr/>
        </p:nvSpPr>
        <p:spPr>
          <a:xfrm>
            <a:off x="6665193" y="2820167"/>
            <a:ext cx="306489" cy="364869"/>
          </a:xfrm>
          <a:custGeom>
            <a:avLst/>
            <a:gdLst>
              <a:gd name="connsiteX0" fmla="*/ 153245 w 306489"/>
              <a:gd name="connsiteY0" fmla="*/ 0 h 364869"/>
              <a:gd name="connsiteX1" fmla="*/ 153245 w 306489"/>
              <a:gd name="connsiteY1" fmla="*/ 0 h 364869"/>
              <a:gd name="connsiteX2" fmla="*/ 306490 w 306489"/>
              <a:gd name="connsiteY2" fmla="*/ 182435 h 364869"/>
              <a:gd name="connsiteX3" fmla="*/ 306490 w 306489"/>
              <a:gd name="connsiteY3" fmla="*/ 182435 h 364869"/>
              <a:gd name="connsiteX4" fmla="*/ 153245 w 306489"/>
              <a:gd name="connsiteY4" fmla="*/ 364869 h 364869"/>
              <a:gd name="connsiteX5" fmla="*/ 153245 w 306489"/>
              <a:gd name="connsiteY5" fmla="*/ 364869 h 364869"/>
              <a:gd name="connsiteX6" fmla="*/ 0 w 306489"/>
              <a:gd name="connsiteY6" fmla="*/ 182435 h 364869"/>
              <a:gd name="connsiteX7" fmla="*/ 0 w 306489"/>
              <a:gd name="connsiteY7" fmla="*/ 182435 h 364869"/>
              <a:gd name="connsiteX8" fmla="*/ 153245 w 306489"/>
              <a:gd name="connsiteY8" fmla="*/ 0 h 36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489" h="364869" fill="none" extrusionOk="0">
                <a:moveTo>
                  <a:pt x="153245" y="0"/>
                </a:moveTo>
                <a:lnTo>
                  <a:pt x="153245" y="0"/>
                </a:lnTo>
                <a:cubicBezTo>
                  <a:pt x="171642" y="84404"/>
                  <a:pt x="236170" y="166048"/>
                  <a:pt x="306490" y="182435"/>
                </a:cubicBezTo>
                <a:lnTo>
                  <a:pt x="306490" y="182435"/>
                </a:lnTo>
                <a:cubicBezTo>
                  <a:pt x="232743" y="199824"/>
                  <a:pt x="175089" y="281171"/>
                  <a:pt x="153245" y="364869"/>
                </a:cubicBezTo>
                <a:lnTo>
                  <a:pt x="153245" y="364869"/>
                </a:lnTo>
                <a:cubicBezTo>
                  <a:pt x="136431" y="261575"/>
                  <a:pt x="75027" y="215587"/>
                  <a:pt x="0" y="182435"/>
                </a:cubicBezTo>
                <a:lnTo>
                  <a:pt x="0" y="182435"/>
                </a:lnTo>
                <a:cubicBezTo>
                  <a:pt x="62355" y="144742"/>
                  <a:pt x="123580" y="99479"/>
                  <a:pt x="153245" y="0"/>
                </a:cubicBezTo>
                <a:close/>
              </a:path>
              <a:path w="306489" h="364869" stroke="0" extrusionOk="0">
                <a:moveTo>
                  <a:pt x="153245" y="0"/>
                </a:moveTo>
                <a:lnTo>
                  <a:pt x="153245" y="0"/>
                </a:lnTo>
                <a:cubicBezTo>
                  <a:pt x="176549" y="60497"/>
                  <a:pt x="228414" y="147216"/>
                  <a:pt x="306490" y="182435"/>
                </a:cubicBezTo>
                <a:lnTo>
                  <a:pt x="306490" y="182435"/>
                </a:lnTo>
                <a:cubicBezTo>
                  <a:pt x="215138" y="224828"/>
                  <a:pt x="172678" y="271711"/>
                  <a:pt x="153245" y="364869"/>
                </a:cubicBezTo>
                <a:lnTo>
                  <a:pt x="153245" y="364869"/>
                </a:lnTo>
                <a:cubicBezTo>
                  <a:pt x="121457" y="264986"/>
                  <a:pt x="80155" y="236351"/>
                  <a:pt x="0" y="182435"/>
                </a:cubicBezTo>
                <a:lnTo>
                  <a:pt x="0" y="182435"/>
                </a:lnTo>
                <a:cubicBezTo>
                  <a:pt x="71761" y="147848"/>
                  <a:pt x="133497" y="96937"/>
                  <a:pt x="153245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733159373">
                  <a:custGeom>
                    <a:avLst/>
                    <a:gdLst>
                      <a:gd name="connsiteX0" fmla="*/ 153245 w 306489"/>
                      <a:gd name="connsiteY0" fmla="*/ 0 h 364869"/>
                      <a:gd name="connsiteX1" fmla="*/ 153245 w 306489"/>
                      <a:gd name="connsiteY1" fmla="*/ 0 h 364869"/>
                      <a:gd name="connsiteX2" fmla="*/ 306490 w 306489"/>
                      <a:gd name="connsiteY2" fmla="*/ 182435 h 364869"/>
                      <a:gd name="connsiteX3" fmla="*/ 306490 w 306489"/>
                      <a:gd name="connsiteY3" fmla="*/ 182435 h 364869"/>
                      <a:gd name="connsiteX4" fmla="*/ 153245 w 306489"/>
                      <a:gd name="connsiteY4" fmla="*/ 364869 h 364869"/>
                      <a:gd name="connsiteX5" fmla="*/ 153245 w 306489"/>
                      <a:gd name="connsiteY5" fmla="*/ 364869 h 364869"/>
                      <a:gd name="connsiteX6" fmla="*/ 0 w 306489"/>
                      <a:gd name="connsiteY6" fmla="*/ 182435 h 364869"/>
                      <a:gd name="connsiteX7" fmla="*/ 0 w 306489"/>
                      <a:gd name="connsiteY7" fmla="*/ 182435 h 364869"/>
                      <a:gd name="connsiteX8" fmla="*/ 153245 w 306489"/>
                      <a:gd name="connsiteY8" fmla="*/ 0 h 364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6489" h="364869">
                        <a:moveTo>
                          <a:pt x="153245" y="0"/>
                        </a:moveTo>
                        <a:lnTo>
                          <a:pt x="153245" y="0"/>
                        </a:lnTo>
                        <a:cubicBezTo>
                          <a:pt x="175137" y="80271"/>
                          <a:pt x="233516" y="145948"/>
                          <a:pt x="306490" y="182435"/>
                        </a:cubicBezTo>
                        <a:lnTo>
                          <a:pt x="306490" y="182435"/>
                        </a:lnTo>
                        <a:cubicBezTo>
                          <a:pt x="229867" y="218921"/>
                          <a:pt x="175137" y="284598"/>
                          <a:pt x="153245" y="364869"/>
                        </a:cubicBezTo>
                        <a:lnTo>
                          <a:pt x="153245" y="364869"/>
                        </a:lnTo>
                        <a:cubicBezTo>
                          <a:pt x="131353" y="284598"/>
                          <a:pt x="72974" y="218921"/>
                          <a:pt x="0" y="182435"/>
                        </a:cubicBezTo>
                        <a:lnTo>
                          <a:pt x="0" y="182435"/>
                        </a:lnTo>
                        <a:cubicBezTo>
                          <a:pt x="72974" y="145948"/>
                          <a:pt x="131353" y="80271"/>
                          <a:pt x="153245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FE42B313-F721-F219-DFC6-93CC7D021669}"/>
              </a:ext>
            </a:extLst>
          </p:cNvPr>
          <p:cNvSpPr/>
          <p:nvPr/>
        </p:nvSpPr>
        <p:spPr>
          <a:xfrm>
            <a:off x="9073329" y="3403958"/>
            <a:ext cx="306490" cy="364869"/>
          </a:xfrm>
          <a:custGeom>
            <a:avLst/>
            <a:gdLst>
              <a:gd name="connsiteX0" fmla="*/ 153245 w 306490"/>
              <a:gd name="connsiteY0" fmla="*/ 0 h 364869"/>
              <a:gd name="connsiteX1" fmla="*/ 153245 w 306490"/>
              <a:gd name="connsiteY1" fmla="*/ 0 h 364869"/>
              <a:gd name="connsiteX2" fmla="*/ 306490 w 306490"/>
              <a:gd name="connsiteY2" fmla="*/ 182435 h 364869"/>
              <a:gd name="connsiteX3" fmla="*/ 306490 w 306490"/>
              <a:gd name="connsiteY3" fmla="*/ 182435 h 364869"/>
              <a:gd name="connsiteX4" fmla="*/ 153245 w 306490"/>
              <a:gd name="connsiteY4" fmla="*/ 364869 h 364869"/>
              <a:gd name="connsiteX5" fmla="*/ 153245 w 306490"/>
              <a:gd name="connsiteY5" fmla="*/ 364869 h 364869"/>
              <a:gd name="connsiteX6" fmla="*/ 0 w 306490"/>
              <a:gd name="connsiteY6" fmla="*/ 182435 h 364869"/>
              <a:gd name="connsiteX7" fmla="*/ 0 w 306490"/>
              <a:gd name="connsiteY7" fmla="*/ 182435 h 364869"/>
              <a:gd name="connsiteX8" fmla="*/ 153245 w 306490"/>
              <a:gd name="connsiteY8" fmla="*/ 0 h 36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490" h="364869" fill="none" extrusionOk="0">
                <a:moveTo>
                  <a:pt x="153245" y="0"/>
                </a:moveTo>
                <a:lnTo>
                  <a:pt x="153245" y="0"/>
                </a:lnTo>
                <a:cubicBezTo>
                  <a:pt x="161759" y="68705"/>
                  <a:pt x="238551" y="143539"/>
                  <a:pt x="306490" y="182435"/>
                </a:cubicBezTo>
                <a:lnTo>
                  <a:pt x="306490" y="182435"/>
                </a:lnTo>
                <a:cubicBezTo>
                  <a:pt x="244563" y="221747"/>
                  <a:pt x="176452" y="294246"/>
                  <a:pt x="153245" y="364869"/>
                </a:cubicBezTo>
                <a:lnTo>
                  <a:pt x="153245" y="364869"/>
                </a:lnTo>
                <a:cubicBezTo>
                  <a:pt x="107834" y="284222"/>
                  <a:pt x="58744" y="206022"/>
                  <a:pt x="0" y="182435"/>
                </a:cubicBezTo>
                <a:lnTo>
                  <a:pt x="0" y="182435"/>
                </a:lnTo>
                <a:cubicBezTo>
                  <a:pt x="61498" y="153750"/>
                  <a:pt x="118020" y="95760"/>
                  <a:pt x="153245" y="0"/>
                </a:cubicBezTo>
                <a:close/>
              </a:path>
              <a:path w="306490" h="364869" stroke="0" extrusionOk="0">
                <a:moveTo>
                  <a:pt x="153245" y="0"/>
                </a:moveTo>
                <a:lnTo>
                  <a:pt x="153245" y="0"/>
                </a:lnTo>
                <a:cubicBezTo>
                  <a:pt x="156218" y="94761"/>
                  <a:pt x="223608" y="150726"/>
                  <a:pt x="306490" y="182435"/>
                </a:cubicBezTo>
                <a:lnTo>
                  <a:pt x="306490" y="182435"/>
                </a:lnTo>
                <a:cubicBezTo>
                  <a:pt x="207983" y="229633"/>
                  <a:pt x="183430" y="275072"/>
                  <a:pt x="153245" y="364869"/>
                </a:cubicBezTo>
                <a:lnTo>
                  <a:pt x="153245" y="364869"/>
                </a:lnTo>
                <a:cubicBezTo>
                  <a:pt x="124390" y="292490"/>
                  <a:pt x="95919" y="211719"/>
                  <a:pt x="0" y="182435"/>
                </a:cubicBezTo>
                <a:lnTo>
                  <a:pt x="0" y="182435"/>
                </a:lnTo>
                <a:cubicBezTo>
                  <a:pt x="62769" y="143410"/>
                  <a:pt x="109814" y="92547"/>
                  <a:pt x="153245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172960802">
                  <a:custGeom>
                    <a:avLst/>
                    <a:gdLst>
                      <a:gd name="connsiteX0" fmla="*/ 153245 w 306490"/>
                      <a:gd name="connsiteY0" fmla="*/ 0 h 364869"/>
                      <a:gd name="connsiteX1" fmla="*/ 153245 w 306490"/>
                      <a:gd name="connsiteY1" fmla="*/ 0 h 364869"/>
                      <a:gd name="connsiteX2" fmla="*/ 306490 w 306490"/>
                      <a:gd name="connsiteY2" fmla="*/ 182435 h 364869"/>
                      <a:gd name="connsiteX3" fmla="*/ 306490 w 306490"/>
                      <a:gd name="connsiteY3" fmla="*/ 182435 h 364869"/>
                      <a:gd name="connsiteX4" fmla="*/ 153245 w 306490"/>
                      <a:gd name="connsiteY4" fmla="*/ 364869 h 364869"/>
                      <a:gd name="connsiteX5" fmla="*/ 153245 w 306490"/>
                      <a:gd name="connsiteY5" fmla="*/ 364869 h 364869"/>
                      <a:gd name="connsiteX6" fmla="*/ 0 w 306490"/>
                      <a:gd name="connsiteY6" fmla="*/ 182435 h 364869"/>
                      <a:gd name="connsiteX7" fmla="*/ 0 w 306490"/>
                      <a:gd name="connsiteY7" fmla="*/ 182435 h 364869"/>
                      <a:gd name="connsiteX8" fmla="*/ 153245 w 306490"/>
                      <a:gd name="connsiteY8" fmla="*/ 0 h 364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6490" h="364869">
                        <a:moveTo>
                          <a:pt x="153245" y="0"/>
                        </a:moveTo>
                        <a:lnTo>
                          <a:pt x="153245" y="0"/>
                        </a:lnTo>
                        <a:cubicBezTo>
                          <a:pt x="175137" y="80271"/>
                          <a:pt x="233516" y="145948"/>
                          <a:pt x="306490" y="182435"/>
                        </a:cubicBezTo>
                        <a:lnTo>
                          <a:pt x="306490" y="182435"/>
                        </a:lnTo>
                        <a:cubicBezTo>
                          <a:pt x="229868" y="218921"/>
                          <a:pt x="175137" y="284598"/>
                          <a:pt x="153245" y="364869"/>
                        </a:cubicBezTo>
                        <a:lnTo>
                          <a:pt x="153245" y="364869"/>
                        </a:lnTo>
                        <a:cubicBezTo>
                          <a:pt x="131353" y="284598"/>
                          <a:pt x="72974" y="218921"/>
                          <a:pt x="0" y="182435"/>
                        </a:cubicBezTo>
                        <a:lnTo>
                          <a:pt x="0" y="182435"/>
                        </a:lnTo>
                        <a:cubicBezTo>
                          <a:pt x="72974" y="145948"/>
                          <a:pt x="131353" y="80271"/>
                          <a:pt x="153245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6BD9C695-68ED-10AA-41C4-FD145BE5D295}"/>
              </a:ext>
            </a:extLst>
          </p:cNvPr>
          <p:cNvSpPr/>
          <p:nvPr/>
        </p:nvSpPr>
        <p:spPr>
          <a:xfrm>
            <a:off x="7792639" y="3641123"/>
            <a:ext cx="109460" cy="474329"/>
          </a:xfrm>
          <a:custGeom>
            <a:avLst/>
            <a:gdLst>
              <a:gd name="connsiteX0" fmla="*/ 54730 w 109460"/>
              <a:gd name="connsiteY0" fmla="*/ 474330 h 474329"/>
              <a:gd name="connsiteX1" fmla="*/ 0 w 109460"/>
              <a:gd name="connsiteY1" fmla="*/ 419599 h 474329"/>
              <a:gd name="connsiteX2" fmla="*/ 0 w 109460"/>
              <a:gd name="connsiteY2" fmla="*/ 54730 h 474329"/>
              <a:gd name="connsiteX3" fmla="*/ 54730 w 109460"/>
              <a:gd name="connsiteY3" fmla="*/ 0 h 474329"/>
              <a:gd name="connsiteX4" fmla="*/ 109461 w 109460"/>
              <a:gd name="connsiteY4" fmla="*/ 54730 h 474329"/>
              <a:gd name="connsiteX5" fmla="*/ 109461 w 109460"/>
              <a:gd name="connsiteY5" fmla="*/ 419599 h 474329"/>
              <a:gd name="connsiteX6" fmla="*/ 54730 w 109460"/>
              <a:gd name="connsiteY6" fmla="*/ 474330 h 47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474329" fill="none" extrusionOk="0">
                <a:moveTo>
                  <a:pt x="54730" y="474330"/>
                </a:moveTo>
                <a:cubicBezTo>
                  <a:pt x="27661" y="481221"/>
                  <a:pt x="7843" y="449005"/>
                  <a:pt x="0" y="419599"/>
                </a:cubicBezTo>
                <a:cubicBezTo>
                  <a:pt x="-40182" y="257840"/>
                  <a:pt x="14034" y="152289"/>
                  <a:pt x="0" y="54730"/>
                </a:cubicBezTo>
                <a:cubicBezTo>
                  <a:pt x="-1626" y="25684"/>
                  <a:pt x="24905" y="5408"/>
                  <a:pt x="54730" y="0"/>
                </a:cubicBezTo>
                <a:cubicBezTo>
                  <a:pt x="91798" y="-1006"/>
                  <a:pt x="104759" y="29247"/>
                  <a:pt x="109461" y="54730"/>
                </a:cubicBezTo>
                <a:cubicBezTo>
                  <a:pt x="135132" y="161146"/>
                  <a:pt x="65806" y="261586"/>
                  <a:pt x="109461" y="419599"/>
                </a:cubicBezTo>
                <a:cubicBezTo>
                  <a:pt x="105000" y="452542"/>
                  <a:pt x="81694" y="478593"/>
                  <a:pt x="54730" y="474330"/>
                </a:cubicBezTo>
                <a:close/>
              </a:path>
              <a:path w="109460" h="474329" stroke="0" extrusionOk="0">
                <a:moveTo>
                  <a:pt x="54730" y="474330"/>
                </a:moveTo>
                <a:cubicBezTo>
                  <a:pt x="29329" y="475176"/>
                  <a:pt x="-1677" y="455056"/>
                  <a:pt x="0" y="419599"/>
                </a:cubicBezTo>
                <a:cubicBezTo>
                  <a:pt x="-12381" y="253162"/>
                  <a:pt x="4522" y="215097"/>
                  <a:pt x="0" y="54730"/>
                </a:cubicBezTo>
                <a:cubicBezTo>
                  <a:pt x="-2804" y="30485"/>
                  <a:pt x="29516" y="-5027"/>
                  <a:pt x="54730" y="0"/>
                </a:cubicBezTo>
                <a:cubicBezTo>
                  <a:pt x="85796" y="5197"/>
                  <a:pt x="109495" y="26162"/>
                  <a:pt x="109461" y="54730"/>
                </a:cubicBezTo>
                <a:cubicBezTo>
                  <a:pt x="124161" y="208187"/>
                  <a:pt x="87957" y="251242"/>
                  <a:pt x="109461" y="419599"/>
                </a:cubicBezTo>
                <a:cubicBezTo>
                  <a:pt x="109062" y="449494"/>
                  <a:pt x="86332" y="466025"/>
                  <a:pt x="54730" y="47433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6263613">
                  <a:custGeom>
                    <a:avLst/>
                    <a:gdLst>
                      <a:gd name="connsiteX0" fmla="*/ 54730 w 109460"/>
                      <a:gd name="connsiteY0" fmla="*/ 474330 h 474329"/>
                      <a:gd name="connsiteX1" fmla="*/ 0 w 109460"/>
                      <a:gd name="connsiteY1" fmla="*/ 419599 h 474329"/>
                      <a:gd name="connsiteX2" fmla="*/ 0 w 109460"/>
                      <a:gd name="connsiteY2" fmla="*/ 54730 h 474329"/>
                      <a:gd name="connsiteX3" fmla="*/ 54730 w 109460"/>
                      <a:gd name="connsiteY3" fmla="*/ 0 h 474329"/>
                      <a:gd name="connsiteX4" fmla="*/ 109461 w 109460"/>
                      <a:gd name="connsiteY4" fmla="*/ 54730 h 474329"/>
                      <a:gd name="connsiteX5" fmla="*/ 109461 w 109460"/>
                      <a:gd name="connsiteY5" fmla="*/ 419599 h 474329"/>
                      <a:gd name="connsiteX6" fmla="*/ 54730 w 109460"/>
                      <a:gd name="connsiteY6" fmla="*/ 474330 h 4743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474329">
                        <a:moveTo>
                          <a:pt x="54730" y="474330"/>
                        </a:moveTo>
                        <a:cubicBezTo>
                          <a:pt x="25541" y="474330"/>
                          <a:pt x="0" y="448789"/>
                          <a:pt x="0" y="419599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419599"/>
                        </a:lnTo>
                        <a:cubicBezTo>
                          <a:pt x="109461" y="448789"/>
                          <a:pt x="83920" y="474330"/>
                          <a:pt x="54730" y="47433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A292C741-46AF-8159-7F34-6674DE174BB4}"/>
              </a:ext>
            </a:extLst>
          </p:cNvPr>
          <p:cNvSpPr/>
          <p:nvPr/>
        </p:nvSpPr>
        <p:spPr>
          <a:xfrm>
            <a:off x="7792639" y="3130306"/>
            <a:ext cx="109460" cy="401355"/>
          </a:xfrm>
          <a:custGeom>
            <a:avLst/>
            <a:gdLst>
              <a:gd name="connsiteX0" fmla="*/ 54730 w 109460"/>
              <a:gd name="connsiteY0" fmla="*/ 401356 h 401355"/>
              <a:gd name="connsiteX1" fmla="*/ 0 w 109460"/>
              <a:gd name="connsiteY1" fmla="*/ 346626 h 401355"/>
              <a:gd name="connsiteX2" fmla="*/ 0 w 109460"/>
              <a:gd name="connsiteY2" fmla="*/ 54730 h 401355"/>
              <a:gd name="connsiteX3" fmla="*/ 54730 w 109460"/>
              <a:gd name="connsiteY3" fmla="*/ 0 h 401355"/>
              <a:gd name="connsiteX4" fmla="*/ 109461 w 109460"/>
              <a:gd name="connsiteY4" fmla="*/ 54730 h 401355"/>
              <a:gd name="connsiteX5" fmla="*/ 109461 w 109460"/>
              <a:gd name="connsiteY5" fmla="*/ 346626 h 401355"/>
              <a:gd name="connsiteX6" fmla="*/ 54730 w 109460"/>
              <a:gd name="connsiteY6" fmla="*/ 401356 h 40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401355" fill="none" extrusionOk="0">
                <a:moveTo>
                  <a:pt x="54730" y="401356"/>
                </a:moveTo>
                <a:cubicBezTo>
                  <a:pt x="26587" y="399976"/>
                  <a:pt x="-6393" y="381705"/>
                  <a:pt x="0" y="346626"/>
                </a:cubicBezTo>
                <a:cubicBezTo>
                  <a:pt x="-26825" y="274406"/>
                  <a:pt x="20903" y="140088"/>
                  <a:pt x="0" y="54730"/>
                </a:cubicBezTo>
                <a:cubicBezTo>
                  <a:pt x="6897" y="24224"/>
                  <a:pt x="25862" y="8636"/>
                  <a:pt x="54730" y="0"/>
                </a:cubicBezTo>
                <a:cubicBezTo>
                  <a:pt x="89263" y="1765"/>
                  <a:pt x="106617" y="23225"/>
                  <a:pt x="109461" y="54730"/>
                </a:cubicBezTo>
                <a:cubicBezTo>
                  <a:pt x="133234" y="153838"/>
                  <a:pt x="89091" y="251780"/>
                  <a:pt x="109461" y="346626"/>
                </a:cubicBezTo>
                <a:cubicBezTo>
                  <a:pt x="108068" y="377739"/>
                  <a:pt x="82765" y="396702"/>
                  <a:pt x="54730" y="401356"/>
                </a:cubicBezTo>
                <a:close/>
              </a:path>
              <a:path w="109460" h="401355" stroke="0" extrusionOk="0">
                <a:moveTo>
                  <a:pt x="54730" y="401356"/>
                </a:moveTo>
                <a:cubicBezTo>
                  <a:pt x="22504" y="400913"/>
                  <a:pt x="2064" y="376764"/>
                  <a:pt x="0" y="346626"/>
                </a:cubicBezTo>
                <a:cubicBezTo>
                  <a:pt x="-15450" y="235671"/>
                  <a:pt x="19812" y="160434"/>
                  <a:pt x="0" y="54730"/>
                </a:cubicBezTo>
                <a:cubicBezTo>
                  <a:pt x="3878" y="30763"/>
                  <a:pt x="22992" y="1731"/>
                  <a:pt x="54730" y="0"/>
                </a:cubicBezTo>
                <a:cubicBezTo>
                  <a:pt x="85455" y="3104"/>
                  <a:pt x="116576" y="28036"/>
                  <a:pt x="109461" y="54730"/>
                </a:cubicBezTo>
                <a:cubicBezTo>
                  <a:pt x="115494" y="180617"/>
                  <a:pt x="86216" y="212494"/>
                  <a:pt x="109461" y="346626"/>
                </a:cubicBezTo>
                <a:cubicBezTo>
                  <a:pt x="110533" y="369579"/>
                  <a:pt x="75707" y="401465"/>
                  <a:pt x="54730" y="40135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5437851">
                  <a:custGeom>
                    <a:avLst/>
                    <a:gdLst>
                      <a:gd name="connsiteX0" fmla="*/ 54730 w 109460"/>
                      <a:gd name="connsiteY0" fmla="*/ 401356 h 401355"/>
                      <a:gd name="connsiteX1" fmla="*/ 0 w 109460"/>
                      <a:gd name="connsiteY1" fmla="*/ 346626 h 401355"/>
                      <a:gd name="connsiteX2" fmla="*/ 0 w 109460"/>
                      <a:gd name="connsiteY2" fmla="*/ 54730 h 401355"/>
                      <a:gd name="connsiteX3" fmla="*/ 54730 w 109460"/>
                      <a:gd name="connsiteY3" fmla="*/ 0 h 401355"/>
                      <a:gd name="connsiteX4" fmla="*/ 109461 w 109460"/>
                      <a:gd name="connsiteY4" fmla="*/ 54730 h 401355"/>
                      <a:gd name="connsiteX5" fmla="*/ 109461 w 109460"/>
                      <a:gd name="connsiteY5" fmla="*/ 346626 h 401355"/>
                      <a:gd name="connsiteX6" fmla="*/ 54730 w 109460"/>
                      <a:gd name="connsiteY6" fmla="*/ 401356 h 40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401355">
                        <a:moveTo>
                          <a:pt x="54730" y="401356"/>
                        </a:moveTo>
                        <a:cubicBezTo>
                          <a:pt x="25541" y="401356"/>
                          <a:pt x="0" y="375815"/>
                          <a:pt x="0" y="346626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346626"/>
                        </a:lnTo>
                        <a:cubicBezTo>
                          <a:pt x="109461" y="375815"/>
                          <a:pt x="83920" y="401356"/>
                          <a:pt x="54730" y="40135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53BF056D-B17A-D718-ED03-8DCD9A12A1A0}"/>
              </a:ext>
            </a:extLst>
          </p:cNvPr>
          <p:cNvSpPr/>
          <p:nvPr/>
        </p:nvSpPr>
        <p:spPr>
          <a:xfrm>
            <a:off x="7792639" y="2765437"/>
            <a:ext cx="109460" cy="255408"/>
          </a:xfrm>
          <a:custGeom>
            <a:avLst/>
            <a:gdLst>
              <a:gd name="connsiteX0" fmla="*/ 54730 w 109460"/>
              <a:gd name="connsiteY0" fmla="*/ 255408 h 255408"/>
              <a:gd name="connsiteX1" fmla="*/ 0 w 109460"/>
              <a:gd name="connsiteY1" fmla="*/ 200678 h 255408"/>
              <a:gd name="connsiteX2" fmla="*/ 0 w 109460"/>
              <a:gd name="connsiteY2" fmla="*/ 54730 h 255408"/>
              <a:gd name="connsiteX3" fmla="*/ 54730 w 109460"/>
              <a:gd name="connsiteY3" fmla="*/ 0 h 255408"/>
              <a:gd name="connsiteX4" fmla="*/ 109461 w 109460"/>
              <a:gd name="connsiteY4" fmla="*/ 54730 h 255408"/>
              <a:gd name="connsiteX5" fmla="*/ 109461 w 109460"/>
              <a:gd name="connsiteY5" fmla="*/ 200678 h 255408"/>
              <a:gd name="connsiteX6" fmla="*/ 54730 w 109460"/>
              <a:gd name="connsiteY6" fmla="*/ 255408 h 25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255408" fill="none" extrusionOk="0">
                <a:moveTo>
                  <a:pt x="54730" y="255408"/>
                </a:moveTo>
                <a:cubicBezTo>
                  <a:pt x="23074" y="259780"/>
                  <a:pt x="1838" y="223104"/>
                  <a:pt x="0" y="200678"/>
                </a:cubicBezTo>
                <a:cubicBezTo>
                  <a:pt x="-2692" y="131036"/>
                  <a:pt x="15927" y="114660"/>
                  <a:pt x="0" y="54730"/>
                </a:cubicBezTo>
                <a:cubicBezTo>
                  <a:pt x="5177" y="22690"/>
                  <a:pt x="25661" y="656"/>
                  <a:pt x="54730" y="0"/>
                </a:cubicBezTo>
                <a:cubicBezTo>
                  <a:pt x="84793" y="117"/>
                  <a:pt x="109634" y="23038"/>
                  <a:pt x="109461" y="54730"/>
                </a:cubicBezTo>
                <a:cubicBezTo>
                  <a:pt x="121208" y="106437"/>
                  <a:pt x="107952" y="167861"/>
                  <a:pt x="109461" y="200678"/>
                </a:cubicBezTo>
                <a:cubicBezTo>
                  <a:pt x="109898" y="228498"/>
                  <a:pt x="88340" y="256590"/>
                  <a:pt x="54730" y="255408"/>
                </a:cubicBezTo>
                <a:close/>
              </a:path>
              <a:path w="109460" h="255408" stroke="0" extrusionOk="0">
                <a:moveTo>
                  <a:pt x="54730" y="255408"/>
                </a:moveTo>
                <a:cubicBezTo>
                  <a:pt x="23192" y="255713"/>
                  <a:pt x="-1989" y="227956"/>
                  <a:pt x="0" y="200678"/>
                </a:cubicBezTo>
                <a:cubicBezTo>
                  <a:pt x="-3394" y="133989"/>
                  <a:pt x="2620" y="119635"/>
                  <a:pt x="0" y="54730"/>
                </a:cubicBezTo>
                <a:cubicBezTo>
                  <a:pt x="-954" y="27302"/>
                  <a:pt x="22030" y="-4244"/>
                  <a:pt x="54730" y="0"/>
                </a:cubicBezTo>
                <a:cubicBezTo>
                  <a:pt x="89190" y="-2026"/>
                  <a:pt x="109346" y="32522"/>
                  <a:pt x="109461" y="54730"/>
                </a:cubicBezTo>
                <a:cubicBezTo>
                  <a:pt x="121105" y="97398"/>
                  <a:pt x="103870" y="130866"/>
                  <a:pt x="109461" y="200678"/>
                </a:cubicBezTo>
                <a:cubicBezTo>
                  <a:pt x="106606" y="231929"/>
                  <a:pt x="81087" y="250462"/>
                  <a:pt x="54730" y="2554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467161344">
                  <a:custGeom>
                    <a:avLst/>
                    <a:gdLst>
                      <a:gd name="connsiteX0" fmla="*/ 54730 w 109460"/>
                      <a:gd name="connsiteY0" fmla="*/ 255408 h 255408"/>
                      <a:gd name="connsiteX1" fmla="*/ 0 w 109460"/>
                      <a:gd name="connsiteY1" fmla="*/ 200678 h 255408"/>
                      <a:gd name="connsiteX2" fmla="*/ 0 w 109460"/>
                      <a:gd name="connsiteY2" fmla="*/ 54730 h 255408"/>
                      <a:gd name="connsiteX3" fmla="*/ 54730 w 109460"/>
                      <a:gd name="connsiteY3" fmla="*/ 0 h 255408"/>
                      <a:gd name="connsiteX4" fmla="*/ 109461 w 109460"/>
                      <a:gd name="connsiteY4" fmla="*/ 54730 h 255408"/>
                      <a:gd name="connsiteX5" fmla="*/ 109461 w 109460"/>
                      <a:gd name="connsiteY5" fmla="*/ 200678 h 255408"/>
                      <a:gd name="connsiteX6" fmla="*/ 54730 w 109460"/>
                      <a:gd name="connsiteY6" fmla="*/ 255408 h 2554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255408">
                        <a:moveTo>
                          <a:pt x="54730" y="255408"/>
                        </a:moveTo>
                        <a:cubicBezTo>
                          <a:pt x="25541" y="255408"/>
                          <a:pt x="0" y="229868"/>
                          <a:pt x="0" y="200678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200678"/>
                        </a:lnTo>
                        <a:cubicBezTo>
                          <a:pt x="109461" y="229868"/>
                          <a:pt x="83920" y="255408"/>
                          <a:pt x="54730" y="255408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538FDE38-A206-8D9F-E98E-2572B7A99882}"/>
              </a:ext>
            </a:extLst>
          </p:cNvPr>
          <p:cNvSpPr/>
          <p:nvPr/>
        </p:nvSpPr>
        <p:spPr>
          <a:xfrm>
            <a:off x="8196034" y="3468025"/>
            <a:ext cx="171058" cy="392019"/>
          </a:xfrm>
          <a:custGeom>
            <a:avLst/>
            <a:gdLst>
              <a:gd name="connsiteX0" fmla="*/ 52691 w 171058"/>
              <a:gd name="connsiteY0" fmla="*/ 392019 h 392019"/>
              <a:gd name="connsiteX1" fmla="*/ 41745 w 171058"/>
              <a:gd name="connsiteY1" fmla="*/ 392019 h 392019"/>
              <a:gd name="connsiteX2" fmla="*/ 1609 w 171058"/>
              <a:gd name="connsiteY2" fmla="*/ 326343 h 392019"/>
              <a:gd name="connsiteX3" fmla="*/ 63637 w 171058"/>
              <a:gd name="connsiteY3" fmla="*/ 41745 h 392019"/>
              <a:gd name="connsiteX4" fmla="*/ 129313 w 171058"/>
              <a:gd name="connsiteY4" fmla="*/ 1609 h 392019"/>
              <a:gd name="connsiteX5" fmla="*/ 169449 w 171058"/>
              <a:gd name="connsiteY5" fmla="*/ 67286 h 392019"/>
              <a:gd name="connsiteX6" fmla="*/ 107421 w 171058"/>
              <a:gd name="connsiteY6" fmla="*/ 351883 h 392019"/>
              <a:gd name="connsiteX7" fmla="*/ 52691 w 171058"/>
              <a:gd name="connsiteY7" fmla="*/ 392019 h 39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058" h="392019" fill="none" extrusionOk="0">
                <a:moveTo>
                  <a:pt x="52691" y="392019"/>
                </a:moveTo>
                <a:cubicBezTo>
                  <a:pt x="47724" y="393314"/>
                  <a:pt x="47064" y="390775"/>
                  <a:pt x="41745" y="392019"/>
                </a:cubicBezTo>
                <a:cubicBezTo>
                  <a:pt x="5476" y="381106"/>
                  <a:pt x="-3712" y="355726"/>
                  <a:pt x="1609" y="326343"/>
                </a:cubicBezTo>
                <a:cubicBezTo>
                  <a:pt x="-4860" y="215703"/>
                  <a:pt x="71570" y="143273"/>
                  <a:pt x="63637" y="41745"/>
                </a:cubicBezTo>
                <a:cubicBezTo>
                  <a:pt x="74629" y="9325"/>
                  <a:pt x="92550" y="-1696"/>
                  <a:pt x="129313" y="1609"/>
                </a:cubicBezTo>
                <a:cubicBezTo>
                  <a:pt x="159015" y="9630"/>
                  <a:pt x="179549" y="38281"/>
                  <a:pt x="169449" y="67286"/>
                </a:cubicBezTo>
                <a:cubicBezTo>
                  <a:pt x="171573" y="205919"/>
                  <a:pt x="105825" y="231375"/>
                  <a:pt x="107421" y="351883"/>
                </a:cubicBezTo>
                <a:cubicBezTo>
                  <a:pt x="102072" y="369804"/>
                  <a:pt x="82675" y="388738"/>
                  <a:pt x="52691" y="392019"/>
                </a:cubicBezTo>
                <a:close/>
              </a:path>
              <a:path w="171058" h="392019" stroke="0" extrusionOk="0">
                <a:moveTo>
                  <a:pt x="52691" y="392019"/>
                </a:moveTo>
                <a:cubicBezTo>
                  <a:pt x="48182" y="392143"/>
                  <a:pt x="44855" y="391043"/>
                  <a:pt x="41745" y="392019"/>
                </a:cubicBezTo>
                <a:cubicBezTo>
                  <a:pt x="12109" y="383987"/>
                  <a:pt x="-6749" y="354652"/>
                  <a:pt x="1609" y="326343"/>
                </a:cubicBezTo>
                <a:cubicBezTo>
                  <a:pt x="-9464" y="220337"/>
                  <a:pt x="62375" y="177328"/>
                  <a:pt x="63637" y="41745"/>
                </a:cubicBezTo>
                <a:cubicBezTo>
                  <a:pt x="73466" y="15295"/>
                  <a:pt x="100370" y="-6278"/>
                  <a:pt x="129313" y="1609"/>
                </a:cubicBezTo>
                <a:cubicBezTo>
                  <a:pt x="158750" y="4285"/>
                  <a:pt x="177418" y="31382"/>
                  <a:pt x="169449" y="67286"/>
                </a:cubicBezTo>
                <a:cubicBezTo>
                  <a:pt x="161937" y="175910"/>
                  <a:pt x="120436" y="241874"/>
                  <a:pt x="107421" y="351883"/>
                </a:cubicBezTo>
                <a:cubicBezTo>
                  <a:pt x="93991" y="377372"/>
                  <a:pt x="77103" y="397542"/>
                  <a:pt x="52691" y="39201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39511438">
                  <a:custGeom>
                    <a:avLst/>
                    <a:gdLst>
                      <a:gd name="connsiteX0" fmla="*/ 52691 w 171058"/>
                      <a:gd name="connsiteY0" fmla="*/ 392019 h 392019"/>
                      <a:gd name="connsiteX1" fmla="*/ 41745 w 171058"/>
                      <a:gd name="connsiteY1" fmla="*/ 392019 h 392019"/>
                      <a:gd name="connsiteX2" fmla="*/ 1609 w 171058"/>
                      <a:gd name="connsiteY2" fmla="*/ 326343 h 392019"/>
                      <a:gd name="connsiteX3" fmla="*/ 63637 w 171058"/>
                      <a:gd name="connsiteY3" fmla="*/ 41745 h 392019"/>
                      <a:gd name="connsiteX4" fmla="*/ 129313 w 171058"/>
                      <a:gd name="connsiteY4" fmla="*/ 1609 h 392019"/>
                      <a:gd name="connsiteX5" fmla="*/ 169449 w 171058"/>
                      <a:gd name="connsiteY5" fmla="*/ 67286 h 392019"/>
                      <a:gd name="connsiteX6" fmla="*/ 107421 w 171058"/>
                      <a:gd name="connsiteY6" fmla="*/ 351883 h 392019"/>
                      <a:gd name="connsiteX7" fmla="*/ 52691 w 171058"/>
                      <a:gd name="connsiteY7" fmla="*/ 392019 h 392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1058" h="392019">
                        <a:moveTo>
                          <a:pt x="52691" y="392019"/>
                        </a:moveTo>
                        <a:cubicBezTo>
                          <a:pt x="49042" y="392019"/>
                          <a:pt x="45393" y="392019"/>
                          <a:pt x="41745" y="392019"/>
                        </a:cubicBezTo>
                        <a:cubicBezTo>
                          <a:pt x="12555" y="384722"/>
                          <a:pt x="-5688" y="355532"/>
                          <a:pt x="1609" y="326343"/>
                        </a:cubicBezTo>
                        <a:lnTo>
                          <a:pt x="63637" y="41745"/>
                        </a:lnTo>
                        <a:cubicBezTo>
                          <a:pt x="70934" y="12555"/>
                          <a:pt x="100124" y="-5688"/>
                          <a:pt x="129313" y="1609"/>
                        </a:cubicBezTo>
                        <a:cubicBezTo>
                          <a:pt x="158503" y="8907"/>
                          <a:pt x="176746" y="38096"/>
                          <a:pt x="169449" y="67286"/>
                        </a:cubicBezTo>
                        <a:lnTo>
                          <a:pt x="107421" y="351883"/>
                        </a:lnTo>
                        <a:cubicBezTo>
                          <a:pt x="100124" y="373776"/>
                          <a:pt x="78232" y="392019"/>
                          <a:pt x="52691" y="392019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0E0EC2E5-541D-A986-291B-A36F339D99E7}"/>
              </a:ext>
            </a:extLst>
          </p:cNvPr>
          <p:cNvSpPr/>
          <p:nvPr/>
        </p:nvSpPr>
        <p:spPr>
          <a:xfrm>
            <a:off x="8305495" y="3034977"/>
            <a:ext cx="158965" cy="325196"/>
          </a:xfrm>
          <a:custGeom>
            <a:avLst/>
            <a:gdLst>
              <a:gd name="connsiteX0" fmla="*/ 52691 w 158965"/>
              <a:gd name="connsiteY0" fmla="*/ 325196 h 325196"/>
              <a:gd name="connsiteX1" fmla="*/ 41745 w 158965"/>
              <a:gd name="connsiteY1" fmla="*/ 325196 h 325196"/>
              <a:gd name="connsiteX2" fmla="*/ 1609 w 158965"/>
              <a:gd name="connsiteY2" fmla="*/ 259520 h 325196"/>
              <a:gd name="connsiteX3" fmla="*/ 1609 w 158965"/>
              <a:gd name="connsiteY3" fmla="*/ 259520 h 325196"/>
              <a:gd name="connsiteX4" fmla="*/ 49042 w 158965"/>
              <a:gd name="connsiteY4" fmla="*/ 44247 h 325196"/>
              <a:gd name="connsiteX5" fmla="*/ 114719 w 158965"/>
              <a:gd name="connsiteY5" fmla="*/ 463 h 325196"/>
              <a:gd name="connsiteX6" fmla="*/ 158503 w 158965"/>
              <a:gd name="connsiteY6" fmla="*/ 66139 h 325196"/>
              <a:gd name="connsiteX7" fmla="*/ 158503 w 158965"/>
              <a:gd name="connsiteY7" fmla="*/ 69788 h 325196"/>
              <a:gd name="connsiteX8" fmla="*/ 111070 w 158965"/>
              <a:gd name="connsiteY8" fmla="*/ 285061 h 325196"/>
              <a:gd name="connsiteX9" fmla="*/ 52691 w 158965"/>
              <a:gd name="connsiteY9" fmla="*/ 325196 h 32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965" h="325196" fill="none" extrusionOk="0">
                <a:moveTo>
                  <a:pt x="52691" y="325196"/>
                </a:moveTo>
                <a:cubicBezTo>
                  <a:pt x="49257" y="326353"/>
                  <a:pt x="46247" y="324864"/>
                  <a:pt x="41745" y="325196"/>
                </a:cubicBezTo>
                <a:cubicBezTo>
                  <a:pt x="9047" y="324771"/>
                  <a:pt x="-6676" y="289951"/>
                  <a:pt x="1609" y="259520"/>
                </a:cubicBezTo>
                <a:lnTo>
                  <a:pt x="1609" y="259520"/>
                </a:lnTo>
                <a:cubicBezTo>
                  <a:pt x="1321" y="186991"/>
                  <a:pt x="45296" y="122527"/>
                  <a:pt x="49042" y="44247"/>
                </a:cubicBezTo>
                <a:cubicBezTo>
                  <a:pt x="56595" y="6769"/>
                  <a:pt x="87305" y="-3808"/>
                  <a:pt x="114719" y="463"/>
                </a:cubicBezTo>
                <a:cubicBezTo>
                  <a:pt x="146552" y="8916"/>
                  <a:pt x="164138" y="32466"/>
                  <a:pt x="158503" y="66139"/>
                </a:cubicBezTo>
                <a:cubicBezTo>
                  <a:pt x="158880" y="67097"/>
                  <a:pt x="158346" y="68308"/>
                  <a:pt x="158503" y="69788"/>
                </a:cubicBezTo>
                <a:cubicBezTo>
                  <a:pt x="171391" y="130024"/>
                  <a:pt x="102357" y="234963"/>
                  <a:pt x="111070" y="285061"/>
                </a:cubicBezTo>
                <a:cubicBezTo>
                  <a:pt x="98476" y="312081"/>
                  <a:pt x="77958" y="325801"/>
                  <a:pt x="52691" y="325196"/>
                </a:cubicBezTo>
                <a:close/>
              </a:path>
              <a:path w="158965" h="325196" stroke="0" extrusionOk="0">
                <a:moveTo>
                  <a:pt x="52691" y="325196"/>
                </a:moveTo>
                <a:cubicBezTo>
                  <a:pt x="48957" y="326430"/>
                  <a:pt x="46898" y="324649"/>
                  <a:pt x="41745" y="325196"/>
                </a:cubicBezTo>
                <a:cubicBezTo>
                  <a:pt x="17447" y="320230"/>
                  <a:pt x="-677" y="294037"/>
                  <a:pt x="1609" y="259520"/>
                </a:cubicBezTo>
                <a:lnTo>
                  <a:pt x="1609" y="259520"/>
                </a:lnTo>
                <a:cubicBezTo>
                  <a:pt x="-912" y="154862"/>
                  <a:pt x="51263" y="134452"/>
                  <a:pt x="49042" y="44247"/>
                </a:cubicBezTo>
                <a:cubicBezTo>
                  <a:pt x="57351" y="15538"/>
                  <a:pt x="82020" y="-6018"/>
                  <a:pt x="114719" y="463"/>
                </a:cubicBezTo>
                <a:cubicBezTo>
                  <a:pt x="142110" y="5547"/>
                  <a:pt x="154310" y="37209"/>
                  <a:pt x="158503" y="66139"/>
                </a:cubicBezTo>
                <a:cubicBezTo>
                  <a:pt x="158860" y="67806"/>
                  <a:pt x="158228" y="68923"/>
                  <a:pt x="158503" y="69788"/>
                </a:cubicBezTo>
                <a:cubicBezTo>
                  <a:pt x="164883" y="159955"/>
                  <a:pt x="111590" y="202925"/>
                  <a:pt x="111070" y="285061"/>
                </a:cubicBezTo>
                <a:cubicBezTo>
                  <a:pt x="104772" y="310471"/>
                  <a:pt x="74689" y="324618"/>
                  <a:pt x="52691" y="32519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007301679">
                  <a:custGeom>
                    <a:avLst/>
                    <a:gdLst>
                      <a:gd name="connsiteX0" fmla="*/ 52691 w 158965"/>
                      <a:gd name="connsiteY0" fmla="*/ 325196 h 325196"/>
                      <a:gd name="connsiteX1" fmla="*/ 41745 w 158965"/>
                      <a:gd name="connsiteY1" fmla="*/ 325196 h 325196"/>
                      <a:gd name="connsiteX2" fmla="*/ 1609 w 158965"/>
                      <a:gd name="connsiteY2" fmla="*/ 259520 h 325196"/>
                      <a:gd name="connsiteX3" fmla="*/ 1609 w 158965"/>
                      <a:gd name="connsiteY3" fmla="*/ 259520 h 325196"/>
                      <a:gd name="connsiteX4" fmla="*/ 49042 w 158965"/>
                      <a:gd name="connsiteY4" fmla="*/ 44247 h 325196"/>
                      <a:gd name="connsiteX5" fmla="*/ 114719 w 158965"/>
                      <a:gd name="connsiteY5" fmla="*/ 463 h 325196"/>
                      <a:gd name="connsiteX6" fmla="*/ 158503 w 158965"/>
                      <a:gd name="connsiteY6" fmla="*/ 66139 h 325196"/>
                      <a:gd name="connsiteX7" fmla="*/ 158503 w 158965"/>
                      <a:gd name="connsiteY7" fmla="*/ 69788 h 325196"/>
                      <a:gd name="connsiteX8" fmla="*/ 111070 w 158965"/>
                      <a:gd name="connsiteY8" fmla="*/ 285061 h 325196"/>
                      <a:gd name="connsiteX9" fmla="*/ 52691 w 158965"/>
                      <a:gd name="connsiteY9" fmla="*/ 325196 h 325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58965" h="325196">
                        <a:moveTo>
                          <a:pt x="52691" y="325196"/>
                        </a:moveTo>
                        <a:cubicBezTo>
                          <a:pt x="49042" y="325196"/>
                          <a:pt x="45393" y="325196"/>
                          <a:pt x="41745" y="325196"/>
                        </a:cubicBezTo>
                        <a:cubicBezTo>
                          <a:pt x="12555" y="317899"/>
                          <a:pt x="-5688" y="288709"/>
                          <a:pt x="1609" y="259520"/>
                        </a:cubicBezTo>
                        <a:lnTo>
                          <a:pt x="1609" y="259520"/>
                        </a:lnTo>
                        <a:lnTo>
                          <a:pt x="49042" y="44247"/>
                        </a:lnTo>
                        <a:cubicBezTo>
                          <a:pt x="56339" y="15057"/>
                          <a:pt x="81880" y="-3186"/>
                          <a:pt x="114719" y="463"/>
                        </a:cubicBezTo>
                        <a:cubicBezTo>
                          <a:pt x="143908" y="7760"/>
                          <a:pt x="162152" y="33301"/>
                          <a:pt x="158503" y="66139"/>
                        </a:cubicBezTo>
                        <a:cubicBezTo>
                          <a:pt x="158503" y="66139"/>
                          <a:pt x="158503" y="66139"/>
                          <a:pt x="158503" y="69788"/>
                        </a:cubicBezTo>
                        <a:lnTo>
                          <a:pt x="111070" y="285061"/>
                        </a:lnTo>
                        <a:cubicBezTo>
                          <a:pt x="100124" y="306953"/>
                          <a:pt x="78232" y="325196"/>
                          <a:pt x="52691" y="32519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78D7DECC-D132-FFF2-5556-CB8470C90A86}"/>
              </a:ext>
            </a:extLst>
          </p:cNvPr>
          <p:cNvSpPr/>
          <p:nvPr/>
        </p:nvSpPr>
        <p:spPr>
          <a:xfrm>
            <a:off x="8558864" y="3315933"/>
            <a:ext cx="357867" cy="471137"/>
          </a:xfrm>
          <a:custGeom>
            <a:avLst/>
            <a:gdLst>
              <a:gd name="connsiteX0" fmla="*/ 54730 w 357867"/>
              <a:gd name="connsiteY0" fmla="*/ 471137 h 471137"/>
              <a:gd name="connsiteX1" fmla="*/ 0 w 357867"/>
              <a:gd name="connsiteY1" fmla="*/ 416407 h 471137"/>
              <a:gd name="connsiteX2" fmla="*/ 10946 w 357867"/>
              <a:gd name="connsiteY2" fmla="*/ 383569 h 471137"/>
              <a:gd name="connsiteX3" fmla="*/ 259057 w 357867"/>
              <a:gd name="connsiteY3" fmla="*/ 22348 h 471137"/>
              <a:gd name="connsiteX4" fmla="*/ 335679 w 357867"/>
              <a:gd name="connsiteY4" fmla="*/ 11402 h 471137"/>
              <a:gd name="connsiteX5" fmla="*/ 350274 w 357867"/>
              <a:gd name="connsiteY5" fmla="*/ 84376 h 471137"/>
              <a:gd name="connsiteX6" fmla="*/ 102163 w 357867"/>
              <a:gd name="connsiteY6" fmla="*/ 445596 h 471137"/>
              <a:gd name="connsiteX7" fmla="*/ 54730 w 357867"/>
              <a:gd name="connsiteY7" fmla="*/ 471137 h 47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867" h="471137" fill="none" extrusionOk="0">
                <a:moveTo>
                  <a:pt x="54730" y="471137"/>
                </a:moveTo>
                <a:cubicBezTo>
                  <a:pt x="24040" y="474628"/>
                  <a:pt x="4735" y="439843"/>
                  <a:pt x="0" y="416407"/>
                </a:cubicBezTo>
                <a:cubicBezTo>
                  <a:pt x="-1828" y="406504"/>
                  <a:pt x="4764" y="392275"/>
                  <a:pt x="10946" y="383569"/>
                </a:cubicBezTo>
                <a:cubicBezTo>
                  <a:pt x="91586" y="209126"/>
                  <a:pt x="163234" y="212961"/>
                  <a:pt x="259057" y="22348"/>
                </a:cubicBezTo>
                <a:cubicBezTo>
                  <a:pt x="278393" y="-2749"/>
                  <a:pt x="314783" y="-10368"/>
                  <a:pt x="335679" y="11402"/>
                </a:cubicBezTo>
                <a:cubicBezTo>
                  <a:pt x="362915" y="34902"/>
                  <a:pt x="361992" y="55936"/>
                  <a:pt x="350274" y="84376"/>
                </a:cubicBezTo>
                <a:cubicBezTo>
                  <a:pt x="274481" y="226842"/>
                  <a:pt x="146317" y="340078"/>
                  <a:pt x="102163" y="445596"/>
                </a:cubicBezTo>
                <a:cubicBezTo>
                  <a:pt x="87095" y="462608"/>
                  <a:pt x="72407" y="476468"/>
                  <a:pt x="54730" y="471137"/>
                </a:cubicBezTo>
                <a:close/>
              </a:path>
              <a:path w="357867" h="471137" stroke="0" extrusionOk="0">
                <a:moveTo>
                  <a:pt x="54730" y="471137"/>
                </a:moveTo>
                <a:cubicBezTo>
                  <a:pt x="22820" y="462987"/>
                  <a:pt x="-8480" y="445775"/>
                  <a:pt x="0" y="416407"/>
                </a:cubicBezTo>
                <a:cubicBezTo>
                  <a:pt x="1174" y="402611"/>
                  <a:pt x="3721" y="397046"/>
                  <a:pt x="10946" y="383569"/>
                </a:cubicBezTo>
                <a:cubicBezTo>
                  <a:pt x="25670" y="271152"/>
                  <a:pt x="219024" y="165109"/>
                  <a:pt x="259057" y="22348"/>
                </a:cubicBezTo>
                <a:cubicBezTo>
                  <a:pt x="280470" y="-10161"/>
                  <a:pt x="308746" y="-10817"/>
                  <a:pt x="335679" y="11402"/>
                </a:cubicBezTo>
                <a:cubicBezTo>
                  <a:pt x="357450" y="27150"/>
                  <a:pt x="359662" y="56644"/>
                  <a:pt x="350274" y="84376"/>
                </a:cubicBezTo>
                <a:cubicBezTo>
                  <a:pt x="269438" y="234868"/>
                  <a:pt x="165412" y="260740"/>
                  <a:pt x="102163" y="445596"/>
                </a:cubicBezTo>
                <a:cubicBezTo>
                  <a:pt x="88889" y="464192"/>
                  <a:pt x="72397" y="471108"/>
                  <a:pt x="54730" y="47113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496737764">
                  <a:custGeom>
                    <a:avLst/>
                    <a:gdLst>
                      <a:gd name="connsiteX0" fmla="*/ 54730 w 357867"/>
                      <a:gd name="connsiteY0" fmla="*/ 471137 h 471137"/>
                      <a:gd name="connsiteX1" fmla="*/ 0 w 357867"/>
                      <a:gd name="connsiteY1" fmla="*/ 416407 h 471137"/>
                      <a:gd name="connsiteX2" fmla="*/ 10946 w 357867"/>
                      <a:gd name="connsiteY2" fmla="*/ 383569 h 471137"/>
                      <a:gd name="connsiteX3" fmla="*/ 259057 w 357867"/>
                      <a:gd name="connsiteY3" fmla="*/ 22348 h 471137"/>
                      <a:gd name="connsiteX4" fmla="*/ 335679 w 357867"/>
                      <a:gd name="connsiteY4" fmla="*/ 11402 h 471137"/>
                      <a:gd name="connsiteX5" fmla="*/ 350274 w 357867"/>
                      <a:gd name="connsiteY5" fmla="*/ 84376 h 471137"/>
                      <a:gd name="connsiteX6" fmla="*/ 102163 w 357867"/>
                      <a:gd name="connsiteY6" fmla="*/ 445596 h 471137"/>
                      <a:gd name="connsiteX7" fmla="*/ 54730 w 357867"/>
                      <a:gd name="connsiteY7" fmla="*/ 471137 h 471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57867" h="471137">
                        <a:moveTo>
                          <a:pt x="54730" y="471137"/>
                        </a:moveTo>
                        <a:cubicBezTo>
                          <a:pt x="25541" y="471137"/>
                          <a:pt x="0" y="445596"/>
                          <a:pt x="0" y="416407"/>
                        </a:cubicBezTo>
                        <a:cubicBezTo>
                          <a:pt x="0" y="405461"/>
                          <a:pt x="3649" y="394515"/>
                          <a:pt x="10946" y="383569"/>
                        </a:cubicBezTo>
                        <a:lnTo>
                          <a:pt x="259057" y="22348"/>
                        </a:lnTo>
                        <a:cubicBezTo>
                          <a:pt x="277300" y="-3193"/>
                          <a:pt x="310139" y="-6841"/>
                          <a:pt x="335679" y="11402"/>
                        </a:cubicBezTo>
                        <a:cubicBezTo>
                          <a:pt x="357572" y="29646"/>
                          <a:pt x="364869" y="58835"/>
                          <a:pt x="350274" y="84376"/>
                        </a:cubicBezTo>
                        <a:lnTo>
                          <a:pt x="102163" y="445596"/>
                        </a:lnTo>
                        <a:cubicBezTo>
                          <a:pt x="91217" y="463840"/>
                          <a:pt x="72974" y="471137"/>
                          <a:pt x="54730" y="471137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Free-form: Shape 21">
            <a:extLst>
              <a:ext uri="{FF2B5EF4-FFF2-40B4-BE49-F238E27FC236}">
                <a16:creationId xmlns:a16="http://schemas.microsoft.com/office/drawing/2014/main" id="{7F761120-6DA4-B386-29C6-D5C7E4FAF49A}"/>
              </a:ext>
            </a:extLst>
          </p:cNvPr>
          <p:cNvSpPr/>
          <p:nvPr/>
        </p:nvSpPr>
        <p:spPr>
          <a:xfrm>
            <a:off x="7313246" y="3391402"/>
            <a:ext cx="185457" cy="468641"/>
          </a:xfrm>
          <a:custGeom>
            <a:avLst/>
            <a:gdLst>
              <a:gd name="connsiteX0" fmla="*/ 132767 w 185457"/>
              <a:gd name="connsiteY0" fmla="*/ 468642 h 468641"/>
              <a:gd name="connsiteX1" fmla="*/ 78037 w 185457"/>
              <a:gd name="connsiteY1" fmla="*/ 424857 h 468641"/>
              <a:gd name="connsiteX2" fmla="*/ 1414 w 185457"/>
              <a:gd name="connsiteY2" fmla="*/ 67286 h 468641"/>
              <a:gd name="connsiteX3" fmla="*/ 45199 w 185457"/>
              <a:gd name="connsiteY3" fmla="*/ 1609 h 468641"/>
              <a:gd name="connsiteX4" fmla="*/ 107226 w 185457"/>
              <a:gd name="connsiteY4" fmla="*/ 41745 h 468641"/>
              <a:gd name="connsiteX5" fmla="*/ 183849 w 185457"/>
              <a:gd name="connsiteY5" fmla="*/ 399316 h 468641"/>
              <a:gd name="connsiteX6" fmla="*/ 143713 w 185457"/>
              <a:gd name="connsiteY6" fmla="*/ 464993 h 468641"/>
              <a:gd name="connsiteX7" fmla="*/ 132767 w 185457"/>
              <a:gd name="connsiteY7" fmla="*/ 468642 h 46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457" h="468641" fill="none" extrusionOk="0">
                <a:moveTo>
                  <a:pt x="132767" y="468642"/>
                </a:moveTo>
                <a:cubicBezTo>
                  <a:pt x="108985" y="470703"/>
                  <a:pt x="84063" y="454700"/>
                  <a:pt x="78037" y="424857"/>
                </a:cubicBezTo>
                <a:cubicBezTo>
                  <a:pt x="43947" y="344097"/>
                  <a:pt x="64531" y="188141"/>
                  <a:pt x="1414" y="67286"/>
                </a:cubicBezTo>
                <a:cubicBezTo>
                  <a:pt x="48" y="34395"/>
                  <a:pt x="16187" y="9797"/>
                  <a:pt x="45199" y="1609"/>
                </a:cubicBezTo>
                <a:cubicBezTo>
                  <a:pt x="71807" y="-5947"/>
                  <a:pt x="104442" y="6298"/>
                  <a:pt x="107226" y="41745"/>
                </a:cubicBezTo>
                <a:cubicBezTo>
                  <a:pt x="162196" y="182624"/>
                  <a:pt x="113700" y="229470"/>
                  <a:pt x="183849" y="399316"/>
                </a:cubicBezTo>
                <a:cubicBezTo>
                  <a:pt x="183269" y="429680"/>
                  <a:pt x="176937" y="460301"/>
                  <a:pt x="143713" y="464993"/>
                </a:cubicBezTo>
                <a:cubicBezTo>
                  <a:pt x="140219" y="468628"/>
                  <a:pt x="137362" y="468405"/>
                  <a:pt x="132767" y="468642"/>
                </a:cubicBezTo>
                <a:close/>
              </a:path>
              <a:path w="185457" h="468641" stroke="0" extrusionOk="0">
                <a:moveTo>
                  <a:pt x="132767" y="468642"/>
                </a:moveTo>
                <a:cubicBezTo>
                  <a:pt x="103606" y="466034"/>
                  <a:pt x="84898" y="450832"/>
                  <a:pt x="78037" y="424857"/>
                </a:cubicBezTo>
                <a:cubicBezTo>
                  <a:pt x="33912" y="304302"/>
                  <a:pt x="56358" y="199817"/>
                  <a:pt x="1414" y="67286"/>
                </a:cubicBezTo>
                <a:cubicBezTo>
                  <a:pt x="-6267" y="33741"/>
                  <a:pt x="20436" y="9354"/>
                  <a:pt x="45199" y="1609"/>
                </a:cubicBezTo>
                <a:cubicBezTo>
                  <a:pt x="68849" y="-7818"/>
                  <a:pt x="110507" y="7145"/>
                  <a:pt x="107226" y="41745"/>
                </a:cubicBezTo>
                <a:cubicBezTo>
                  <a:pt x="172638" y="201668"/>
                  <a:pt x="149433" y="275450"/>
                  <a:pt x="183849" y="399316"/>
                </a:cubicBezTo>
                <a:cubicBezTo>
                  <a:pt x="191366" y="431300"/>
                  <a:pt x="177715" y="460951"/>
                  <a:pt x="143713" y="464993"/>
                </a:cubicBezTo>
                <a:cubicBezTo>
                  <a:pt x="140222" y="468552"/>
                  <a:pt x="135773" y="468552"/>
                  <a:pt x="132767" y="46864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172452268">
                  <a:custGeom>
                    <a:avLst/>
                    <a:gdLst>
                      <a:gd name="connsiteX0" fmla="*/ 132767 w 185457"/>
                      <a:gd name="connsiteY0" fmla="*/ 468642 h 468641"/>
                      <a:gd name="connsiteX1" fmla="*/ 78037 w 185457"/>
                      <a:gd name="connsiteY1" fmla="*/ 424857 h 468641"/>
                      <a:gd name="connsiteX2" fmla="*/ 1414 w 185457"/>
                      <a:gd name="connsiteY2" fmla="*/ 67286 h 468641"/>
                      <a:gd name="connsiteX3" fmla="*/ 45199 w 185457"/>
                      <a:gd name="connsiteY3" fmla="*/ 1609 h 468641"/>
                      <a:gd name="connsiteX4" fmla="*/ 107226 w 185457"/>
                      <a:gd name="connsiteY4" fmla="*/ 41745 h 468641"/>
                      <a:gd name="connsiteX5" fmla="*/ 183849 w 185457"/>
                      <a:gd name="connsiteY5" fmla="*/ 399316 h 468641"/>
                      <a:gd name="connsiteX6" fmla="*/ 143713 w 185457"/>
                      <a:gd name="connsiteY6" fmla="*/ 464993 h 468641"/>
                      <a:gd name="connsiteX7" fmla="*/ 132767 w 185457"/>
                      <a:gd name="connsiteY7" fmla="*/ 468642 h 4686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5457" h="468641">
                        <a:moveTo>
                          <a:pt x="132767" y="468642"/>
                        </a:moveTo>
                        <a:cubicBezTo>
                          <a:pt x="107226" y="468642"/>
                          <a:pt x="85334" y="450398"/>
                          <a:pt x="78037" y="424857"/>
                        </a:cubicBezTo>
                        <a:lnTo>
                          <a:pt x="1414" y="67286"/>
                        </a:lnTo>
                        <a:cubicBezTo>
                          <a:pt x="-5883" y="38096"/>
                          <a:pt x="16009" y="8906"/>
                          <a:pt x="45199" y="1609"/>
                        </a:cubicBezTo>
                        <a:cubicBezTo>
                          <a:pt x="74388" y="-5688"/>
                          <a:pt x="103578" y="12555"/>
                          <a:pt x="107226" y="41745"/>
                        </a:cubicBezTo>
                        <a:lnTo>
                          <a:pt x="183849" y="399316"/>
                        </a:lnTo>
                        <a:cubicBezTo>
                          <a:pt x="191146" y="428506"/>
                          <a:pt x="172903" y="457695"/>
                          <a:pt x="143713" y="464993"/>
                        </a:cubicBezTo>
                        <a:cubicBezTo>
                          <a:pt x="140065" y="468642"/>
                          <a:pt x="136416" y="468642"/>
                          <a:pt x="132767" y="468642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3" name="Free-form: Shape 22">
            <a:extLst>
              <a:ext uri="{FF2B5EF4-FFF2-40B4-BE49-F238E27FC236}">
                <a16:creationId xmlns:a16="http://schemas.microsoft.com/office/drawing/2014/main" id="{9AC56A4D-8324-7B30-2B36-2C7B06EB9DA6}"/>
              </a:ext>
            </a:extLst>
          </p:cNvPr>
          <p:cNvSpPr/>
          <p:nvPr/>
        </p:nvSpPr>
        <p:spPr>
          <a:xfrm>
            <a:off x="7236429" y="3037479"/>
            <a:ext cx="138219" cy="253368"/>
          </a:xfrm>
          <a:custGeom>
            <a:avLst/>
            <a:gdLst>
              <a:gd name="connsiteX0" fmla="*/ 85529 w 138219"/>
              <a:gd name="connsiteY0" fmla="*/ 253369 h 253368"/>
              <a:gd name="connsiteX1" fmla="*/ 30799 w 138219"/>
              <a:gd name="connsiteY1" fmla="*/ 209584 h 253368"/>
              <a:gd name="connsiteX2" fmla="*/ 1609 w 138219"/>
              <a:gd name="connsiteY2" fmla="*/ 67286 h 253368"/>
              <a:gd name="connsiteX3" fmla="*/ 41745 w 138219"/>
              <a:gd name="connsiteY3" fmla="*/ 1609 h 253368"/>
              <a:gd name="connsiteX4" fmla="*/ 107421 w 138219"/>
              <a:gd name="connsiteY4" fmla="*/ 41745 h 253368"/>
              <a:gd name="connsiteX5" fmla="*/ 107421 w 138219"/>
              <a:gd name="connsiteY5" fmla="*/ 45393 h 253368"/>
              <a:gd name="connsiteX6" fmla="*/ 136611 w 138219"/>
              <a:gd name="connsiteY6" fmla="*/ 187692 h 253368"/>
              <a:gd name="connsiteX7" fmla="*/ 96475 w 138219"/>
              <a:gd name="connsiteY7" fmla="*/ 253369 h 253368"/>
              <a:gd name="connsiteX8" fmla="*/ 96475 w 138219"/>
              <a:gd name="connsiteY8" fmla="*/ 253369 h 253368"/>
              <a:gd name="connsiteX9" fmla="*/ 85529 w 138219"/>
              <a:gd name="connsiteY9" fmla="*/ 253369 h 253368"/>
              <a:gd name="connsiteX10" fmla="*/ 85529 w 138219"/>
              <a:gd name="connsiteY10" fmla="*/ 253369 h 25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8219" h="253368" fill="none" extrusionOk="0">
                <a:moveTo>
                  <a:pt x="85529" y="253369"/>
                </a:moveTo>
                <a:cubicBezTo>
                  <a:pt x="56377" y="259362"/>
                  <a:pt x="39536" y="242544"/>
                  <a:pt x="30799" y="209584"/>
                </a:cubicBezTo>
                <a:cubicBezTo>
                  <a:pt x="6274" y="145555"/>
                  <a:pt x="27480" y="109269"/>
                  <a:pt x="1609" y="67286"/>
                </a:cubicBezTo>
                <a:cubicBezTo>
                  <a:pt x="1258" y="32895"/>
                  <a:pt x="7321" y="2611"/>
                  <a:pt x="41745" y="1609"/>
                </a:cubicBezTo>
                <a:cubicBezTo>
                  <a:pt x="67976" y="-8565"/>
                  <a:pt x="98893" y="17501"/>
                  <a:pt x="107421" y="41745"/>
                </a:cubicBezTo>
                <a:cubicBezTo>
                  <a:pt x="107821" y="43306"/>
                  <a:pt x="107121" y="43774"/>
                  <a:pt x="107421" y="45393"/>
                </a:cubicBezTo>
                <a:cubicBezTo>
                  <a:pt x="124233" y="73763"/>
                  <a:pt x="107028" y="124267"/>
                  <a:pt x="136611" y="187692"/>
                </a:cubicBezTo>
                <a:cubicBezTo>
                  <a:pt x="147393" y="213604"/>
                  <a:pt x="126016" y="241644"/>
                  <a:pt x="96475" y="253369"/>
                </a:cubicBezTo>
                <a:lnTo>
                  <a:pt x="96475" y="253369"/>
                </a:lnTo>
                <a:cubicBezTo>
                  <a:pt x="91827" y="254012"/>
                  <a:pt x="89110" y="252153"/>
                  <a:pt x="85529" y="253369"/>
                </a:cubicBezTo>
                <a:lnTo>
                  <a:pt x="85529" y="253369"/>
                </a:lnTo>
                <a:close/>
              </a:path>
              <a:path w="138219" h="253368" stroke="0" extrusionOk="0">
                <a:moveTo>
                  <a:pt x="85529" y="253369"/>
                </a:moveTo>
                <a:cubicBezTo>
                  <a:pt x="62991" y="255306"/>
                  <a:pt x="37678" y="239939"/>
                  <a:pt x="30799" y="209584"/>
                </a:cubicBezTo>
                <a:cubicBezTo>
                  <a:pt x="11512" y="160481"/>
                  <a:pt x="14247" y="123709"/>
                  <a:pt x="1609" y="67286"/>
                </a:cubicBezTo>
                <a:cubicBezTo>
                  <a:pt x="-6494" y="37259"/>
                  <a:pt x="18039" y="5593"/>
                  <a:pt x="41745" y="1609"/>
                </a:cubicBezTo>
                <a:cubicBezTo>
                  <a:pt x="72866" y="-7465"/>
                  <a:pt x="97606" y="12828"/>
                  <a:pt x="107421" y="41745"/>
                </a:cubicBezTo>
                <a:cubicBezTo>
                  <a:pt x="107603" y="43185"/>
                  <a:pt x="107099" y="43964"/>
                  <a:pt x="107421" y="45393"/>
                </a:cubicBezTo>
                <a:cubicBezTo>
                  <a:pt x="122235" y="72163"/>
                  <a:pt x="113940" y="140498"/>
                  <a:pt x="136611" y="187692"/>
                </a:cubicBezTo>
                <a:cubicBezTo>
                  <a:pt x="148370" y="217572"/>
                  <a:pt x="128387" y="247364"/>
                  <a:pt x="96475" y="253369"/>
                </a:cubicBezTo>
                <a:lnTo>
                  <a:pt x="96475" y="253369"/>
                </a:lnTo>
                <a:cubicBezTo>
                  <a:pt x="94127" y="254595"/>
                  <a:pt x="88111" y="252698"/>
                  <a:pt x="85529" y="253369"/>
                </a:cubicBezTo>
                <a:lnTo>
                  <a:pt x="85529" y="253369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790545714">
                  <a:custGeom>
                    <a:avLst/>
                    <a:gdLst>
                      <a:gd name="connsiteX0" fmla="*/ 85529 w 138219"/>
                      <a:gd name="connsiteY0" fmla="*/ 253369 h 253368"/>
                      <a:gd name="connsiteX1" fmla="*/ 30799 w 138219"/>
                      <a:gd name="connsiteY1" fmla="*/ 209584 h 253368"/>
                      <a:gd name="connsiteX2" fmla="*/ 1609 w 138219"/>
                      <a:gd name="connsiteY2" fmla="*/ 67286 h 253368"/>
                      <a:gd name="connsiteX3" fmla="*/ 41745 w 138219"/>
                      <a:gd name="connsiteY3" fmla="*/ 1609 h 253368"/>
                      <a:gd name="connsiteX4" fmla="*/ 107421 w 138219"/>
                      <a:gd name="connsiteY4" fmla="*/ 41745 h 253368"/>
                      <a:gd name="connsiteX5" fmla="*/ 107421 w 138219"/>
                      <a:gd name="connsiteY5" fmla="*/ 45393 h 253368"/>
                      <a:gd name="connsiteX6" fmla="*/ 136611 w 138219"/>
                      <a:gd name="connsiteY6" fmla="*/ 187692 h 253368"/>
                      <a:gd name="connsiteX7" fmla="*/ 96475 w 138219"/>
                      <a:gd name="connsiteY7" fmla="*/ 253369 h 253368"/>
                      <a:gd name="connsiteX8" fmla="*/ 96475 w 138219"/>
                      <a:gd name="connsiteY8" fmla="*/ 253369 h 253368"/>
                      <a:gd name="connsiteX9" fmla="*/ 85529 w 138219"/>
                      <a:gd name="connsiteY9" fmla="*/ 253369 h 253368"/>
                      <a:gd name="connsiteX10" fmla="*/ 85529 w 138219"/>
                      <a:gd name="connsiteY10" fmla="*/ 253369 h 253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38219" h="253368">
                        <a:moveTo>
                          <a:pt x="85529" y="253369"/>
                        </a:moveTo>
                        <a:cubicBezTo>
                          <a:pt x="59988" y="253369"/>
                          <a:pt x="38096" y="235125"/>
                          <a:pt x="30799" y="209584"/>
                        </a:cubicBezTo>
                        <a:lnTo>
                          <a:pt x="1609" y="67286"/>
                        </a:lnTo>
                        <a:cubicBezTo>
                          <a:pt x="-5688" y="38096"/>
                          <a:pt x="12555" y="8906"/>
                          <a:pt x="41745" y="1609"/>
                        </a:cubicBezTo>
                        <a:cubicBezTo>
                          <a:pt x="70934" y="-5688"/>
                          <a:pt x="100124" y="12555"/>
                          <a:pt x="107421" y="41745"/>
                        </a:cubicBezTo>
                        <a:cubicBezTo>
                          <a:pt x="107421" y="41745"/>
                          <a:pt x="107421" y="41745"/>
                          <a:pt x="107421" y="45393"/>
                        </a:cubicBezTo>
                        <a:lnTo>
                          <a:pt x="136611" y="187692"/>
                        </a:lnTo>
                        <a:cubicBezTo>
                          <a:pt x="143908" y="216882"/>
                          <a:pt x="125665" y="246071"/>
                          <a:pt x="96475" y="253369"/>
                        </a:cubicBezTo>
                        <a:lnTo>
                          <a:pt x="96475" y="253369"/>
                        </a:lnTo>
                        <a:cubicBezTo>
                          <a:pt x="92826" y="253369"/>
                          <a:pt x="89178" y="253369"/>
                          <a:pt x="85529" y="253369"/>
                        </a:cubicBezTo>
                        <a:lnTo>
                          <a:pt x="85529" y="253369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C28CC141-541D-8C38-7D1F-573B1748B8C0}"/>
              </a:ext>
            </a:extLst>
          </p:cNvPr>
          <p:cNvSpPr/>
          <p:nvPr/>
        </p:nvSpPr>
        <p:spPr>
          <a:xfrm>
            <a:off x="6781810" y="3318799"/>
            <a:ext cx="356900" cy="468271"/>
          </a:xfrm>
          <a:custGeom>
            <a:avLst/>
            <a:gdLst>
              <a:gd name="connsiteX0" fmla="*/ 299334 w 356900"/>
              <a:gd name="connsiteY0" fmla="*/ 468271 h 468271"/>
              <a:gd name="connsiteX1" fmla="*/ 255549 w 356900"/>
              <a:gd name="connsiteY1" fmla="*/ 446379 h 468271"/>
              <a:gd name="connsiteX2" fmla="*/ 7438 w 356900"/>
              <a:gd name="connsiteY2" fmla="*/ 85159 h 468271"/>
              <a:gd name="connsiteX3" fmla="*/ 25682 w 356900"/>
              <a:gd name="connsiteY3" fmla="*/ 8536 h 468271"/>
              <a:gd name="connsiteX4" fmla="*/ 98656 w 356900"/>
              <a:gd name="connsiteY4" fmla="*/ 23131 h 468271"/>
              <a:gd name="connsiteX5" fmla="*/ 346767 w 356900"/>
              <a:gd name="connsiteY5" fmla="*/ 384352 h 468271"/>
              <a:gd name="connsiteX6" fmla="*/ 332172 w 356900"/>
              <a:gd name="connsiteY6" fmla="*/ 460974 h 468271"/>
              <a:gd name="connsiteX7" fmla="*/ 299334 w 356900"/>
              <a:gd name="connsiteY7" fmla="*/ 468271 h 46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900" h="468271" fill="none" extrusionOk="0">
                <a:moveTo>
                  <a:pt x="299334" y="468271"/>
                </a:moveTo>
                <a:cubicBezTo>
                  <a:pt x="282322" y="468114"/>
                  <a:pt x="266507" y="460946"/>
                  <a:pt x="255549" y="446379"/>
                </a:cubicBezTo>
                <a:cubicBezTo>
                  <a:pt x="170252" y="370688"/>
                  <a:pt x="164504" y="239282"/>
                  <a:pt x="7438" y="85159"/>
                </a:cubicBezTo>
                <a:cubicBezTo>
                  <a:pt x="-10690" y="56354"/>
                  <a:pt x="-4190" y="26249"/>
                  <a:pt x="25682" y="8536"/>
                </a:cubicBezTo>
                <a:cubicBezTo>
                  <a:pt x="48195" y="-3663"/>
                  <a:pt x="84346" y="-1721"/>
                  <a:pt x="98656" y="23131"/>
                </a:cubicBezTo>
                <a:cubicBezTo>
                  <a:pt x="222027" y="165340"/>
                  <a:pt x="244764" y="299983"/>
                  <a:pt x="346767" y="384352"/>
                </a:cubicBezTo>
                <a:cubicBezTo>
                  <a:pt x="362070" y="409916"/>
                  <a:pt x="360278" y="441351"/>
                  <a:pt x="332172" y="460974"/>
                </a:cubicBezTo>
                <a:cubicBezTo>
                  <a:pt x="320467" y="465275"/>
                  <a:pt x="310759" y="471502"/>
                  <a:pt x="299334" y="468271"/>
                </a:cubicBezTo>
                <a:close/>
              </a:path>
              <a:path w="356900" h="468271" stroke="0" extrusionOk="0">
                <a:moveTo>
                  <a:pt x="299334" y="468271"/>
                </a:moveTo>
                <a:cubicBezTo>
                  <a:pt x="282092" y="466812"/>
                  <a:pt x="260373" y="460750"/>
                  <a:pt x="255549" y="446379"/>
                </a:cubicBezTo>
                <a:cubicBezTo>
                  <a:pt x="168737" y="377952"/>
                  <a:pt x="95721" y="176201"/>
                  <a:pt x="7438" y="85159"/>
                </a:cubicBezTo>
                <a:cubicBezTo>
                  <a:pt x="-6565" y="58368"/>
                  <a:pt x="1539" y="33395"/>
                  <a:pt x="25682" y="8536"/>
                </a:cubicBezTo>
                <a:cubicBezTo>
                  <a:pt x="49756" y="-3148"/>
                  <a:pt x="75975" y="-8464"/>
                  <a:pt x="98656" y="23131"/>
                </a:cubicBezTo>
                <a:cubicBezTo>
                  <a:pt x="170357" y="111380"/>
                  <a:pt x="243645" y="297178"/>
                  <a:pt x="346767" y="384352"/>
                </a:cubicBezTo>
                <a:cubicBezTo>
                  <a:pt x="371413" y="406806"/>
                  <a:pt x="356335" y="442784"/>
                  <a:pt x="332172" y="460974"/>
                </a:cubicBezTo>
                <a:cubicBezTo>
                  <a:pt x="320444" y="466072"/>
                  <a:pt x="312962" y="469121"/>
                  <a:pt x="299334" y="46827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83237682">
                  <a:custGeom>
                    <a:avLst/>
                    <a:gdLst>
                      <a:gd name="connsiteX0" fmla="*/ 299334 w 356900"/>
                      <a:gd name="connsiteY0" fmla="*/ 468271 h 468271"/>
                      <a:gd name="connsiteX1" fmla="*/ 255549 w 356900"/>
                      <a:gd name="connsiteY1" fmla="*/ 446379 h 468271"/>
                      <a:gd name="connsiteX2" fmla="*/ 7438 w 356900"/>
                      <a:gd name="connsiteY2" fmla="*/ 85159 h 468271"/>
                      <a:gd name="connsiteX3" fmla="*/ 25682 w 356900"/>
                      <a:gd name="connsiteY3" fmla="*/ 8536 h 468271"/>
                      <a:gd name="connsiteX4" fmla="*/ 98656 w 356900"/>
                      <a:gd name="connsiteY4" fmla="*/ 23131 h 468271"/>
                      <a:gd name="connsiteX5" fmla="*/ 346767 w 356900"/>
                      <a:gd name="connsiteY5" fmla="*/ 384352 h 468271"/>
                      <a:gd name="connsiteX6" fmla="*/ 332172 w 356900"/>
                      <a:gd name="connsiteY6" fmla="*/ 460974 h 468271"/>
                      <a:gd name="connsiteX7" fmla="*/ 299334 w 356900"/>
                      <a:gd name="connsiteY7" fmla="*/ 468271 h 468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56900" h="468271">
                        <a:moveTo>
                          <a:pt x="299334" y="468271"/>
                        </a:moveTo>
                        <a:cubicBezTo>
                          <a:pt x="281090" y="468271"/>
                          <a:pt x="262847" y="460974"/>
                          <a:pt x="255549" y="446379"/>
                        </a:cubicBezTo>
                        <a:lnTo>
                          <a:pt x="7438" y="85159"/>
                        </a:lnTo>
                        <a:cubicBezTo>
                          <a:pt x="-7156" y="59618"/>
                          <a:pt x="141" y="26780"/>
                          <a:pt x="25682" y="8536"/>
                        </a:cubicBezTo>
                        <a:cubicBezTo>
                          <a:pt x="51223" y="-6058"/>
                          <a:pt x="80412" y="-2410"/>
                          <a:pt x="98656" y="23131"/>
                        </a:cubicBezTo>
                        <a:lnTo>
                          <a:pt x="346767" y="384352"/>
                        </a:lnTo>
                        <a:cubicBezTo>
                          <a:pt x="365010" y="409892"/>
                          <a:pt x="357713" y="442730"/>
                          <a:pt x="332172" y="460974"/>
                        </a:cubicBezTo>
                        <a:cubicBezTo>
                          <a:pt x="321226" y="464623"/>
                          <a:pt x="310280" y="468271"/>
                          <a:pt x="299334" y="468271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Free-form: Shape 24">
            <a:extLst>
              <a:ext uri="{FF2B5EF4-FFF2-40B4-BE49-F238E27FC236}">
                <a16:creationId xmlns:a16="http://schemas.microsoft.com/office/drawing/2014/main" id="{0EB1AEB6-0514-A447-83F2-6A7EC5A28029}"/>
              </a:ext>
            </a:extLst>
          </p:cNvPr>
          <p:cNvSpPr/>
          <p:nvPr/>
        </p:nvSpPr>
        <p:spPr>
          <a:xfrm>
            <a:off x="6251770" y="3985328"/>
            <a:ext cx="3197374" cy="2122309"/>
          </a:xfrm>
          <a:custGeom>
            <a:avLst/>
            <a:gdLst>
              <a:gd name="connsiteX0" fmla="*/ 3193726 w 3197374"/>
              <a:gd name="connsiteY0" fmla="*/ 1677170 h 2122309"/>
              <a:gd name="connsiteX1" fmla="*/ 3142279 w 3197374"/>
              <a:gd name="connsiteY1" fmla="*/ 1121547 h 2122309"/>
              <a:gd name="connsiteX2" fmla="*/ 3084265 w 3197374"/>
              <a:gd name="connsiteY2" fmla="*/ 494994 h 2122309"/>
              <a:gd name="connsiteX3" fmla="*/ 3011292 w 3197374"/>
              <a:gd name="connsiteY3" fmla="*/ 429317 h 2122309"/>
              <a:gd name="connsiteX4" fmla="*/ 2956561 w 3197374"/>
              <a:gd name="connsiteY4" fmla="*/ 429317 h 2122309"/>
              <a:gd name="connsiteX5" fmla="*/ 2938318 w 3197374"/>
              <a:gd name="connsiteY5" fmla="*/ 217693 h 2122309"/>
              <a:gd name="connsiteX6" fmla="*/ 2872641 w 3197374"/>
              <a:gd name="connsiteY6" fmla="*/ 214045 h 2122309"/>
              <a:gd name="connsiteX7" fmla="*/ 2712099 w 3197374"/>
              <a:gd name="connsiteY7" fmla="*/ 217693 h 2122309"/>
              <a:gd name="connsiteX8" fmla="*/ 2693855 w 3197374"/>
              <a:gd name="connsiteY8" fmla="*/ 20664 h 2122309"/>
              <a:gd name="connsiteX9" fmla="*/ 2639125 w 3197374"/>
              <a:gd name="connsiteY9" fmla="*/ 9718 h 2122309"/>
              <a:gd name="connsiteX10" fmla="*/ 1595599 w 3197374"/>
              <a:gd name="connsiteY10" fmla="*/ 359992 h 2122309"/>
              <a:gd name="connsiteX11" fmla="*/ 552074 w 3197374"/>
              <a:gd name="connsiteY11" fmla="*/ 9718 h 2122309"/>
              <a:gd name="connsiteX12" fmla="*/ 497344 w 3197374"/>
              <a:gd name="connsiteY12" fmla="*/ 20664 h 2122309"/>
              <a:gd name="connsiteX13" fmla="*/ 479100 w 3197374"/>
              <a:gd name="connsiteY13" fmla="*/ 217693 h 2122309"/>
              <a:gd name="connsiteX14" fmla="*/ 318558 w 3197374"/>
              <a:gd name="connsiteY14" fmla="*/ 214045 h 2122309"/>
              <a:gd name="connsiteX15" fmla="*/ 256530 w 3197374"/>
              <a:gd name="connsiteY15" fmla="*/ 217693 h 2122309"/>
              <a:gd name="connsiteX16" fmla="*/ 238286 w 3197374"/>
              <a:gd name="connsiteY16" fmla="*/ 429317 h 2122309"/>
              <a:gd name="connsiteX17" fmla="*/ 183556 w 3197374"/>
              <a:gd name="connsiteY17" fmla="*/ 429317 h 2122309"/>
              <a:gd name="connsiteX18" fmla="*/ 110582 w 3197374"/>
              <a:gd name="connsiteY18" fmla="*/ 494994 h 2122309"/>
              <a:gd name="connsiteX19" fmla="*/ 58041 w 3197374"/>
              <a:gd name="connsiteY19" fmla="*/ 1062438 h 2122309"/>
              <a:gd name="connsiteX20" fmla="*/ 1122 w 3197374"/>
              <a:gd name="connsiteY20" fmla="*/ 1677170 h 2122309"/>
              <a:gd name="connsiteX21" fmla="*/ 63149 w 3197374"/>
              <a:gd name="connsiteY21" fmla="*/ 1757441 h 2122309"/>
              <a:gd name="connsiteX22" fmla="*/ 74095 w 3197374"/>
              <a:gd name="connsiteY22" fmla="*/ 1757441 h 2122309"/>
              <a:gd name="connsiteX23" fmla="*/ 1427760 w 3197374"/>
              <a:gd name="connsiteY23" fmla="*/ 2096769 h 2122309"/>
              <a:gd name="connsiteX24" fmla="*/ 1508031 w 3197374"/>
              <a:gd name="connsiteY24" fmla="*/ 2122310 h 2122309"/>
              <a:gd name="connsiteX25" fmla="*/ 1690465 w 3197374"/>
              <a:gd name="connsiteY25" fmla="*/ 2122310 h 2122309"/>
              <a:gd name="connsiteX26" fmla="*/ 1767088 w 3197374"/>
              <a:gd name="connsiteY26" fmla="*/ 2100418 h 2122309"/>
              <a:gd name="connsiteX27" fmla="*/ 3120752 w 3197374"/>
              <a:gd name="connsiteY27" fmla="*/ 1761089 h 2122309"/>
              <a:gd name="connsiteX28" fmla="*/ 3197375 w 3197374"/>
              <a:gd name="connsiteY28" fmla="*/ 1691764 h 2122309"/>
              <a:gd name="connsiteX29" fmla="*/ 3193726 w 3197374"/>
              <a:gd name="connsiteY29" fmla="*/ 1677170 h 2122309"/>
              <a:gd name="connsiteX30" fmla="*/ 1668573 w 3197374"/>
              <a:gd name="connsiteY30" fmla="*/ 491345 h 2122309"/>
              <a:gd name="connsiteX31" fmla="*/ 2558854 w 3197374"/>
              <a:gd name="connsiteY31" fmla="*/ 144720 h 2122309"/>
              <a:gd name="connsiteX32" fmla="*/ 2606141 w 3197374"/>
              <a:gd name="connsiteY32" fmla="*/ 687645 h 2122309"/>
              <a:gd name="connsiteX33" fmla="*/ 2657368 w 3197374"/>
              <a:gd name="connsiteY33" fmla="*/ 1275814 h 2122309"/>
              <a:gd name="connsiteX34" fmla="*/ 1668573 w 3197374"/>
              <a:gd name="connsiteY34" fmla="*/ 1739197 h 2122309"/>
              <a:gd name="connsiteX35" fmla="*/ 1668573 w 3197374"/>
              <a:gd name="connsiteY35" fmla="*/ 1298289 h 2122309"/>
              <a:gd name="connsiteX36" fmla="*/ 1668573 w 3197374"/>
              <a:gd name="connsiteY36" fmla="*/ 894817 h 2122309"/>
              <a:gd name="connsiteX37" fmla="*/ 1668573 w 3197374"/>
              <a:gd name="connsiteY37" fmla="*/ 491345 h 2122309"/>
              <a:gd name="connsiteX38" fmla="*/ 632345 w 3197374"/>
              <a:gd name="connsiteY38" fmla="*/ 148368 h 2122309"/>
              <a:gd name="connsiteX39" fmla="*/ 1522626 w 3197374"/>
              <a:gd name="connsiteY39" fmla="*/ 494994 h 2122309"/>
              <a:gd name="connsiteX40" fmla="*/ 1522626 w 3197374"/>
              <a:gd name="connsiteY40" fmla="*/ 910945 h 2122309"/>
              <a:gd name="connsiteX41" fmla="*/ 1522626 w 3197374"/>
              <a:gd name="connsiteY41" fmla="*/ 1289460 h 2122309"/>
              <a:gd name="connsiteX42" fmla="*/ 1522626 w 3197374"/>
              <a:gd name="connsiteY42" fmla="*/ 1742846 h 2122309"/>
              <a:gd name="connsiteX43" fmla="*/ 533830 w 3197374"/>
              <a:gd name="connsiteY43" fmla="*/ 1279462 h 2122309"/>
              <a:gd name="connsiteX44" fmla="*/ 583088 w 3197374"/>
              <a:gd name="connsiteY44" fmla="*/ 713915 h 2122309"/>
              <a:gd name="connsiteX45" fmla="*/ 632345 w 3197374"/>
              <a:gd name="connsiteY45" fmla="*/ 148368 h 2122309"/>
              <a:gd name="connsiteX46" fmla="*/ 282071 w 3197374"/>
              <a:gd name="connsiteY46" fmla="*/ 1498384 h 2122309"/>
              <a:gd name="connsiteX47" fmla="*/ 336801 w 3197374"/>
              <a:gd name="connsiteY47" fmla="*/ 927364 h 2122309"/>
              <a:gd name="connsiteX48" fmla="*/ 391531 w 3197374"/>
              <a:gd name="connsiteY48" fmla="*/ 356344 h 2122309"/>
              <a:gd name="connsiteX49" fmla="*/ 468154 w 3197374"/>
              <a:gd name="connsiteY49" fmla="*/ 359992 h 2122309"/>
              <a:gd name="connsiteX50" fmla="*/ 423458 w 3197374"/>
              <a:gd name="connsiteY50" fmla="*/ 871320 h 2122309"/>
              <a:gd name="connsiteX51" fmla="*/ 376937 w 3197374"/>
              <a:gd name="connsiteY51" fmla="*/ 1403518 h 2122309"/>
              <a:gd name="connsiteX52" fmla="*/ 446262 w 3197374"/>
              <a:gd name="connsiteY52" fmla="*/ 1410815 h 2122309"/>
              <a:gd name="connsiteX53" fmla="*/ 1500734 w 3197374"/>
              <a:gd name="connsiteY53" fmla="*/ 1917983 h 2122309"/>
              <a:gd name="connsiteX54" fmla="*/ 1500734 w 3197374"/>
              <a:gd name="connsiteY54" fmla="*/ 1917983 h 2122309"/>
              <a:gd name="connsiteX55" fmla="*/ 282071 w 3197374"/>
              <a:gd name="connsiteY55" fmla="*/ 1498384 h 2122309"/>
              <a:gd name="connsiteX56" fmla="*/ 1690465 w 3197374"/>
              <a:gd name="connsiteY56" fmla="*/ 1925280 h 2122309"/>
              <a:gd name="connsiteX57" fmla="*/ 1690465 w 3197374"/>
              <a:gd name="connsiteY57" fmla="*/ 1925280 h 2122309"/>
              <a:gd name="connsiteX58" fmla="*/ 2744937 w 3197374"/>
              <a:gd name="connsiteY58" fmla="*/ 1410815 h 2122309"/>
              <a:gd name="connsiteX59" fmla="*/ 2814262 w 3197374"/>
              <a:gd name="connsiteY59" fmla="*/ 1403518 h 2122309"/>
              <a:gd name="connsiteX60" fmla="*/ 2770478 w 3197374"/>
              <a:gd name="connsiteY60" fmla="*/ 902626 h 2122309"/>
              <a:gd name="connsiteX61" fmla="*/ 2723045 w 3197374"/>
              <a:gd name="connsiteY61" fmla="*/ 359992 h 2122309"/>
              <a:gd name="connsiteX62" fmla="*/ 2799667 w 3197374"/>
              <a:gd name="connsiteY62" fmla="*/ 356344 h 2122309"/>
              <a:gd name="connsiteX63" fmla="*/ 2854398 w 3197374"/>
              <a:gd name="connsiteY63" fmla="*/ 927364 h 2122309"/>
              <a:gd name="connsiteX64" fmla="*/ 2909128 w 3197374"/>
              <a:gd name="connsiteY64" fmla="*/ 1498384 h 2122309"/>
              <a:gd name="connsiteX65" fmla="*/ 1690465 w 3197374"/>
              <a:gd name="connsiteY65" fmla="*/ 1925280 h 212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197374" h="2122309" fill="none" extrusionOk="0">
                <a:moveTo>
                  <a:pt x="3193726" y="1677170"/>
                </a:moveTo>
                <a:cubicBezTo>
                  <a:pt x="3166765" y="1481580"/>
                  <a:pt x="3222428" y="1385928"/>
                  <a:pt x="3142279" y="1121547"/>
                </a:cubicBezTo>
                <a:cubicBezTo>
                  <a:pt x="3062131" y="857166"/>
                  <a:pt x="3127245" y="760398"/>
                  <a:pt x="3084265" y="494994"/>
                </a:cubicBezTo>
                <a:cubicBezTo>
                  <a:pt x="3079570" y="452595"/>
                  <a:pt x="3046220" y="432518"/>
                  <a:pt x="3011292" y="429317"/>
                </a:cubicBezTo>
                <a:cubicBezTo>
                  <a:pt x="2986363" y="432462"/>
                  <a:pt x="2968891" y="425984"/>
                  <a:pt x="2956561" y="429317"/>
                </a:cubicBezTo>
                <a:cubicBezTo>
                  <a:pt x="2928269" y="333721"/>
                  <a:pt x="2960901" y="280854"/>
                  <a:pt x="2938318" y="217693"/>
                </a:cubicBezTo>
                <a:cubicBezTo>
                  <a:pt x="2920205" y="224197"/>
                  <a:pt x="2892215" y="209128"/>
                  <a:pt x="2872641" y="214045"/>
                </a:cubicBezTo>
                <a:cubicBezTo>
                  <a:pt x="2806038" y="216330"/>
                  <a:pt x="2769231" y="200198"/>
                  <a:pt x="2712099" y="217693"/>
                </a:cubicBezTo>
                <a:cubicBezTo>
                  <a:pt x="2687966" y="122362"/>
                  <a:pt x="2714791" y="76715"/>
                  <a:pt x="2693855" y="20664"/>
                </a:cubicBezTo>
                <a:cubicBezTo>
                  <a:pt x="2671684" y="18590"/>
                  <a:pt x="2662613" y="11665"/>
                  <a:pt x="2639125" y="9718"/>
                </a:cubicBezTo>
                <a:cubicBezTo>
                  <a:pt x="2253242" y="-23954"/>
                  <a:pt x="1831286" y="48014"/>
                  <a:pt x="1595599" y="359992"/>
                </a:cubicBezTo>
                <a:cubicBezTo>
                  <a:pt x="1309624" y="95105"/>
                  <a:pt x="919582" y="-60011"/>
                  <a:pt x="552074" y="9718"/>
                </a:cubicBezTo>
                <a:cubicBezTo>
                  <a:pt x="536878" y="15023"/>
                  <a:pt x="523801" y="11834"/>
                  <a:pt x="497344" y="20664"/>
                </a:cubicBezTo>
                <a:cubicBezTo>
                  <a:pt x="490616" y="109727"/>
                  <a:pt x="474250" y="162967"/>
                  <a:pt x="479100" y="217693"/>
                </a:cubicBezTo>
                <a:cubicBezTo>
                  <a:pt x="429645" y="214152"/>
                  <a:pt x="374545" y="197118"/>
                  <a:pt x="318558" y="214045"/>
                </a:cubicBezTo>
                <a:cubicBezTo>
                  <a:pt x="296385" y="218020"/>
                  <a:pt x="277291" y="215522"/>
                  <a:pt x="256530" y="217693"/>
                </a:cubicBezTo>
                <a:cubicBezTo>
                  <a:pt x="269837" y="320788"/>
                  <a:pt x="226296" y="363352"/>
                  <a:pt x="238286" y="429317"/>
                </a:cubicBezTo>
                <a:cubicBezTo>
                  <a:pt x="213761" y="430583"/>
                  <a:pt x="210388" y="426274"/>
                  <a:pt x="183556" y="429317"/>
                </a:cubicBezTo>
                <a:cubicBezTo>
                  <a:pt x="153346" y="426328"/>
                  <a:pt x="118821" y="456158"/>
                  <a:pt x="110582" y="494994"/>
                </a:cubicBezTo>
                <a:cubicBezTo>
                  <a:pt x="120589" y="730569"/>
                  <a:pt x="36057" y="783203"/>
                  <a:pt x="58041" y="1062438"/>
                </a:cubicBezTo>
                <a:cubicBezTo>
                  <a:pt x="80025" y="1341673"/>
                  <a:pt x="-37530" y="1366148"/>
                  <a:pt x="1122" y="1677170"/>
                </a:cubicBezTo>
                <a:cubicBezTo>
                  <a:pt x="-12843" y="1723636"/>
                  <a:pt x="13285" y="1748554"/>
                  <a:pt x="63149" y="1757441"/>
                </a:cubicBezTo>
                <a:cubicBezTo>
                  <a:pt x="67948" y="1757403"/>
                  <a:pt x="69348" y="1758709"/>
                  <a:pt x="74095" y="1757441"/>
                </a:cubicBezTo>
                <a:cubicBezTo>
                  <a:pt x="129981" y="1754015"/>
                  <a:pt x="864666" y="1723362"/>
                  <a:pt x="1427760" y="2096769"/>
                </a:cubicBezTo>
                <a:cubicBezTo>
                  <a:pt x="1447185" y="2113082"/>
                  <a:pt x="1477620" y="2124133"/>
                  <a:pt x="1508031" y="2122310"/>
                </a:cubicBezTo>
                <a:cubicBezTo>
                  <a:pt x="1559197" y="2115326"/>
                  <a:pt x="1602534" y="2128263"/>
                  <a:pt x="1690465" y="2122310"/>
                </a:cubicBezTo>
                <a:cubicBezTo>
                  <a:pt x="1716223" y="2123613"/>
                  <a:pt x="1744284" y="2115233"/>
                  <a:pt x="1767088" y="2100418"/>
                </a:cubicBezTo>
                <a:cubicBezTo>
                  <a:pt x="2277514" y="1736718"/>
                  <a:pt x="2953208" y="1772212"/>
                  <a:pt x="3120752" y="1761089"/>
                </a:cubicBezTo>
                <a:cubicBezTo>
                  <a:pt x="3164374" y="1767770"/>
                  <a:pt x="3187541" y="1730561"/>
                  <a:pt x="3197375" y="1691764"/>
                </a:cubicBezTo>
                <a:cubicBezTo>
                  <a:pt x="3193726" y="1680819"/>
                  <a:pt x="3193725" y="1680819"/>
                  <a:pt x="3193726" y="1677170"/>
                </a:cubicBezTo>
                <a:close/>
                <a:moveTo>
                  <a:pt x="1668573" y="491345"/>
                </a:moveTo>
                <a:cubicBezTo>
                  <a:pt x="1899085" y="242349"/>
                  <a:pt x="2238726" y="129721"/>
                  <a:pt x="2558854" y="144720"/>
                </a:cubicBezTo>
                <a:cubicBezTo>
                  <a:pt x="2632495" y="357599"/>
                  <a:pt x="2531612" y="449585"/>
                  <a:pt x="2606141" y="687645"/>
                </a:cubicBezTo>
                <a:cubicBezTo>
                  <a:pt x="2680669" y="925705"/>
                  <a:pt x="2599799" y="1025636"/>
                  <a:pt x="2657368" y="1275814"/>
                </a:cubicBezTo>
                <a:cubicBezTo>
                  <a:pt x="2370523" y="1238842"/>
                  <a:pt x="2023327" y="1315415"/>
                  <a:pt x="1668573" y="1739197"/>
                </a:cubicBezTo>
                <a:cubicBezTo>
                  <a:pt x="1623003" y="1614084"/>
                  <a:pt x="1686866" y="1496882"/>
                  <a:pt x="1668573" y="1298289"/>
                </a:cubicBezTo>
                <a:cubicBezTo>
                  <a:pt x="1650280" y="1099696"/>
                  <a:pt x="1696839" y="988939"/>
                  <a:pt x="1668573" y="894817"/>
                </a:cubicBezTo>
                <a:cubicBezTo>
                  <a:pt x="1640307" y="800695"/>
                  <a:pt x="1693646" y="577821"/>
                  <a:pt x="1668573" y="491345"/>
                </a:cubicBezTo>
                <a:close/>
                <a:moveTo>
                  <a:pt x="632345" y="148368"/>
                </a:moveTo>
                <a:cubicBezTo>
                  <a:pt x="943454" y="137118"/>
                  <a:pt x="1193883" y="265287"/>
                  <a:pt x="1522626" y="494994"/>
                </a:cubicBezTo>
                <a:cubicBezTo>
                  <a:pt x="1532393" y="589364"/>
                  <a:pt x="1516860" y="794870"/>
                  <a:pt x="1522626" y="910945"/>
                </a:cubicBezTo>
                <a:cubicBezTo>
                  <a:pt x="1528392" y="1027020"/>
                  <a:pt x="1520641" y="1139702"/>
                  <a:pt x="1522626" y="1289460"/>
                </a:cubicBezTo>
                <a:cubicBezTo>
                  <a:pt x="1524611" y="1439218"/>
                  <a:pt x="1479984" y="1558079"/>
                  <a:pt x="1522626" y="1742846"/>
                </a:cubicBezTo>
                <a:cubicBezTo>
                  <a:pt x="1193810" y="1425630"/>
                  <a:pt x="749278" y="1323799"/>
                  <a:pt x="533830" y="1279462"/>
                </a:cubicBezTo>
                <a:cubicBezTo>
                  <a:pt x="500606" y="1080233"/>
                  <a:pt x="620366" y="994621"/>
                  <a:pt x="583088" y="713915"/>
                </a:cubicBezTo>
                <a:cubicBezTo>
                  <a:pt x="545810" y="433209"/>
                  <a:pt x="620459" y="362866"/>
                  <a:pt x="632345" y="148368"/>
                </a:cubicBezTo>
                <a:close/>
                <a:moveTo>
                  <a:pt x="282071" y="1498384"/>
                </a:moveTo>
                <a:cubicBezTo>
                  <a:pt x="255813" y="1364506"/>
                  <a:pt x="336294" y="1109226"/>
                  <a:pt x="336801" y="927364"/>
                </a:cubicBezTo>
                <a:cubicBezTo>
                  <a:pt x="337308" y="745502"/>
                  <a:pt x="415496" y="559880"/>
                  <a:pt x="391531" y="356344"/>
                </a:cubicBezTo>
                <a:cubicBezTo>
                  <a:pt x="416217" y="349481"/>
                  <a:pt x="436287" y="361546"/>
                  <a:pt x="468154" y="359992"/>
                </a:cubicBezTo>
                <a:cubicBezTo>
                  <a:pt x="471866" y="512119"/>
                  <a:pt x="384660" y="757384"/>
                  <a:pt x="423458" y="871320"/>
                </a:cubicBezTo>
                <a:cubicBezTo>
                  <a:pt x="462256" y="985256"/>
                  <a:pt x="353311" y="1176622"/>
                  <a:pt x="376937" y="1403518"/>
                </a:cubicBezTo>
                <a:cubicBezTo>
                  <a:pt x="399294" y="1402318"/>
                  <a:pt x="430543" y="1414744"/>
                  <a:pt x="446262" y="1410815"/>
                </a:cubicBezTo>
                <a:cubicBezTo>
                  <a:pt x="450299" y="1229015"/>
                  <a:pt x="1049720" y="1337086"/>
                  <a:pt x="1500734" y="1917983"/>
                </a:cubicBezTo>
                <a:lnTo>
                  <a:pt x="1500734" y="1917983"/>
                </a:lnTo>
                <a:cubicBezTo>
                  <a:pt x="1041831" y="1555425"/>
                  <a:pt x="539241" y="1537641"/>
                  <a:pt x="282071" y="1498384"/>
                </a:cubicBezTo>
                <a:close/>
                <a:moveTo>
                  <a:pt x="1690465" y="1925280"/>
                </a:moveTo>
                <a:lnTo>
                  <a:pt x="1690465" y="1925280"/>
                </a:lnTo>
                <a:cubicBezTo>
                  <a:pt x="2128938" y="1494162"/>
                  <a:pt x="2741930" y="1410804"/>
                  <a:pt x="2744937" y="1410815"/>
                </a:cubicBezTo>
                <a:cubicBezTo>
                  <a:pt x="2762092" y="1401756"/>
                  <a:pt x="2800485" y="1406655"/>
                  <a:pt x="2814262" y="1403518"/>
                </a:cubicBezTo>
                <a:cubicBezTo>
                  <a:pt x="2771579" y="1275078"/>
                  <a:pt x="2789923" y="1105099"/>
                  <a:pt x="2770478" y="902626"/>
                </a:cubicBezTo>
                <a:cubicBezTo>
                  <a:pt x="2751033" y="700153"/>
                  <a:pt x="2783950" y="564118"/>
                  <a:pt x="2723045" y="359992"/>
                </a:cubicBezTo>
                <a:cubicBezTo>
                  <a:pt x="2752915" y="355766"/>
                  <a:pt x="2779717" y="355155"/>
                  <a:pt x="2799667" y="356344"/>
                </a:cubicBezTo>
                <a:cubicBezTo>
                  <a:pt x="2833461" y="483626"/>
                  <a:pt x="2776768" y="720286"/>
                  <a:pt x="2854398" y="927364"/>
                </a:cubicBezTo>
                <a:cubicBezTo>
                  <a:pt x="2932028" y="1134442"/>
                  <a:pt x="2840372" y="1232150"/>
                  <a:pt x="2909128" y="1498384"/>
                </a:cubicBezTo>
                <a:cubicBezTo>
                  <a:pt x="2629449" y="1479871"/>
                  <a:pt x="2063340" y="1579507"/>
                  <a:pt x="1690465" y="1925280"/>
                </a:cubicBezTo>
                <a:close/>
              </a:path>
              <a:path w="3197374" h="2122309" stroke="0" extrusionOk="0">
                <a:moveTo>
                  <a:pt x="3193726" y="1677170"/>
                </a:moveTo>
                <a:cubicBezTo>
                  <a:pt x="3146417" y="1556074"/>
                  <a:pt x="3188045" y="1233740"/>
                  <a:pt x="3142279" y="1121547"/>
                </a:cubicBezTo>
                <a:cubicBezTo>
                  <a:pt x="3096513" y="1009354"/>
                  <a:pt x="3169597" y="672973"/>
                  <a:pt x="3084265" y="494994"/>
                </a:cubicBezTo>
                <a:cubicBezTo>
                  <a:pt x="3072617" y="459209"/>
                  <a:pt x="3041798" y="425321"/>
                  <a:pt x="3011292" y="429317"/>
                </a:cubicBezTo>
                <a:cubicBezTo>
                  <a:pt x="2994796" y="431225"/>
                  <a:pt x="2973987" y="422841"/>
                  <a:pt x="2956561" y="429317"/>
                </a:cubicBezTo>
                <a:cubicBezTo>
                  <a:pt x="2925463" y="333551"/>
                  <a:pt x="2958533" y="321818"/>
                  <a:pt x="2938318" y="217693"/>
                </a:cubicBezTo>
                <a:cubicBezTo>
                  <a:pt x="2907606" y="219552"/>
                  <a:pt x="2901394" y="212046"/>
                  <a:pt x="2872641" y="214045"/>
                </a:cubicBezTo>
                <a:cubicBezTo>
                  <a:pt x="2813556" y="212695"/>
                  <a:pt x="2755340" y="209008"/>
                  <a:pt x="2712099" y="217693"/>
                </a:cubicBezTo>
                <a:cubicBezTo>
                  <a:pt x="2690896" y="163691"/>
                  <a:pt x="2711974" y="76728"/>
                  <a:pt x="2693855" y="20664"/>
                </a:cubicBezTo>
                <a:cubicBezTo>
                  <a:pt x="2682203" y="18771"/>
                  <a:pt x="2653241" y="6060"/>
                  <a:pt x="2639125" y="9718"/>
                </a:cubicBezTo>
                <a:cubicBezTo>
                  <a:pt x="2232335" y="-45437"/>
                  <a:pt x="1928983" y="137748"/>
                  <a:pt x="1595599" y="359992"/>
                </a:cubicBezTo>
                <a:cubicBezTo>
                  <a:pt x="1291803" y="171193"/>
                  <a:pt x="948082" y="-72707"/>
                  <a:pt x="552074" y="9718"/>
                </a:cubicBezTo>
                <a:cubicBezTo>
                  <a:pt x="533132" y="15282"/>
                  <a:pt x="523168" y="12941"/>
                  <a:pt x="497344" y="20664"/>
                </a:cubicBezTo>
                <a:cubicBezTo>
                  <a:pt x="506792" y="112664"/>
                  <a:pt x="469948" y="150128"/>
                  <a:pt x="479100" y="217693"/>
                </a:cubicBezTo>
                <a:cubicBezTo>
                  <a:pt x="424930" y="215462"/>
                  <a:pt x="378092" y="199639"/>
                  <a:pt x="318558" y="214045"/>
                </a:cubicBezTo>
                <a:cubicBezTo>
                  <a:pt x="288859" y="216029"/>
                  <a:pt x="283542" y="214589"/>
                  <a:pt x="256530" y="217693"/>
                </a:cubicBezTo>
                <a:cubicBezTo>
                  <a:pt x="271507" y="282031"/>
                  <a:pt x="234084" y="330991"/>
                  <a:pt x="238286" y="429317"/>
                </a:cubicBezTo>
                <a:cubicBezTo>
                  <a:pt x="221349" y="433658"/>
                  <a:pt x="201657" y="429228"/>
                  <a:pt x="183556" y="429317"/>
                </a:cubicBezTo>
                <a:cubicBezTo>
                  <a:pt x="145420" y="427305"/>
                  <a:pt x="118433" y="464060"/>
                  <a:pt x="110582" y="494994"/>
                </a:cubicBezTo>
                <a:cubicBezTo>
                  <a:pt x="106391" y="717781"/>
                  <a:pt x="21137" y="942137"/>
                  <a:pt x="58041" y="1062438"/>
                </a:cubicBezTo>
                <a:cubicBezTo>
                  <a:pt x="94945" y="1182739"/>
                  <a:pt x="15537" y="1455381"/>
                  <a:pt x="1122" y="1677170"/>
                </a:cubicBezTo>
                <a:cubicBezTo>
                  <a:pt x="-13518" y="1718186"/>
                  <a:pt x="31566" y="1758626"/>
                  <a:pt x="63149" y="1757441"/>
                </a:cubicBezTo>
                <a:cubicBezTo>
                  <a:pt x="66965" y="1756179"/>
                  <a:pt x="71435" y="1757660"/>
                  <a:pt x="74095" y="1757441"/>
                </a:cubicBezTo>
                <a:cubicBezTo>
                  <a:pt x="421992" y="1694528"/>
                  <a:pt x="849148" y="1675768"/>
                  <a:pt x="1427760" y="2096769"/>
                </a:cubicBezTo>
                <a:cubicBezTo>
                  <a:pt x="1455106" y="2108984"/>
                  <a:pt x="1473747" y="2116756"/>
                  <a:pt x="1508031" y="2122310"/>
                </a:cubicBezTo>
                <a:cubicBezTo>
                  <a:pt x="1587933" y="2102487"/>
                  <a:pt x="1605268" y="2142691"/>
                  <a:pt x="1690465" y="2122310"/>
                </a:cubicBezTo>
                <a:cubicBezTo>
                  <a:pt x="1717809" y="2123252"/>
                  <a:pt x="1747758" y="2110236"/>
                  <a:pt x="1767088" y="2100418"/>
                </a:cubicBezTo>
                <a:cubicBezTo>
                  <a:pt x="2325512" y="1775717"/>
                  <a:pt x="2853184" y="1773628"/>
                  <a:pt x="3120752" y="1761089"/>
                </a:cubicBezTo>
                <a:cubicBezTo>
                  <a:pt x="3159876" y="1772923"/>
                  <a:pt x="3193395" y="1725043"/>
                  <a:pt x="3197375" y="1691764"/>
                </a:cubicBezTo>
                <a:cubicBezTo>
                  <a:pt x="3193726" y="1680817"/>
                  <a:pt x="3193726" y="1680818"/>
                  <a:pt x="3193726" y="1677170"/>
                </a:cubicBezTo>
                <a:close/>
                <a:moveTo>
                  <a:pt x="1668573" y="491345"/>
                </a:moveTo>
                <a:cubicBezTo>
                  <a:pt x="1924113" y="210902"/>
                  <a:pt x="2190371" y="105833"/>
                  <a:pt x="2558854" y="144720"/>
                </a:cubicBezTo>
                <a:cubicBezTo>
                  <a:pt x="2628754" y="251584"/>
                  <a:pt x="2559859" y="413340"/>
                  <a:pt x="2605156" y="676334"/>
                </a:cubicBezTo>
                <a:cubicBezTo>
                  <a:pt x="2650452" y="939329"/>
                  <a:pt x="2606798" y="1090597"/>
                  <a:pt x="2657368" y="1275814"/>
                </a:cubicBezTo>
                <a:cubicBezTo>
                  <a:pt x="2474389" y="1282898"/>
                  <a:pt x="2142894" y="1396469"/>
                  <a:pt x="1668573" y="1739197"/>
                </a:cubicBezTo>
                <a:cubicBezTo>
                  <a:pt x="1645880" y="1630587"/>
                  <a:pt x="1702206" y="1526916"/>
                  <a:pt x="1668573" y="1335725"/>
                </a:cubicBezTo>
                <a:cubicBezTo>
                  <a:pt x="1634940" y="1144534"/>
                  <a:pt x="1699583" y="1048703"/>
                  <a:pt x="1668573" y="907296"/>
                </a:cubicBezTo>
                <a:cubicBezTo>
                  <a:pt x="1637563" y="765889"/>
                  <a:pt x="1691120" y="583153"/>
                  <a:pt x="1668573" y="491345"/>
                </a:cubicBezTo>
                <a:close/>
                <a:moveTo>
                  <a:pt x="632345" y="148368"/>
                </a:moveTo>
                <a:cubicBezTo>
                  <a:pt x="1051244" y="101159"/>
                  <a:pt x="1249133" y="296287"/>
                  <a:pt x="1522626" y="494994"/>
                </a:cubicBezTo>
                <a:cubicBezTo>
                  <a:pt x="1546327" y="698081"/>
                  <a:pt x="1509886" y="799045"/>
                  <a:pt x="1522626" y="923423"/>
                </a:cubicBezTo>
                <a:cubicBezTo>
                  <a:pt x="1535366" y="1047801"/>
                  <a:pt x="1519871" y="1156362"/>
                  <a:pt x="1522626" y="1314417"/>
                </a:cubicBezTo>
                <a:cubicBezTo>
                  <a:pt x="1525381" y="1472472"/>
                  <a:pt x="1513972" y="1574027"/>
                  <a:pt x="1522626" y="1742846"/>
                </a:cubicBezTo>
                <a:cubicBezTo>
                  <a:pt x="1107567" y="1408900"/>
                  <a:pt x="724529" y="1264760"/>
                  <a:pt x="533830" y="1279462"/>
                </a:cubicBezTo>
                <a:cubicBezTo>
                  <a:pt x="484311" y="1117330"/>
                  <a:pt x="569119" y="912413"/>
                  <a:pt x="581117" y="736537"/>
                </a:cubicBezTo>
                <a:cubicBezTo>
                  <a:pt x="593115" y="560661"/>
                  <a:pt x="666693" y="433463"/>
                  <a:pt x="632345" y="148368"/>
                </a:cubicBezTo>
                <a:close/>
                <a:moveTo>
                  <a:pt x="282071" y="1498384"/>
                </a:moveTo>
                <a:cubicBezTo>
                  <a:pt x="269577" y="1353037"/>
                  <a:pt x="374047" y="1182293"/>
                  <a:pt x="338990" y="904523"/>
                </a:cubicBezTo>
                <a:cubicBezTo>
                  <a:pt x="303933" y="626753"/>
                  <a:pt x="429982" y="610468"/>
                  <a:pt x="391531" y="356344"/>
                </a:cubicBezTo>
                <a:cubicBezTo>
                  <a:pt x="409547" y="353808"/>
                  <a:pt x="434991" y="356727"/>
                  <a:pt x="468154" y="359992"/>
                </a:cubicBezTo>
                <a:cubicBezTo>
                  <a:pt x="503172" y="574224"/>
                  <a:pt x="377644" y="685997"/>
                  <a:pt x="421633" y="892190"/>
                </a:cubicBezTo>
                <a:cubicBezTo>
                  <a:pt x="465623" y="1098383"/>
                  <a:pt x="348375" y="1189968"/>
                  <a:pt x="376937" y="1403518"/>
                </a:cubicBezTo>
                <a:cubicBezTo>
                  <a:pt x="408604" y="1403249"/>
                  <a:pt x="424277" y="1413371"/>
                  <a:pt x="446262" y="1410815"/>
                </a:cubicBezTo>
                <a:cubicBezTo>
                  <a:pt x="404474" y="1339650"/>
                  <a:pt x="1087926" y="1319667"/>
                  <a:pt x="1500734" y="1917983"/>
                </a:cubicBezTo>
                <a:lnTo>
                  <a:pt x="1500734" y="1917983"/>
                </a:lnTo>
                <a:cubicBezTo>
                  <a:pt x="992397" y="1558374"/>
                  <a:pt x="477911" y="1502670"/>
                  <a:pt x="282071" y="1498384"/>
                </a:cubicBezTo>
                <a:close/>
                <a:moveTo>
                  <a:pt x="1690465" y="1925280"/>
                </a:moveTo>
                <a:lnTo>
                  <a:pt x="1690465" y="1925280"/>
                </a:lnTo>
                <a:cubicBezTo>
                  <a:pt x="2128489" y="1495044"/>
                  <a:pt x="2741205" y="1411498"/>
                  <a:pt x="2744937" y="1410815"/>
                </a:cubicBezTo>
                <a:cubicBezTo>
                  <a:pt x="2772943" y="1407204"/>
                  <a:pt x="2786662" y="1408608"/>
                  <a:pt x="2814262" y="1403518"/>
                </a:cubicBezTo>
                <a:cubicBezTo>
                  <a:pt x="2785473" y="1274427"/>
                  <a:pt x="2818996" y="1050489"/>
                  <a:pt x="2771390" y="913061"/>
                </a:cubicBezTo>
                <a:cubicBezTo>
                  <a:pt x="2723784" y="775633"/>
                  <a:pt x="2782023" y="542739"/>
                  <a:pt x="2723045" y="359992"/>
                </a:cubicBezTo>
                <a:cubicBezTo>
                  <a:pt x="2754526" y="361401"/>
                  <a:pt x="2775570" y="350645"/>
                  <a:pt x="2799667" y="356344"/>
                </a:cubicBezTo>
                <a:cubicBezTo>
                  <a:pt x="2869247" y="542714"/>
                  <a:pt x="2827414" y="688758"/>
                  <a:pt x="2854398" y="927364"/>
                </a:cubicBezTo>
                <a:cubicBezTo>
                  <a:pt x="2881381" y="1165970"/>
                  <a:pt x="2878931" y="1264149"/>
                  <a:pt x="2909128" y="1498384"/>
                </a:cubicBezTo>
                <a:cubicBezTo>
                  <a:pt x="2721302" y="1590402"/>
                  <a:pt x="2153290" y="1653022"/>
                  <a:pt x="1690465" y="192528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108309070">
                  <a:custGeom>
                    <a:avLst/>
                    <a:gdLst>
                      <a:gd name="connsiteX0" fmla="*/ 3193726 w 3197374"/>
                      <a:gd name="connsiteY0" fmla="*/ 1677170 h 2122309"/>
                      <a:gd name="connsiteX1" fmla="*/ 3084265 w 3197374"/>
                      <a:gd name="connsiteY1" fmla="*/ 494994 h 2122309"/>
                      <a:gd name="connsiteX2" fmla="*/ 3011292 w 3197374"/>
                      <a:gd name="connsiteY2" fmla="*/ 429317 h 2122309"/>
                      <a:gd name="connsiteX3" fmla="*/ 2956561 w 3197374"/>
                      <a:gd name="connsiteY3" fmla="*/ 429317 h 2122309"/>
                      <a:gd name="connsiteX4" fmla="*/ 2938318 w 3197374"/>
                      <a:gd name="connsiteY4" fmla="*/ 217693 h 2122309"/>
                      <a:gd name="connsiteX5" fmla="*/ 2872641 w 3197374"/>
                      <a:gd name="connsiteY5" fmla="*/ 214045 h 2122309"/>
                      <a:gd name="connsiteX6" fmla="*/ 2712099 w 3197374"/>
                      <a:gd name="connsiteY6" fmla="*/ 217693 h 2122309"/>
                      <a:gd name="connsiteX7" fmla="*/ 2693855 w 3197374"/>
                      <a:gd name="connsiteY7" fmla="*/ 20664 h 2122309"/>
                      <a:gd name="connsiteX8" fmla="*/ 2639125 w 3197374"/>
                      <a:gd name="connsiteY8" fmla="*/ 9718 h 2122309"/>
                      <a:gd name="connsiteX9" fmla="*/ 1595599 w 3197374"/>
                      <a:gd name="connsiteY9" fmla="*/ 359992 h 2122309"/>
                      <a:gd name="connsiteX10" fmla="*/ 552074 w 3197374"/>
                      <a:gd name="connsiteY10" fmla="*/ 9718 h 2122309"/>
                      <a:gd name="connsiteX11" fmla="*/ 497344 w 3197374"/>
                      <a:gd name="connsiteY11" fmla="*/ 20664 h 2122309"/>
                      <a:gd name="connsiteX12" fmla="*/ 479100 w 3197374"/>
                      <a:gd name="connsiteY12" fmla="*/ 217693 h 2122309"/>
                      <a:gd name="connsiteX13" fmla="*/ 318558 w 3197374"/>
                      <a:gd name="connsiteY13" fmla="*/ 214045 h 2122309"/>
                      <a:gd name="connsiteX14" fmla="*/ 256530 w 3197374"/>
                      <a:gd name="connsiteY14" fmla="*/ 217693 h 2122309"/>
                      <a:gd name="connsiteX15" fmla="*/ 238286 w 3197374"/>
                      <a:gd name="connsiteY15" fmla="*/ 429317 h 2122309"/>
                      <a:gd name="connsiteX16" fmla="*/ 183556 w 3197374"/>
                      <a:gd name="connsiteY16" fmla="*/ 429317 h 2122309"/>
                      <a:gd name="connsiteX17" fmla="*/ 110582 w 3197374"/>
                      <a:gd name="connsiteY17" fmla="*/ 494994 h 2122309"/>
                      <a:gd name="connsiteX18" fmla="*/ 1122 w 3197374"/>
                      <a:gd name="connsiteY18" fmla="*/ 1677170 h 2122309"/>
                      <a:gd name="connsiteX19" fmla="*/ 63149 w 3197374"/>
                      <a:gd name="connsiteY19" fmla="*/ 1757441 h 2122309"/>
                      <a:gd name="connsiteX20" fmla="*/ 74095 w 3197374"/>
                      <a:gd name="connsiteY20" fmla="*/ 1757441 h 2122309"/>
                      <a:gd name="connsiteX21" fmla="*/ 1427760 w 3197374"/>
                      <a:gd name="connsiteY21" fmla="*/ 2096769 h 2122309"/>
                      <a:gd name="connsiteX22" fmla="*/ 1508031 w 3197374"/>
                      <a:gd name="connsiteY22" fmla="*/ 2122310 h 2122309"/>
                      <a:gd name="connsiteX23" fmla="*/ 1690465 w 3197374"/>
                      <a:gd name="connsiteY23" fmla="*/ 2122310 h 2122309"/>
                      <a:gd name="connsiteX24" fmla="*/ 1767088 w 3197374"/>
                      <a:gd name="connsiteY24" fmla="*/ 2100418 h 2122309"/>
                      <a:gd name="connsiteX25" fmla="*/ 3120752 w 3197374"/>
                      <a:gd name="connsiteY25" fmla="*/ 1761089 h 2122309"/>
                      <a:gd name="connsiteX26" fmla="*/ 3197375 w 3197374"/>
                      <a:gd name="connsiteY26" fmla="*/ 1691764 h 2122309"/>
                      <a:gd name="connsiteX27" fmla="*/ 3193726 w 3197374"/>
                      <a:gd name="connsiteY27" fmla="*/ 1677170 h 2122309"/>
                      <a:gd name="connsiteX28" fmla="*/ 1668573 w 3197374"/>
                      <a:gd name="connsiteY28" fmla="*/ 491345 h 2122309"/>
                      <a:gd name="connsiteX29" fmla="*/ 2558854 w 3197374"/>
                      <a:gd name="connsiteY29" fmla="*/ 144720 h 2122309"/>
                      <a:gd name="connsiteX30" fmla="*/ 2657368 w 3197374"/>
                      <a:gd name="connsiteY30" fmla="*/ 1275814 h 2122309"/>
                      <a:gd name="connsiteX31" fmla="*/ 1668573 w 3197374"/>
                      <a:gd name="connsiteY31" fmla="*/ 1739197 h 2122309"/>
                      <a:gd name="connsiteX32" fmla="*/ 1668573 w 3197374"/>
                      <a:gd name="connsiteY32" fmla="*/ 491345 h 2122309"/>
                      <a:gd name="connsiteX33" fmla="*/ 632345 w 3197374"/>
                      <a:gd name="connsiteY33" fmla="*/ 148368 h 2122309"/>
                      <a:gd name="connsiteX34" fmla="*/ 1522626 w 3197374"/>
                      <a:gd name="connsiteY34" fmla="*/ 494994 h 2122309"/>
                      <a:gd name="connsiteX35" fmla="*/ 1522626 w 3197374"/>
                      <a:gd name="connsiteY35" fmla="*/ 1742846 h 2122309"/>
                      <a:gd name="connsiteX36" fmla="*/ 533830 w 3197374"/>
                      <a:gd name="connsiteY36" fmla="*/ 1279462 h 2122309"/>
                      <a:gd name="connsiteX37" fmla="*/ 632345 w 3197374"/>
                      <a:gd name="connsiteY37" fmla="*/ 148368 h 2122309"/>
                      <a:gd name="connsiteX38" fmla="*/ 282071 w 3197374"/>
                      <a:gd name="connsiteY38" fmla="*/ 1498384 h 2122309"/>
                      <a:gd name="connsiteX39" fmla="*/ 391531 w 3197374"/>
                      <a:gd name="connsiteY39" fmla="*/ 356344 h 2122309"/>
                      <a:gd name="connsiteX40" fmla="*/ 468154 w 3197374"/>
                      <a:gd name="connsiteY40" fmla="*/ 359992 h 2122309"/>
                      <a:gd name="connsiteX41" fmla="*/ 376937 w 3197374"/>
                      <a:gd name="connsiteY41" fmla="*/ 1403518 h 2122309"/>
                      <a:gd name="connsiteX42" fmla="*/ 446262 w 3197374"/>
                      <a:gd name="connsiteY42" fmla="*/ 1410815 h 2122309"/>
                      <a:gd name="connsiteX43" fmla="*/ 1500734 w 3197374"/>
                      <a:gd name="connsiteY43" fmla="*/ 1917983 h 2122309"/>
                      <a:gd name="connsiteX44" fmla="*/ 1500734 w 3197374"/>
                      <a:gd name="connsiteY44" fmla="*/ 1917983 h 2122309"/>
                      <a:gd name="connsiteX45" fmla="*/ 282071 w 3197374"/>
                      <a:gd name="connsiteY45" fmla="*/ 1498384 h 2122309"/>
                      <a:gd name="connsiteX46" fmla="*/ 1690465 w 3197374"/>
                      <a:gd name="connsiteY46" fmla="*/ 1925280 h 2122309"/>
                      <a:gd name="connsiteX47" fmla="*/ 1690465 w 3197374"/>
                      <a:gd name="connsiteY47" fmla="*/ 1925280 h 2122309"/>
                      <a:gd name="connsiteX48" fmla="*/ 2744937 w 3197374"/>
                      <a:gd name="connsiteY48" fmla="*/ 1410815 h 2122309"/>
                      <a:gd name="connsiteX49" fmla="*/ 2814262 w 3197374"/>
                      <a:gd name="connsiteY49" fmla="*/ 1403518 h 2122309"/>
                      <a:gd name="connsiteX50" fmla="*/ 2723045 w 3197374"/>
                      <a:gd name="connsiteY50" fmla="*/ 359992 h 2122309"/>
                      <a:gd name="connsiteX51" fmla="*/ 2799667 w 3197374"/>
                      <a:gd name="connsiteY51" fmla="*/ 356344 h 2122309"/>
                      <a:gd name="connsiteX52" fmla="*/ 2909128 w 3197374"/>
                      <a:gd name="connsiteY52" fmla="*/ 1498384 h 2122309"/>
                      <a:gd name="connsiteX53" fmla="*/ 1690465 w 3197374"/>
                      <a:gd name="connsiteY53" fmla="*/ 1925280 h 21223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</a:cxnLst>
                    <a:rect l="l" t="t" r="r" b="b"/>
                    <a:pathLst>
                      <a:path w="3197374" h="2122309">
                        <a:moveTo>
                          <a:pt x="3193726" y="1677170"/>
                        </a:moveTo>
                        <a:lnTo>
                          <a:pt x="3084265" y="494994"/>
                        </a:lnTo>
                        <a:cubicBezTo>
                          <a:pt x="3080616" y="458507"/>
                          <a:pt x="3047778" y="429317"/>
                          <a:pt x="3011292" y="429317"/>
                        </a:cubicBezTo>
                        <a:cubicBezTo>
                          <a:pt x="2996697" y="429317"/>
                          <a:pt x="2974805" y="429317"/>
                          <a:pt x="2956561" y="429317"/>
                        </a:cubicBezTo>
                        <a:lnTo>
                          <a:pt x="2938318" y="217693"/>
                        </a:lnTo>
                        <a:lnTo>
                          <a:pt x="2872641" y="214045"/>
                        </a:lnTo>
                        <a:cubicBezTo>
                          <a:pt x="2817911" y="210396"/>
                          <a:pt x="2763181" y="214045"/>
                          <a:pt x="2712099" y="217693"/>
                        </a:cubicBezTo>
                        <a:lnTo>
                          <a:pt x="2693855" y="20664"/>
                        </a:lnTo>
                        <a:lnTo>
                          <a:pt x="2639125" y="9718"/>
                        </a:lnTo>
                        <a:cubicBezTo>
                          <a:pt x="2256012" y="-37715"/>
                          <a:pt x="1872900" y="89989"/>
                          <a:pt x="1595599" y="359992"/>
                        </a:cubicBezTo>
                        <a:cubicBezTo>
                          <a:pt x="1318299" y="89989"/>
                          <a:pt x="935186" y="-37715"/>
                          <a:pt x="552074" y="9718"/>
                        </a:cubicBezTo>
                        <a:lnTo>
                          <a:pt x="497344" y="20664"/>
                        </a:lnTo>
                        <a:lnTo>
                          <a:pt x="479100" y="217693"/>
                        </a:lnTo>
                        <a:cubicBezTo>
                          <a:pt x="424370" y="214045"/>
                          <a:pt x="373288" y="210396"/>
                          <a:pt x="318558" y="214045"/>
                        </a:cubicBezTo>
                        <a:lnTo>
                          <a:pt x="256530" y="217693"/>
                        </a:lnTo>
                        <a:lnTo>
                          <a:pt x="238286" y="429317"/>
                        </a:lnTo>
                        <a:cubicBezTo>
                          <a:pt x="216394" y="429317"/>
                          <a:pt x="198151" y="429317"/>
                          <a:pt x="183556" y="429317"/>
                        </a:cubicBezTo>
                        <a:cubicBezTo>
                          <a:pt x="147069" y="429317"/>
                          <a:pt x="114231" y="458507"/>
                          <a:pt x="110582" y="494994"/>
                        </a:cubicBezTo>
                        <a:lnTo>
                          <a:pt x="1122" y="1677170"/>
                        </a:lnTo>
                        <a:cubicBezTo>
                          <a:pt x="-6176" y="1717305"/>
                          <a:pt x="23014" y="1753792"/>
                          <a:pt x="63149" y="1757441"/>
                        </a:cubicBezTo>
                        <a:cubicBezTo>
                          <a:pt x="66798" y="1757441"/>
                          <a:pt x="70447" y="1757441"/>
                          <a:pt x="74095" y="1757441"/>
                        </a:cubicBezTo>
                        <a:cubicBezTo>
                          <a:pt x="296666" y="1750143"/>
                          <a:pt x="920592" y="1764738"/>
                          <a:pt x="1427760" y="2096769"/>
                        </a:cubicBezTo>
                        <a:cubicBezTo>
                          <a:pt x="1453300" y="2111364"/>
                          <a:pt x="1478841" y="2122310"/>
                          <a:pt x="1508031" y="2122310"/>
                        </a:cubicBezTo>
                        <a:lnTo>
                          <a:pt x="1690465" y="2122310"/>
                        </a:lnTo>
                        <a:cubicBezTo>
                          <a:pt x="1719655" y="2122310"/>
                          <a:pt x="1745196" y="2115013"/>
                          <a:pt x="1767088" y="2100418"/>
                        </a:cubicBezTo>
                        <a:cubicBezTo>
                          <a:pt x="2299797" y="1768387"/>
                          <a:pt x="2905480" y="1753792"/>
                          <a:pt x="3120752" y="1761089"/>
                        </a:cubicBezTo>
                        <a:cubicBezTo>
                          <a:pt x="3160888" y="1761089"/>
                          <a:pt x="3193726" y="1731900"/>
                          <a:pt x="3197375" y="1691764"/>
                        </a:cubicBezTo>
                        <a:cubicBezTo>
                          <a:pt x="3193726" y="1680818"/>
                          <a:pt x="3193726" y="1680818"/>
                          <a:pt x="3193726" y="1677170"/>
                        </a:cubicBezTo>
                        <a:close/>
                        <a:moveTo>
                          <a:pt x="1668573" y="491345"/>
                        </a:moveTo>
                        <a:cubicBezTo>
                          <a:pt x="1902090" y="250531"/>
                          <a:pt x="2226823" y="126476"/>
                          <a:pt x="2558854" y="144720"/>
                        </a:cubicBezTo>
                        <a:lnTo>
                          <a:pt x="2657368" y="1275814"/>
                        </a:lnTo>
                        <a:cubicBezTo>
                          <a:pt x="2485880" y="1308652"/>
                          <a:pt x="2040740" y="1418113"/>
                          <a:pt x="1668573" y="1739197"/>
                        </a:cubicBezTo>
                        <a:lnTo>
                          <a:pt x="1668573" y="491345"/>
                        </a:lnTo>
                        <a:close/>
                        <a:moveTo>
                          <a:pt x="632345" y="148368"/>
                        </a:moveTo>
                        <a:cubicBezTo>
                          <a:pt x="964376" y="130125"/>
                          <a:pt x="1289109" y="254180"/>
                          <a:pt x="1522626" y="494994"/>
                        </a:cubicBezTo>
                        <a:lnTo>
                          <a:pt x="1522626" y="1742846"/>
                        </a:lnTo>
                        <a:cubicBezTo>
                          <a:pt x="1150459" y="1421761"/>
                          <a:pt x="705319" y="1312301"/>
                          <a:pt x="533830" y="1279462"/>
                        </a:cubicBezTo>
                        <a:lnTo>
                          <a:pt x="632345" y="148368"/>
                        </a:lnTo>
                        <a:close/>
                        <a:moveTo>
                          <a:pt x="282071" y="1498384"/>
                        </a:moveTo>
                        <a:lnTo>
                          <a:pt x="391531" y="356344"/>
                        </a:lnTo>
                        <a:cubicBezTo>
                          <a:pt x="413424" y="356344"/>
                          <a:pt x="438964" y="359992"/>
                          <a:pt x="468154" y="359992"/>
                        </a:cubicBezTo>
                        <a:lnTo>
                          <a:pt x="376937" y="1403518"/>
                        </a:lnTo>
                        <a:lnTo>
                          <a:pt x="446262" y="1410815"/>
                        </a:lnTo>
                        <a:cubicBezTo>
                          <a:pt x="453559" y="1410815"/>
                          <a:pt x="1070188" y="1491086"/>
                          <a:pt x="1500734" y="1917983"/>
                        </a:cubicBezTo>
                        <a:lnTo>
                          <a:pt x="1500734" y="1917983"/>
                        </a:lnTo>
                        <a:cubicBezTo>
                          <a:pt x="1022755" y="1553114"/>
                          <a:pt x="490046" y="1505681"/>
                          <a:pt x="282071" y="1498384"/>
                        </a:cubicBezTo>
                        <a:close/>
                        <a:moveTo>
                          <a:pt x="1690465" y="1925280"/>
                        </a:moveTo>
                        <a:lnTo>
                          <a:pt x="1690465" y="1925280"/>
                        </a:lnTo>
                        <a:cubicBezTo>
                          <a:pt x="2128308" y="1494735"/>
                          <a:pt x="2741288" y="1410815"/>
                          <a:pt x="2744937" y="1410815"/>
                        </a:cubicBezTo>
                        <a:lnTo>
                          <a:pt x="2814262" y="1403518"/>
                        </a:lnTo>
                        <a:lnTo>
                          <a:pt x="2723045" y="359992"/>
                        </a:lnTo>
                        <a:cubicBezTo>
                          <a:pt x="2752234" y="356344"/>
                          <a:pt x="2777775" y="356344"/>
                          <a:pt x="2799667" y="356344"/>
                        </a:cubicBezTo>
                        <a:lnTo>
                          <a:pt x="2909128" y="1498384"/>
                        </a:lnTo>
                        <a:cubicBezTo>
                          <a:pt x="2701153" y="1505681"/>
                          <a:pt x="2168444" y="1556763"/>
                          <a:pt x="1690465" y="19252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89686E-2005-A7EA-3A26-38182618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C3A78F-9BC5-3CAB-AF70-911654BF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3437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ssign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44F72200-7F3C-EEA4-9885-C6F42B9B2483}"/>
              </a:ext>
            </a:extLst>
          </p:cNvPr>
          <p:cNvSpPr/>
          <p:nvPr/>
        </p:nvSpPr>
        <p:spPr>
          <a:xfrm rot="20412995">
            <a:off x="7862429" y="2724679"/>
            <a:ext cx="2069038" cy="2669727"/>
          </a:xfrm>
          <a:custGeom>
            <a:avLst/>
            <a:gdLst>
              <a:gd name="connsiteX0" fmla="*/ 200230 w 2069038"/>
              <a:gd name="connsiteY0" fmla="*/ 400459 h 2669727"/>
              <a:gd name="connsiteX1" fmla="*/ 567317 w 2069038"/>
              <a:gd name="connsiteY1" fmla="*/ 400459 h 2669727"/>
              <a:gd name="connsiteX2" fmla="*/ 567317 w 2069038"/>
              <a:gd name="connsiteY2" fmla="*/ 600689 h 2669727"/>
              <a:gd name="connsiteX3" fmla="*/ 1034520 w 2069038"/>
              <a:gd name="connsiteY3" fmla="*/ 600689 h 2669727"/>
              <a:gd name="connsiteX4" fmla="*/ 1501722 w 2069038"/>
              <a:gd name="connsiteY4" fmla="*/ 600689 h 2669727"/>
              <a:gd name="connsiteX5" fmla="*/ 1501722 w 2069038"/>
              <a:gd name="connsiteY5" fmla="*/ 400459 h 2669727"/>
              <a:gd name="connsiteX6" fmla="*/ 1868809 w 2069038"/>
              <a:gd name="connsiteY6" fmla="*/ 400459 h 2669727"/>
              <a:gd name="connsiteX7" fmla="*/ 1868809 w 2069038"/>
              <a:gd name="connsiteY7" fmla="*/ 897028 h 2669727"/>
              <a:gd name="connsiteX8" fmla="*/ 1868809 w 2069038"/>
              <a:gd name="connsiteY8" fmla="*/ 1434979 h 2669727"/>
              <a:gd name="connsiteX9" fmla="*/ 1868809 w 2069038"/>
              <a:gd name="connsiteY9" fmla="*/ 1993619 h 2669727"/>
              <a:gd name="connsiteX10" fmla="*/ 1868809 w 2069038"/>
              <a:gd name="connsiteY10" fmla="*/ 2469498 h 2669727"/>
              <a:gd name="connsiteX11" fmla="*/ 1279244 w 2069038"/>
              <a:gd name="connsiteY11" fmla="*/ 2469498 h 2669727"/>
              <a:gd name="connsiteX12" fmla="*/ 689680 w 2069038"/>
              <a:gd name="connsiteY12" fmla="*/ 2469498 h 2669727"/>
              <a:gd name="connsiteX13" fmla="*/ 200230 w 2069038"/>
              <a:gd name="connsiteY13" fmla="*/ 2469498 h 2669727"/>
              <a:gd name="connsiteX14" fmla="*/ 200230 w 2069038"/>
              <a:gd name="connsiteY14" fmla="*/ 1952238 h 2669727"/>
              <a:gd name="connsiteX15" fmla="*/ 200230 w 2069038"/>
              <a:gd name="connsiteY15" fmla="*/ 1476359 h 2669727"/>
              <a:gd name="connsiteX16" fmla="*/ 200230 w 2069038"/>
              <a:gd name="connsiteY16" fmla="*/ 938409 h 2669727"/>
              <a:gd name="connsiteX17" fmla="*/ 200230 w 2069038"/>
              <a:gd name="connsiteY17" fmla="*/ 400459 h 2669727"/>
              <a:gd name="connsiteX18" fmla="*/ 1037857 w 2069038"/>
              <a:gd name="connsiteY18" fmla="*/ 133486 h 2669727"/>
              <a:gd name="connsiteX19" fmla="*/ 1134634 w 2069038"/>
              <a:gd name="connsiteY19" fmla="*/ 233601 h 2669727"/>
              <a:gd name="connsiteX20" fmla="*/ 1034519 w 2069038"/>
              <a:gd name="connsiteY20" fmla="*/ 333716 h 2669727"/>
              <a:gd name="connsiteX21" fmla="*/ 934405 w 2069038"/>
              <a:gd name="connsiteY21" fmla="*/ 233601 h 2669727"/>
              <a:gd name="connsiteX22" fmla="*/ 1037857 w 2069038"/>
              <a:gd name="connsiteY22" fmla="*/ 133486 h 2669727"/>
              <a:gd name="connsiteX23" fmla="*/ 0 w 2069038"/>
              <a:gd name="connsiteY23" fmla="*/ 333716 h 2669727"/>
              <a:gd name="connsiteX24" fmla="*/ 0 w 2069038"/>
              <a:gd name="connsiteY24" fmla="*/ 906373 h 2669727"/>
              <a:gd name="connsiteX25" fmla="*/ 0 w 2069038"/>
              <a:gd name="connsiteY25" fmla="*/ 1479029 h 2669727"/>
              <a:gd name="connsiteX26" fmla="*/ 0 w 2069038"/>
              <a:gd name="connsiteY26" fmla="*/ 2536241 h 2669727"/>
              <a:gd name="connsiteX27" fmla="*/ 133486 w 2069038"/>
              <a:gd name="connsiteY27" fmla="*/ 2669728 h 2669727"/>
              <a:gd name="connsiteX28" fmla="*/ 565982 w 2069038"/>
              <a:gd name="connsiteY28" fmla="*/ 2669728 h 2669727"/>
              <a:gd name="connsiteX29" fmla="*/ 1052540 w 2069038"/>
              <a:gd name="connsiteY29" fmla="*/ 2669728 h 2669727"/>
              <a:gd name="connsiteX30" fmla="*/ 1485036 w 2069038"/>
              <a:gd name="connsiteY30" fmla="*/ 2669728 h 2669727"/>
              <a:gd name="connsiteX31" fmla="*/ 1935553 w 2069038"/>
              <a:gd name="connsiteY31" fmla="*/ 2669728 h 2669727"/>
              <a:gd name="connsiteX32" fmla="*/ 2069039 w 2069038"/>
              <a:gd name="connsiteY32" fmla="*/ 2536241 h 2669727"/>
              <a:gd name="connsiteX33" fmla="*/ 2069039 w 2069038"/>
              <a:gd name="connsiteY33" fmla="*/ 2029660 h 2669727"/>
              <a:gd name="connsiteX34" fmla="*/ 2069039 w 2069038"/>
              <a:gd name="connsiteY34" fmla="*/ 1479029 h 2669727"/>
              <a:gd name="connsiteX35" fmla="*/ 2069039 w 2069038"/>
              <a:gd name="connsiteY35" fmla="*/ 950423 h 2669727"/>
              <a:gd name="connsiteX36" fmla="*/ 2069039 w 2069038"/>
              <a:gd name="connsiteY36" fmla="*/ 333716 h 2669727"/>
              <a:gd name="connsiteX37" fmla="*/ 1935553 w 2069038"/>
              <a:gd name="connsiteY37" fmla="*/ 200230 h 2669727"/>
              <a:gd name="connsiteX38" fmla="*/ 1368235 w 2069038"/>
              <a:gd name="connsiteY38" fmla="*/ 200230 h 2669727"/>
              <a:gd name="connsiteX39" fmla="*/ 1368235 w 2069038"/>
              <a:gd name="connsiteY39" fmla="*/ 133486 h 2669727"/>
              <a:gd name="connsiteX40" fmla="*/ 1234749 w 2069038"/>
              <a:gd name="connsiteY40" fmla="*/ 0 h 2669727"/>
              <a:gd name="connsiteX41" fmla="*/ 834290 w 2069038"/>
              <a:gd name="connsiteY41" fmla="*/ 0 h 2669727"/>
              <a:gd name="connsiteX42" fmla="*/ 700804 w 2069038"/>
              <a:gd name="connsiteY42" fmla="*/ 133486 h 2669727"/>
              <a:gd name="connsiteX43" fmla="*/ 700804 w 2069038"/>
              <a:gd name="connsiteY43" fmla="*/ 200230 h 2669727"/>
              <a:gd name="connsiteX44" fmla="*/ 133486 w 2069038"/>
              <a:gd name="connsiteY44" fmla="*/ 200230 h 2669727"/>
              <a:gd name="connsiteX45" fmla="*/ 0 w 2069038"/>
              <a:gd name="connsiteY45" fmla="*/ 333716 h 266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069038" h="2669727" fill="none" extrusionOk="0">
                <a:moveTo>
                  <a:pt x="200230" y="400459"/>
                </a:moveTo>
                <a:cubicBezTo>
                  <a:pt x="331504" y="392500"/>
                  <a:pt x="431294" y="414105"/>
                  <a:pt x="567317" y="400459"/>
                </a:cubicBezTo>
                <a:cubicBezTo>
                  <a:pt x="578018" y="464598"/>
                  <a:pt x="555258" y="551451"/>
                  <a:pt x="567317" y="600689"/>
                </a:cubicBezTo>
                <a:cubicBezTo>
                  <a:pt x="676719" y="592783"/>
                  <a:pt x="866975" y="652492"/>
                  <a:pt x="1034520" y="600689"/>
                </a:cubicBezTo>
                <a:cubicBezTo>
                  <a:pt x="1202065" y="548886"/>
                  <a:pt x="1348359" y="639516"/>
                  <a:pt x="1501722" y="600689"/>
                </a:cubicBezTo>
                <a:cubicBezTo>
                  <a:pt x="1481702" y="537167"/>
                  <a:pt x="1503451" y="444794"/>
                  <a:pt x="1501722" y="400459"/>
                </a:cubicBezTo>
                <a:cubicBezTo>
                  <a:pt x="1633814" y="397055"/>
                  <a:pt x="1703762" y="440042"/>
                  <a:pt x="1868809" y="400459"/>
                </a:cubicBezTo>
                <a:cubicBezTo>
                  <a:pt x="1872434" y="522654"/>
                  <a:pt x="1847064" y="770577"/>
                  <a:pt x="1868809" y="897028"/>
                </a:cubicBezTo>
                <a:cubicBezTo>
                  <a:pt x="1890554" y="1023479"/>
                  <a:pt x="1852625" y="1290610"/>
                  <a:pt x="1868809" y="1434979"/>
                </a:cubicBezTo>
                <a:cubicBezTo>
                  <a:pt x="1884993" y="1579348"/>
                  <a:pt x="1846482" y="1775395"/>
                  <a:pt x="1868809" y="1993619"/>
                </a:cubicBezTo>
                <a:cubicBezTo>
                  <a:pt x="1891136" y="2211843"/>
                  <a:pt x="1827968" y="2285619"/>
                  <a:pt x="1868809" y="2469498"/>
                </a:cubicBezTo>
                <a:cubicBezTo>
                  <a:pt x="1628850" y="2506616"/>
                  <a:pt x="1471530" y="2409478"/>
                  <a:pt x="1279244" y="2469498"/>
                </a:cubicBezTo>
                <a:cubicBezTo>
                  <a:pt x="1086959" y="2529518"/>
                  <a:pt x="874104" y="2403434"/>
                  <a:pt x="689680" y="2469498"/>
                </a:cubicBezTo>
                <a:cubicBezTo>
                  <a:pt x="505256" y="2535562"/>
                  <a:pt x="368136" y="2447467"/>
                  <a:pt x="200230" y="2469498"/>
                </a:cubicBezTo>
                <a:cubicBezTo>
                  <a:pt x="164062" y="2338030"/>
                  <a:pt x="231336" y="2104675"/>
                  <a:pt x="200230" y="1952238"/>
                </a:cubicBezTo>
                <a:cubicBezTo>
                  <a:pt x="169124" y="1799801"/>
                  <a:pt x="238001" y="1657777"/>
                  <a:pt x="200230" y="1476359"/>
                </a:cubicBezTo>
                <a:cubicBezTo>
                  <a:pt x="162459" y="1294941"/>
                  <a:pt x="202442" y="1093068"/>
                  <a:pt x="200230" y="938409"/>
                </a:cubicBezTo>
                <a:cubicBezTo>
                  <a:pt x="198018" y="783750"/>
                  <a:pt x="245956" y="609701"/>
                  <a:pt x="200230" y="400459"/>
                </a:cubicBezTo>
                <a:close/>
                <a:moveTo>
                  <a:pt x="1037857" y="133486"/>
                </a:moveTo>
                <a:cubicBezTo>
                  <a:pt x="1091609" y="135102"/>
                  <a:pt x="1148731" y="181994"/>
                  <a:pt x="1134634" y="233601"/>
                </a:cubicBezTo>
                <a:cubicBezTo>
                  <a:pt x="1135677" y="291241"/>
                  <a:pt x="1079228" y="323229"/>
                  <a:pt x="1034519" y="333716"/>
                </a:cubicBezTo>
                <a:cubicBezTo>
                  <a:pt x="968080" y="326486"/>
                  <a:pt x="945646" y="296000"/>
                  <a:pt x="934405" y="233601"/>
                </a:cubicBezTo>
                <a:cubicBezTo>
                  <a:pt x="934770" y="174879"/>
                  <a:pt x="991124" y="131140"/>
                  <a:pt x="1037857" y="133486"/>
                </a:cubicBezTo>
                <a:close/>
                <a:moveTo>
                  <a:pt x="0" y="333716"/>
                </a:moveTo>
                <a:cubicBezTo>
                  <a:pt x="18739" y="542892"/>
                  <a:pt x="-57039" y="661785"/>
                  <a:pt x="0" y="906373"/>
                </a:cubicBezTo>
                <a:cubicBezTo>
                  <a:pt x="57039" y="1150961"/>
                  <a:pt x="-25004" y="1274295"/>
                  <a:pt x="0" y="1479029"/>
                </a:cubicBezTo>
                <a:cubicBezTo>
                  <a:pt x="25004" y="1683763"/>
                  <a:pt x="-36118" y="2272109"/>
                  <a:pt x="0" y="2536241"/>
                </a:cubicBezTo>
                <a:cubicBezTo>
                  <a:pt x="-1345" y="2610604"/>
                  <a:pt x="57198" y="2669211"/>
                  <a:pt x="133486" y="2669728"/>
                </a:cubicBezTo>
                <a:cubicBezTo>
                  <a:pt x="299636" y="2638985"/>
                  <a:pt x="388399" y="2718429"/>
                  <a:pt x="565982" y="2669728"/>
                </a:cubicBezTo>
                <a:cubicBezTo>
                  <a:pt x="743565" y="2621027"/>
                  <a:pt x="826998" y="2673968"/>
                  <a:pt x="1052540" y="2669728"/>
                </a:cubicBezTo>
                <a:cubicBezTo>
                  <a:pt x="1278082" y="2665488"/>
                  <a:pt x="1307211" y="2704083"/>
                  <a:pt x="1485036" y="2669728"/>
                </a:cubicBezTo>
                <a:cubicBezTo>
                  <a:pt x="1662861" y="2635373"/>
                  <a:pt x="1844035" y="2670176"/>
                  <a:pt x="1935553" y="2669728"/>
                </a:cubicBezTo>
                <a:cubicBezTo>
                  <a:pt x="2002287" y="2677053"/>
                  <a:pt x="2060880" y="2599866"/>
                  <a:pt x="2069039" y="2536241"/>
                </a:cubicBezTo>
                <a:cubicBezTo>
                  <a:pt x="2032109" y="2330573"/>
                  <a:pt x="2127184" y="2192947"/>
                  <a:pt x="2069039" y="2029660"/>
                </a:cubicBezTo>
                <a:cubicBezTo>
                  <a:pt x="2010894" y="1866373"/>
                  <a:pt x="2087290" y="1625867"/>
                  <a:pt x="2069039" y="1479029"/>
                </a:cubicBezTo>
                <a:cubicBezTo>
                  <a:pt x="2050788" y="1332191"/>
                  <a:pt x="2078881" y="1200190"/>
                  <a:pt x="2069039" y="950423"/>
                </a:cubicBezTo>
                <a:cubicBezTo>
                  <a:pt x="2059197" y="700656"/>
                  <a:pt x="2116412" y="628366"/>
                  <a:pt x="2069039" y="333716"/>
                </a:cubicBezTo>
                <a:cubicBezTo>
                  <a:pt x="2064586" y="260988"/>
                  <a:pt x="2012155" y="205176"/>
                  <a:pt x="1935553" y="200230"/>
                </a:cubicBezTo>
                <a:cubicBezTo>
                  <a:pt x="1716394" y="219179"/>
                  <a:pt x="1499815" y="166873"/>
                  <a:pt x="1368235" y="200230"/>
                </a:cubicBezTo>
                <a:cubicBezTo>
                  <a:pt x="1367672" y="176670"/>
                  <a:pt x="1376179" y="162157"/>
                  <a:pt x="1368235" y="133486"/>
                </a:cubicBezTo>
                <a:cubicBezTo>
                  <a:pt x="1351447" y="54956"/>
                  <a:pt x="1303672" y="3853"/>
                  <a:pt x="1234749" y="0"/>
                </a:cubicBezTo>
                <a:cubicBezTo>
                  <a:pt x="1153463" y="6050"/>
                  <a:pt x="1013187" y="-25151"/>
                  <a:pt x="834290" y="0"/>
                </a:cubicBezTo>
                <a:cubicBezTo>
                  <a:pt x="761472" y="5942"/>
                  <a:pt x="693359" y="58679"/>
                  <a:pt x="700804" y="133486"/>
                </a:cubicBezTo>
                <a:cubicBezTo>
                  <a:pt x="703646" y="166452"/>
                  <a:pt x="698648" y="178107"/>
                  <a:pt x="700804" y="200230"/>
                </a:cubicBezTo>
                <a:cubicBezTo>
                  <a:pt x="457858" y="245006"/>
                  <a:pt x="328178" y="150386"/>
                  <a:pt x="133486" y="200230"/>
                </a:cubicBezTo>
                <a:cubicBezTo>
                  <a:pt x="47775" y="212822"/>
                  <a:pt x="-3878" y="272166"/>
                  <a:pt x="0" y="333716"/>
                </a:cubicBezTo>
                <a:close/>
              </a:path>
              <a:path w="2069038" h="2669727" stroke="0" extrusionOk="0">
                <a:moveTo>
                  <a:pt x="200230" y="400459"/>
                </a:moveTo>
                <a:cubicBezTo>
                  <a:pt x="362634" y="365511"/>
                  <a:pt x="442487" y="422133"/>
                  <a:pt x="567317" y="400459"/>
                </a:cubicBezTo>
                <a:cubicBezTo>
                  <a:pt x="573150" y="454001"/>
                  <a:pt x="544582" y="510375"/>
                  <a:pt x="567317" y="600689"/>
                </a:cubicBezTo>
                <a:cubicBezTo>
                  <a:pt x="773260" y="588168"/>
                  <a:pt x="907415" y="606444"/>
                  <a:pt x="1034520" y="600689"/>
                </a:cubicBezTo>
                <a:cubicBezTo>
                  <a:pt x="1161625" y="594934"/>
                  <a:pt x="1407730" y="646766"/>
                  <a:pt x="1501722" y="600689"/>
                </a:cubicBezTo>
                <a:cubicBezTo>
                  <a:pt x="1492089" y="539980"/>
                  <a:pt x="1504418" y="466320"/>
                  <a:pt x="1501722" y="400459"/>
                </a:cubicBezTo>
                <a:cubicBezTo>
                  <a:pt x="1654497" y="387562"/>
                  <a:pt x="1697827" y="438952"/>
                  <a:pt x="1868809" y="400459"/>
                </a:cubicBezTo>
                <a:cubicBezTo>
                  <a:pt x="1887738" y="550243"/>
                  <a:pt x="1811620" y="795615"/>
                  <a:pt x="1868809" y="897028"/>
                </a:cubicBezTo>
                <a:cubicBezTo>
                  <a:pt x="1925998" y="998441"/>
                  <a:pt x="1848708" y="1263335"/>
                  <a:pt x="1868809" y="1393598"/>
                </a:cubicBezTo>
                <a:cubicBezTo>
                  <a:pt x="1888910" y="1523861"/>
                  <a:pt x="1826243" y="1685482"/>
                  <a:pt x="1868809" y="1848786"/>
                </a:cubicBezTo>
                <a:cubicBezTo>
                  <a:pt x="1911375" y="2012090"/>
                  <a:pt x="1827358" y="2289948"/>
                  <a:pt x="1868809" y="2469498"/>
                </a:cubicBezTo>
                <a:cubicBezTo>
                  <a:pt x="1688750" y="2482031"/>
                  <a:pt x="1484466" y="2411267"/>
                  <a:pt x="1329302" y="2469498"/>
                </a:cubicBezTo>
                <a:cubicBezTo>
                  <a:pt x="1174138" y="2527729"/>
                  <a:pt x="973597" y="2431724"/>
                  <a:pt x="773109" y="2469498"/>
                </a:cubicBezTo>
                <a:cubicBezTo>
                  <a:pt x="572621" y="2507272"/>
                  <a:pt x="334585" y="2433791"/>
                  <a:pt x="200230" y="2469498"/>
                </a:cubicBezTo>
                <a:cubicBezTo>
                  <a:pt x="187569" y="2288574"/>
                  <a:pt x="262604" y="2168459"/>
                  <a:pt x="200230" y="1910857"/>
                </a:cubicBezTo>
                <a:cubicBezTo>
                  <a:pt x="137856" y="1653255"/>
                  <a:pt x="235204" y="1601962"/>
                  <a:pt x="200230" y="1455669"/>
                </a:cubicBezTo>
                <a:cubicBezTo>
                  <a:pt x="165256" y="1309376"/>
                  <a:pt x="224163" y="1105452"/>
                  <a:pt x="200230" y="979790"/>
                </a:cubicBezTo>
                <a:cubicBezTo>
                  <a:pt x="176297" y="854128"/>
                  <a:pt x="230894" y="554632"/>
                  <a:pt x="200230" y="400459"/>
                </a:cubicBezTo>
                <a:close/>
                <a:moveTo>
                  <a:pt x="1037857" y="133486"/>
                </a:moveTo>
                <a:cubicBezTo>
                  <a:pt x="1078331" y="140169"/>
                  <a:pt x="1132384" y="194125"/>
                  <a:pt x="1134634" y="233601"/>
                </a:cubicBezTo>
                <a:cubicBezTo>
                  <a:pt x="1139261" y="274343"/>
                  <a:pt x="1095398" y="331641"/>
                  <a:pt x="1034519" y="333716"/>
                </a:cubicBezTo>
                <a:cubicBezTo>
                  <a:pt x="990513" y="327961"/>
                  <a:pt x="930199" y="292652"/>
                  <a:pt x="934405" y="233601"/>
                </a:cubicBezTo>
                <a:cubicBezTo>
                  <a:pt x="943804" y="168159"/>
                  <a:pt x="994508" y="130777"/>
                  <a:pt x="1037857" y="133486"/>
                </a:cubicBezTo>
                <a:close/>
                <a:moveTo>
                  <a:pt x="0" y="333716"/>
                </a:moveTo>
                <a:cubicBezTo>
                  <a:pt x="42522" y="580333"/>
                  <a:pt x="-67074" y="631967"/>
                  <a:pt x="0" y="906373"/>
                </a:cubicBezTo>
                <a:cubicBezTo>
                  <a:pt x="67074" y="1180779"/>
                  <a:pt x="-10593" y="1283010"/>
                  <a:pt x="0" y="1390928"/>
                </a:cubicBezTo>
                <a:cubicBezTo>
                  <a:pt x="10593" y="1498847"/>
                  <a:pt x="-64750" y="1680468"/>
                  <a:pt x="0" y="1941559"/>
                </a:cubicBezTo>
                <a:cubicBezTo>
                  <a:pt x="64750" y="2202650"/>
                  <a:pt x="-37659" y="2279862"/>
                  <a:pt x="0" y="2536241"/>
                </a:cubicBezTo>
                <a:cubicBezTo>
                  <a:pt x="4328" y="2627906"/>
                  <a:pt x="59413" y="2658851"/>
                  <a:pt x="133486" y="2669728"/>
                </a:cubicBezTo>
                <a:cubicBezTo>
                  <a:pt x="222399" y="2654100"/>
                  <a:pt x="469123" y="2710538"/>
                  <a:pt x="565982" y="2669728"/>
                </a:cubicBezTo>
                <a:cubicBezTo>
                  <a:pt x="662841" y="2628918"/>
                  <a:pt x="894069" y="2717029"/>
                  <a:pt x="998478" y="2669728"/>
                </a:cubicBezTo>
                <a:cubicBezTo>
                  <a:pt x="1102887" y="2622427"/>
                  <a:pt x="1271169" y="2677338"/>
                  <a:pt x="1412954" y="2669728"/>
                </a:cubicBezTo>
                <a:cubicBezTo>
                  <a:pt x="1554739" y="2662118"/>
                  <a:pt x="1757833" y="2725890"/>
                  <a:pt x="1935553" y="2669728"/>
                </a:cubicBezTo>
                <a:cubicBezTo>
                  <a:pt x="2014260" y="2680494"/>
                  <a:pt x="2067165" y="2610314"/>
                  <a:pt x="2069039" y="2536241"/>
                </a:cubicBezTo>
                <a:cubicBezTo>
                  <a:pt x="2046930" y="2375547"/>
                  <a:pt x="2115314" y="2146616"/>
                  <a:pt x="2069039" y="2007635"/>
                </a:cubicBezTo>
                <a:cubicBezTo>
                  <a:pt x="2022764" y="1868654"/>
                  <a:pt x="2098007" y="1704731"/>
                  <a:pt x="2069039" y="1501054"/>
                </a:cubicBezTo>
                <a:cubicBezTo>
                  <a:pt x="2040071" y="1297377"/>
                  <a:pt x="2133612" y="1075364"/>
                  <a:pt x="2069039" y="950423"/>
                </a:cubicBezTo>
                <a:cubicBezTo>
                  <a:pt x="2004466" y="825482"/>
                  <a:pt x="2117728" y="494218"/>
                  <a:pt x="2069039" y="333716"/>
                </a:cubicBezTo>
                <a:cubicBezTo>
                  <a:pt x="2077665" y="265342"/>
                  <a:pt x="2006030" y="197578"/>
                  <a:pt x="1935553" y="200230"/>
                </a:cubicBezTo>
                <a:cubicBezTo>
                  <a:pt x="1810432" y="230284"/>
                  <a:pt x="1541320" y="148817"/>
                  <a:pt x="1368235" y="200230"/>
                </a:cubicBezTo>
                <a:cubicBezTo>
                  <a:pt x="1360315" y="167405"/>
                  <a:pt x="1374765" y="164285"/>
                  <a:pt x="1368235" y="133486"/>
                </a:cubicBezTo>
                <a:cubicBezTo>
                  <a:pt x="1365618" y="62810"/>
                  <a:pt x="1312260" y="-5868"/>
                  <a:pt x="1234749" y="0"/>
                </a:cubicBezTo>
                <a:cubicBezTo>
                  <a:pt x="1106096" y="45303"/>
                  <a:pt x="1008619" y="-10864"/>
                  <a:pt x="834290" y="0"/>
                </a:cubicBezTo>
                <a:cubicBezTo>
                  <a:pt x="742665" y="-1863"/>
                  <a:pt x="691862" y="54870"/>
                  <a:pt x="700804" y="133486"/>
                </a:cubicBezTo>
                <a:cubicBezTo>
                  <a:pt x="705383" y="147434"/>
                  <a:pt x="698133" y="168343"/>
                  <a:pt x="700804" y="200230"/>
                </a:cubicBezTo>
                <a:cubicBezTo>
                  <a:pt x="434548" y="254624"/>
                  <a:pt x="361408" y="193235"/>
                  <a:pt x="133486" y="200230"/>
                </a:cubicBezTo>
                <a:cubicBezTo>
                  <a:pt x="61930" y="217086"/>
                  <a:pt x="21946" y="261911"/>
                  <a:pt x="0" y="33371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715572637">
                  <a:custGeom>
                    <a:avLst/>
                    <a:gdLst>
                      <a:gd name="connsiteX0" fmla="*/ 200230 w 2069038"/>
                      <a:gd name="connsiteY0" fmla="*/ 400459 h 2669727"/>
                      <a:gd name="connsiteX1" fmla="*/ 567317 w 2069038"/>
                      <a:gd name="connsiteY1" fmla="*/ 400459 h 2669727"/>
                      <a:gd name="connsiteX2" fmla="*/ 567317 w 2069038"/>
                      <a:gd name="connsiteY2" fmla="*/ 600689 h 2669727"/>
                      <a:gd name="connsiteX3" fmla="*/ 1501722 w 2069038"/>
                      <a:gd name="connsiteY3" fmla="*/ 600689 h 2669727"/>
                      <a:gd name="connsiteX4" fmla="*/ 1501722 w 2069038"/>
                      <a:gd name="connsiteY4" fmla="*/ 400459 h 2669727"/>
                      <a:gd name="connsiteX5" fmla="*/ 1868809 w 2069038"/>
                      <a:gd name="connsiteY5" fmla="*/ 400459 h 2669727"/>
                      <a:gd name="connsiteX6" fmla="*/ 1868809 w 2069038"/>
                      <a:gd name="connsiteY6" fmla="*/ 2469498 h 2669727"/>
                      <a:gd name="connsiteX7" fmla="*/ 200230 w 2069038"/>
                      <a:gd name="connsiteY7" fmla="*/ 2469498 h 2669727"/>
                      <a:gd name="connsiteX8" fmla="*/ 200230 w 2069038"/>
                      <a:gd name="connsiteY8" fmla="*/ 400459 h 2669727"/>
                      <a:gd name="connsiteX9" fmla="*/ 1037857 w 2069038"/>
                      <a:gd name="connsiteY9" fmla="*/ 133486 h 2669727"/>
                      <a:gd name="connsiteX10" fmla="*/ 1134634 w 2069038"/>
                      <a:gd name="connsiteY10" fmla="*/ 233601 h 2669727"/>
                      <a:gd name="connsiteX11" fmla="*/ 1034519 w 2069038"/>
                      <a:gd name="connsiteY11" fmla="*/ 333716 h 2669727"/>
                      <a:gd name="connsiteX12" fmla="*/ 934405 w 2069038"/>
                      <a:gd name="connsiteY12" fmla="*/ 233601 h 2669727"/>
                      <a:gd name="connsiteX13" fmla="*/ 1037857 w 2069038"/>
                      <a:gd name="connsiteY13" fmla="*/ 133486 h 2669727"/>
                      <a:gd name="connsiteX14" fmla="*/ 0 w 2069038"/>
                      <a:gd name="connsiteY14" fmla="*/ 333716 h 2669727"/>
                      <a:gd name="connsiteX15" fmla="*/ 0 w 2069038"/>
                      <a:gd name="connsiteY15" fmla="*/ 2536241 h 2669727"/>
                      <a:gd name="connsiteX16" fmla="*/ 133486 w 2069038"/>
                      <a:gd name="connsiteY16" fmla="*/ 2669728 h 2669727"/>
                      <a:gd name="connsiteX17" fmla="*/ 1935553 w 2069038"/>
                      <a:gd name="connsiteY17" fmla="*/ 2669728 h 2669727"/>
                      <a:gd name="connsiteX18" fmla="*/ 2069039 w 2069038"/>
                      <a:gd name="connsiteY18" fmla="*/ 2536241 h 2669727"/>
                      <a:gd name="connsiteX19" fmla="*/ 2069039 w 2069038"/>
                      <a:gd name="connsiteY19" fmla="*/ 333716 h 2669727"/>
                      <a:gd name="connsiteX20" fmla="*/ 1935553 w 2069038"/>
                      <a:gd name="connsiteY20" fmla="*/ 200230 h 2669727"/>
                      <a:gd name="connsiteX21" fmla="*/ 1368235 w 2069038"/>
                      <a:gd name="connsiteY21" fmla="*/ 200230 h 2669727"/>
                      <a:gd name="connsiteX22" fmla="*/ 1368235 w 2069038"/>
                      <a:gd name="connsiteY22" fmla="*/ 133486 h 2669727"/>
                      <a:gd name="connsiteX23" fmla="*/ 1234749 w 2069038"/>
                      <a:gd name="connsiteY23" fmla="*/ 0 h 2669727"/>
                      <a:gd name="connsiteX24" fmla="*/ 834290 w 2069038"/>
                      <a:gd name="connsiteY24" fmla="*/ 0 h 2669727"/>
                      <a:gd name="connsiteX25" fmla="*/ 700804 w 2069038"/>
                      <a:gd name="connsiteY25" fmla="*/ 133486 h 2669727"/>
                      <a:gd name="connsiteX26" fmla="*/ 700804 w 2069038"/>
                      <a:gd name="connsiteY26" fmla="*/ 200230 h 2669727"/>
                      <a:gd name="connsiteX27" fmla="*/ 133486 w 2069038"/>
                      <a:gd name="connsiteY27" fmla="*/ 200230 h 2669727"/>
                      <a:gd name="connsiteX28" fmla="*/ 0 w 2069038"/>
                      <a:gd name="connsiteY28" fmla="*/ 333716 h 26697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2069038" h="2669727">
                        <a:moveTo>
                          <a:pt x="200230" y="400459"/>
                        </a:moveTo>
                        <a:lnTo>
                          <a:pt x="567317" y="400459"/>
                        </a:lnTo>
                        <a:lnTo>
                          <a:pt x="567317" y="600689"/>
                        </a:lnTo>
                        <a:lnTo>
                          <a:pt x="1501722" y="600689"/>
                        </a:lnTo>
                        <a:lnTo>
                          <a:pt x="1501722" y="400459"/>
                        </a:lnTo>
                        <a:lnTo>
                          <a:pt x="1868809" y="400459"/>
                        </a:lnTo>
                        <a:lnTo>
                          <a:pt x="1868809" y="2469498"/>
                        </a:lnTo>
                        <a:lnTo>
                          <a:pt x="200230" y="2469498"/>
                        </a:lnTo>
                        <a:lnTo>
                          <a:pt x="200230" y="400459"/>
                        </a:lnTo>
                        <a:close/>
                        <a:moveTo>
                          <a:pt x="1037857" y="133486"/>
                        </a:moveTo>
                        <a:cubicBezTo>
                          <a:pt x="1091251" y="133486"/>
                          <a:pt x="1134634" y="180207"/>
                          <a:pt x="1134634" y="233601"/>
                        </a:cubicBezTo>
                        <a:cubicBezTo>
                          <a:pt x="1134634" y="290333"/>
                          <a:pt x="1091251" y="333716"/>
                          <a:pt x="1034519" y="333716"/>
                        </a:cubicBezTo>
                        <a:cubicBezTo>
                          <a:pt x="977788" y="333716"/>
                          <a:pt x="934405" y="290333"/>
                          <a:pt x="934405" y="233601"/>
                        </a:cubicBezTo>
                        <a:cubicBezTo>
                          <a:pt x="934405" y="176869"/>
                          <a:pt x="977788" y="133486"/>
                          <a:pt x="1037857" y="133486"/>
                        </a:cubicBezTo>
                        <a:close/>
                        <a:moveTo>
                          <a:pt x="0" y="333716"/>
                        </a:moveTo>
                        <a:lnTo>
                          <a:pt x="0" y="2536241"/>
                        </a:lnTo>
                        <a:cubicBezTo>
                          <a:pt x="0" y="2609659"/>
                          <a:pt x="60069" y="2669728"/>
                          <a:pt x="133486" y="2669728"/>
                        </a:cubicBezTo>
                        <a:lnTo>
                          <a:pt x="1935553" y="2669728"/>
                        </a:lnTo>
                        <a:cubicBezTo>
                          <a:pt x="2008970" y="2669728"/>
                          <a:pt x="2069039" y="2609659"/>
                          <a:pt x="2069039" y="2536241"/>
                        </a:cubicBezTo>
                        <a:lnTo>
                          <a:pt x="2069039" y="333716"/>
                        </a:lnTo>
                        <a:cubicBezTo>
                          <a:pt x="2069039" y="260298"/>
                          <a:pt x="2008970" y="200230"/>
                          <a:pt x="1935553" y="200230"/>
                        </a:cubicBezTo>
                        <a:lnTo>
                          <a:pt x="1368235" y="200230"/>
                        </a:lnTo>
                        <a:lnTo>
                          <a:pt x="1368235" y="133486"/>
                        </a:lnTo>
                        <a:cubicBezTo>
                          <a:pt x="1368235" y="60069"/>
                          <a:pt x="1308167" y="0"/>
                          <a:pt x="1234749" y="0"/>
                        </a:cubicBezTo>
                        <a:lnTo>
                          <a:pt x="834290" y="0"/>
                        </a:lnTo>
                        <a:cubicBezTo>
                          <a:pt x="760872" y="0"/>
                          <a:pt x="700804" y="60069"/>
                          <a:pt x="700804" y="133486"/>
                        </a:cubicBezTo>
                        <a:lnTo>
                          <a:pt x="700804" y="200230"/>
                        </a:lnTo>
                        <a:lnTo>
                          <a:pt x="133486" y="200230"/>
                        </a:lnTo>
                        <a:cubicBezTo>
                          <a:pt x="60069" y="200230"/>
                          <a:pt x="0" y="260298"/>
                          <a:pt x="0" y="33371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B2CA2A27-9C2A-002B-9BBC-3AB0690877DA}"/>
              </a:ext>
            </a:extLst>
          </p:cNvPr>
          <p:cNvSpPr/>
          <p:nvPr/>
        </p:nvSpPr>
        <p:spPr>
          <a:xfrm rot="20412995">
            <a:off x="8148027" y="3734576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76808" y="-26191"/>
                  <a:pt x="354241" y="58122"/>
                  <a:pt x="567317" y="0"/>
                </a:cubicBezTo>
                <a:cubicBezTo>
                  <a:pt x="576499" y="64274"/>
                  <a:pt x="563340" y="96630"/>
                  <a:pt x="567317" y="133486"/>
                </a:cubicBezTo>
                <a:cubicBezTo>
                  <a:pt x="354192" y="164628"/>
                  <a:pt x="141129" y="132539"/>
                  <a:pt x="0" y="133486"/>
                </a:cubicBezTo>
                <a:cubicBezTo>
                  <a:pt x="-1865" y="67905"/>
                  <a:pt x="516" y="57981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189555" y="-52624"/>
                  <a:pt x="408381" y="17227"/>
                  <a:pt x="567317" y="0"/>
                </a:cubicBezTo>
                <a:cubicBezTo>
                  <a:pt x="576985" y="27318"/>
                  <a:pt x="553371" y="89222"/>
                  <a:pt x="567317" y="133486"/>
                </a:cubicBezTo>
                <a:cubicBezTo>
                  <a:pt x="355435" y="189209"/>
                  <a:pt x="271286" y="92796"/>
                  <a:pt x="0" y="133486"/>
                </a:cubicBezTo>
                <a:cubicBezTo>
                  <a:pt x="-2634" y="73534"/>
                  <a:pt x="11602" y="53087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52241586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52A7782E-6D1F-3D9F-A759-F1CB6FEE9DCE}"/>
              </a:ext>
            </a:extLst>
          </p:cNvPr>
          <p:cNvSpPr/>
          <p:nvPr/>
        </p:nvSpPr>
        <p:spPr>
          <a:xfrm rot="20412995">
            <a:off x="8283569" y="4111399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04354" y="-51628"/>
                  <a:pt x="395023" y="48542"/>
                  <a:pt x="567317" y="0"/>
                </a:cubicBezTo>
                <a:cubicBezTo>
                  <a:pt x="578529" y="38322"/>
                  <a:pt x="555153" y="69908"/>
                  <a:pt x="567317" y="133486"/>
                </a:cubicBezTo>
                <a:cubicBezTo>
                  <a:pt x="287635" y="177719"/>
                  <a:pt x="156829" y="100946"/>
                  <a:pt x="0" y="133486"/>
                </a:cubicBezTo>
                <a:cubicBezTo>
                  <a:pt x="-8683" y="81143"/>
                  <a:pt x="439" y="63467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23485" y="-37774"/>
                  <a:pt x="400755" y="44198"/>
                  <a:pt x="567317" y="0"/>
                </a:cubicBezTo>
                <a:cubicBezTo>
                  <a:pt x="572800" y="27743"/>
                  <a:pt x="558156" y="79807"/>
                  <a:pt x="567317" y="133486"/>
                </a:cubicBezTo>
                <a:cubicBezTo>
                  <a:pt x="296752" y="136899"/>
                  <a:pt x="255912" y="128799"/>
                  <a:pt x="0" y="133486"/>
                </a:cubicBezTo>
                <a:cubicBezTo>
                  <a:pt x="-3701" y="104570"/>
                  <a:pt x="5976" y="32346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410685778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C9B8C365-9DA5-826E-28B8-D5A83401D2A9}"/>
              </a:ext>
            </a:extLst>
          </p:cNvPr>
          <p:cNvSpPr/>
          <p:nvPr/>
        </p:nvSpPr>
        <p:spPr>
          <a:xfrm rot="20412995">
            <a:off x="8419111" y="4488222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10589" y="-29848"/>
                  <a:pt x="340085" y="49705"/>
                  <a:pt x="567317" y="0"/>
                </a:cubicBezTo>
                <a:cubicBezTo>
                  <a:pt x="569675" y="46030"/>
                  <a:pt x="562172" y="97340"/>
                  <a:pt x="567317" y="133486"/>
                </a:cubicBezTo>
                <a:cubicBezTo>
                  <a:pt x="423654" y="189822"/>
                  <a:pt x="186995" y="100775"/>
                  <a:pt x="0" y="133486"/>
                </a:cubicBezTo>
                <a:cubicBezTo>
                  <a:pt x="-3438" y="73557"/>
                  <a:pt x="7475" y="44744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10892" y="-11762"/>
                  <a:pt x="307332" y="7977"/>
                  <a:pt x="567317" y="0"/>
                </a:cubicBezTo>
                <a:cubicBezTo>
                  <a:pt x="572554" y="33977"/>
                  <a:pt x="556685" y="74786"/>
                  <a:pt x="567317" y="133486"/>
                </a:cubicBezTo>
                <a:cubicBezTo>
                  <a:pt x="417251" y="138958"/>
                  <a:pt x="128404" y="111922"/>
                  <a:pt x="0" y="133486"/>
                </a:cubicBezTo>
                <a:cubicBezTo>
                  <a:pt x="-11373" y="73159"/>
                  <a:pt x="12106" y="58677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65775070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29A7299-82D1-3B1D-3078-29FE8A90B458}"/>
              </a:ext>
            </a:extLst>
          </p:cNvPr>
          <p:cNvSpPr/>
          <p:nvPr/>
        </p:nvSpPr>
        <p:spPr>
          <a:xfrm rot="20412995">
            <a:off x="8554652" y="4865046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145232" y="-32387"/>
                  <a:pt x="337019" y="60257"/>
                  <a:pt x="567317" y="0"/>
                </a:cubicBezTo>
                <a:cubicBezTo>
                  <a:pt x="571097" y="54359"/>
                  <a:pt x="560746" y="98676"/>
                  <a:pt x="567317" y="133486"/>
                </a:cubicBezTo>
                <a:cubicBezTo>
                  <a:pt x="442719" y="137595"/>
                  <a:pt x="179818" y="104682"/>
                  <a:pt x="0" y="133486"/>
                </a:cubicBezTo>
                <a:cubicBezTo>
                  <a:pt x="-3165" y="73413"/>
                  <a:pt x="8032" y="55106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72840" y="-27899"/>
                  <a:pt x="341997" y="16005"/>
                  <a:pt x="567317" y="0"/>
                </a:cubicBezTo>
                <a:cubicBezTo>
                  <a:pt x="578875" y="48559"/>
                  <a:pt x="553005" y="69537"/>
                  <a:pt x="567317" y="133486"/>
                </a:cubicBezTo>
                <a:cubicBezTo>
                  <a:pt x="398979" y="174415"/>
                  <a:pt x="264581" y="122771"/>
                  <a:pt x="0" y="133486"/>
                </a:cubicBezTo>
                <a:cubicBezTo>
                  <a:pt x="-15338" y="89558"/>
                  <a:pt x="3062" y="32808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15096418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3C505E7C-DECE-575B-C3C1-7A218D0A18E8}"/>
              </a:ext>
            </a:extLst>
          </p:cNvPr>
          <p:cNvSpPr/>
          <p:nvPr/>
        </p:nvSpPr>
        <p:spPr>
          <a:xfrm rot="20412995">
            <a:off x="9323914" y="4172730"/>
            <a:ext cx="233601" cy="233601"/>
          </a:xfrm>
          <a:custGeom>
            <a:avLst/>
            <a:gdLst>
              <a:gd name="connsiteX0" fmla="*/ 0 w 233601"/>
              <a:gd name="connsiteY0" fmla="*/ 0 h 233601"/>
              <a:gd name="connsiteX1" fmla="*/ 233601 w 233601"/>
              <a:gd name="connsiteY1" fmla="*/ 0 h 233601"/>
              <a:gd name="connsiteX2" fmla="*/ 233601 w 233601"/>
              <a:gd name="connsiteY2" fmla="*/ 233601 h 233601"/>
              <a:gd name="connsiteX3" fmla="*/ 0 w 233601"/>
              <a:gd name="connsiteY3" fmla="*/ 233601 h 233601"/>
              <a:gd name="connsiteX4" fmla="*/ 0 w 233601"/>
              <a:gd name="connsiteY4" fmla="*/ 0 h 233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01" h="233601" fill="none" extrusionOk="0">
                <a:moveTo>
                  <a:pt x="0" y="0"/>
                </a:moveTo>
                <a:cubicBezTo>
                  <a:pt x="87293" y="-2843"/>
                  <a:pt x="184753" y="26596"/>
                  <a:pt x="233601" y="0"/>
                </a:cubicBezTo>
                <a:cubicBezTo>
                  <a:pt x="246764" y="85030"/>
                  <a:pt x="221868" y="173824"/>
                  <a:pt x="233601" y="233601"/>
                </a:cubicBezTo>
                <a:cubicBezTo>
                  <a:pt x="137838" y="255577"/>
                  <a:pt x="105673" y="210735"/>
                  <a:pt x="0" y="233601"/>
                </a:cubicBezTo>
                <a:cubicBezTo>
                  <a:pt x="-19464" y="148529"/>
                  <a:pt x="7044" y="94320"/>
                  <a:pt x="0" y="0"/>
                </a:cubicBezTo>
                <a:close/>
              </a:path>
              <a:path w="233601" h="233601" stroke="0" extrusionOk="0">
                <a:moveTo>
                  <a:pt x="0" y="0"/>
                </a:moveTo>
                <a:cubicBezTo>
                  <a:pt x="102598" y="-22948"/>
                  <a:pt x="118428" y="9210"/>
                  <a:pt x="233601" y="0"/>
                </a:cubicBezTo>
                <a:cubicBezTo>
                  <a:pt x="246796" y="84314"/>
                  <a:pt x="211166" y="169724"/>
                  <a:pt x="233601" y="233601"/>
                </a:cubicBezTo>
                <a:cubicBezTo>
                  <a:pt x="166796" y="254534"/>
                  <a:pt x="57267" y="207498"/>
                  <a:pt x="0" y="233601"/>
                </a:cubicBezTo>
                <a:cubicBezTo>
                  <a:pt x="-7547" y="186769"/>
                  <a:pt x="18053" y="79552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682945563">
                  <a:custGeom>
                    <a:avLst/>
                    <a:gdLst>
                      <a:gd name="connsiteX0" fmla="*/ 0 w 233601"/>
                      <a:gd name="connsiteY0" fmla="*/ 0 h 233601"/>
                      <a:gd name="connsiteX1" fmla="*/ 233601 w 233601"/>
                      <a:gd name="connsiteY1" fmla="*/ 0 h 233601"/>
                      <a:gd name="connsiteX2" fmla="*/ 233601 w 233601"/>
                      <a:gd name="connsiteY2" fmla="*/ 233601 h 233601"/>
                      <a:gd name="connsiteX3" fmla="*/ 0 w 233601"/>
                      <a:gd name="connsiteY3" fmla="*/ 233601 h 233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3601" h="233601">
                        <a:moveTo>
                          <a:pt x="0" y="0"/>
                        </a:moveTo>
                        <a:lnTo>
                          <a:pt x="233601" y="0"/>
                        </a:lnTo>
                        <a:lnTo>
                          <a:pt x="233601" y="233601"/>
                        </a:lnTo>
                        <a:lnTo>
                          <a:pt x="0" y="233601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BB223642-C631-F7EB-B104-8427DA26ADEF}"/>
              </a:ext>
            </a:extLst>
          </p:cNvPr>
          <p:cNvSpPr/>
          <p:nvPr/>
        </p:nvSpPr>
        <p:spPr>
          <a:xfrm rot="20412995">
            <a:off x="9459456" y="4549553"/>
            <a:ext cx="233601" cy="233601"/>
          </a:xfrm>
          <a:custGeom>
            <a:avLst/>
            <a:gdLst>
              <a:gd name="connsiteX0" fmla="*/ 0 w 233601"/>
              <a:gd name="connsiteY0" fmla="*/ 0 h 233601"/>
              <a:gd name="connsiteX1" fmla="*/ 233601 w 233601"/>
              <a:gd name="connsiteY1" fmla="*/ 0 h 233601"/>
              <a:gd name="connsiteX2" fmla="*/ 233601 w 233601"/>
              <a:gd name="connsiteY2" fmla="*/ 233601 h 233601"/>
              <a:gd name="connsiteX3" fmla="*/ 0 w 233601"/>
              <a:gd name="connsiteY3" fmla="*/ 233601 h 233601"/>
              <a:gd name="connsiteX4" fmla="*/ 0 w 233601"/>
              <a:gd name="connsiteY4" fmla="*/ 0 h 233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01" h="233601" fill="none" extrusionOk="0">
                <a:moveTo>
                  <a:pt x="0" y="0"/>
                </a:moveTo>
                <a:cubicBezTo>
                  <a:pt x="112084" y="-4756"/>
                  <a:pt x="138917" y="12507"/>
                  <a:pt x="233601" y="0"/>
                </a:cubicBezTo>
                <a:cubicBezTo>
                  <a:pt x="252433" y="93373"/>
                  <a:pt x="229744" y="163227"/>
                  <a:pt x="233601" y="233601"/>
                </a:cubicBezTo>
                <a:cubicBezTo>
                  <a:pt x="167092" y="246098"/>
                  <a:pt x="64875" y="211825"/>
                  <a:pt x="0" y="233601"/>
                </a:cubicBezTo>
                <a:cubicBezTo>
                  <a:pt x="-17853" y="144865"/>
                  <a:pt x="19785" y="68531"/>
                  <a:pt x="0" y="0"/>
                </a:cubicBezTo>
                <a:close/>
              </a:path>
              <a:path w="233601" h="233601" stroke="0" extrusionOk="0">
                <a:moveTo>
                  <a:pt x="0" y="0"/>
                </a:moveTo>
                <a:cubicBezTo>
                  <a:pt x="90696" y="-24410"/>
                  <a:pt x="166778" y="20063"/>
                  <a:pt x="233601" y="0"/>
                </a:cubicBezTo>
                <a:cubicBezTo>
                  <a:pt x="245792" y="49778"/>
                  <a:pt x="213312" y="153585"/>
                  <a:pt x="233601" y="233601"/>
                </a:cubicBezTo>
                <a:cubicBezTo>
                  <a:pt x="159560" y="253293"/>
                  <a:pt x="65596" y="208229"/>
                  <a:pt x="0" y="233601"/>
                </a:cubicBezTo>
                <a:cubicBezTo>
                  <a:pt x="-10991" y="161213"/>
                  <a:pt x="18945" y="84560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525699750">
                  <a:custGeom>
                    <a:avLst/>
                    <a:gdLst>
                      <a:gd name="connsiteX0" fmla="*/ 0 w 233601"/>
                      <a:gd name="connsiteY0" fmla="*/ 0 h 233601"/>
                      <a:gd name="connsiteX1" fmla="*/ 233601 w 233601"/>
                      <a:gd name="connsiteY1" fmla="*/ 0 h 233601"/>
                      <a:gd name="connsiteX2" fmla="*/ 233601 w 233601"/>
                      <a:gd name="connsiteY2" fmla="*/ 233601 h 233601"/>
                      <a:gd name="connsiteX3" fmla="*/ 0 w 233601"/>
                      <a:gd name="connsiteY3" fmla="*/ 233601 h 233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3601" h="233601">
                        <a:moveTo>
                          <a:pt x="0" y="0"/>
                        </a:moveTo>
                        <a:lnTo>
                          <a:pt x="233601" y="0"/>
                        </a:lnTo>
                        <a:lnTo>
                          <a:pt x="233601" y="233601"/>
                        </a:lnTo>
                        <a:lnTo>
                          <a:pt x="0" y="233601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72BA2E5F-3341-4575-91CA-F8B5C1D7A3C8}"/>
              </a:ext>
            </a:extLst>
          </p:cNvPr>
          <p:cNvSpPr/>
          <p:nvPr/>
        </p:nvSpPr>
        <p:spPr>
          <a:xfrm rot="20412995">
            <a:off x="8891914" y="3343228"/>
            <a:ext cx="447179" cy="360413"/>
          </a:xfrm>
          <a:custGeom>
            <a:avLst/>
            <a:gdLst>
              <a:gd name="connsiteX0" fmla="*/ 0 w 447179"/>
              <a:gd name="connsiteY0" fmla="*/ 203567 h 360413"/>
              <a:gd name="connsiteX1" fmla="*/ 70080 w 447179"/>
              <a:gd name="connsiteY1" fmla="*/ 133486 h 360413"/>
              <a:gd name="connsiteX2" fmla="*/ 156846 w 447179"/>
              <a:gd name="connsiteY2" fmla="*/ 220252 h 360413"/>
              <a:gd name="connsiteX3" fmla="*/ 377099 w 447179"/>
              <a:gd name="connsiteY3" fmla="*/ 0 h 360413"/>
              <a:gd name="connsiteX4" fmla="*/ 447179 w 447179"/>
              <a:gd name="connsiteY4" fmla="*/ 70080 h 360413"/>
              <a:gd name="connsiteX5" fmla="*/ 156846 w 447179"/>
              <a:gd name="connsiteY5" fmla="*/ 360413 h 360413"/>
              <a:gd name="connsiteX6" fmla="*/ 0 w 447179"/>
              <a:gd name="connsiteY6" fmla="*/ 203567 h 36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179" h="360413" fill="none" extrusionOk="0">
                <a:moveTo>
                  <a:pt x="0" y="203567"/>
                </a:moveTo>
                <a:cubicBezTo>
                  <a:pt x="12209" y="185724"/>
                  <a:pt x="50177" y="162799"/>
                  <a:pt x="70080" y="133486"/>
                </a:cubicBezTo>
                <a:cubicBezTo>
                  <a:pt x="110136" y="166986"/>
                  <a:pt x="112822" y="178658"/>
                  <a:pt x="156846" y="220252"/>
                </a:cubicBezTo>
                <a:cubicBezTo>
                  <a:pt x="256087" y="119837"/>
                  <a:pt x="335866" y="52804"/>
                  <a:pt x="377099" y="0"/>
                </a:cubicBezTo>
                <a:cubicBezTo>
                  <a:pt x="410470" y="30228"/>
                  <a:pt x="414679" y="45840"/>
                  <a:pt x="447179" y="70080"/>
                </a:cubicBezTo>
                <a:cubicBezTo>
                  <a:pt x="401685" y="175183"/>
                  <a:pt x="208679" y="252264"/>
                  <a:pt x="156846" y="360413"/>
                </a:cubicBezTo>
                <a:cubicBezTo>
                  <a:pt x="83027" y="315320"/>
                  <a:pt x="42225" y="235964"/>
                  <a:pt x="0" y="203567"/>
                </a:cubicBezTo>
                <a:close/>
              </a:path>
              <a:path w="447179" h="360413" stroke="0" extrusionOk="0">
                <a:moveTo>
                  <a:pt x="0" y="203567"/>
                </a:moveTo>
                <a:cubicBezTo>
                  <a:pt x="29651" y="171223"/>
                  <a:pt x="56302" y="148335"/>
                  <a:pt x="70080" y="133486"/>
                </a:cubicBezTo>
                <a:cubicBezTo>
                  <a:pt x="106925" y="166217"/>
                  <a:pt x="129428" y="197352"/>
                  <a:pt x="156846" y="220252"/>
                </a:cubicBezTo>
                <a:cubicBezTo>
                  <a:pt x="229670" y="115461"/>
                  <a:pt x="354562" y="72494"/>
                  <a:pt x="377099" y="0"/>
                </a:cubicBezTo>
                <a:cubicBezTo>
                  <a:pt x="410255" y="32800"/>
                  <a:pt x="423339" y="55005"/>
                  <a:pt x="447179" y="70080"/>
                </a:cubicBezTo>
                <a:cubicBezTo>
                  <a:pt x="351307" y="217433"/>
                  <a:pt x="189305" y="269857"/>
                  <a:pt x="156846" y="360413"/>
                </a:cubicBezTo>
                <a:cubicBezTo>
                  <a:pt x="87143" y="302225"/>
                  <a:pt x="78947" y="264100"/>
                  <a:pt x="0" y="20356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850929439">
                  <a:custGeom>
                    <a:avLst/>
                    <a:gdLst>
                      <a:gd name="connsiteX0" fmla="*/ 0 w 447179"/>
                      <a:gd name="connsiteY0" fmla="*/ 203567 h 360413"/>
                      <a:gd name="connsiteX1" fmla="*/ 70080 w 447179"/>
                      <a:gd name="connsiteY1" fmla="*/ 133486 h 360413"/>
                      <a:gd name="connsiteX2" fmla="*/ 156846 w 447179"/>
                      <a:gd name="connsiteY2" fmla="*/ 220252 h 360413"/>
                      <a:gd name="connsiteX3" fmla="*/ 377099 w 447179"/>
                      <a:gd name="connsiteY3" fmla="*/ 0 h 360413"/>
                      <a:gd name="connsiteX4" fmla="*/ 447179 w 447179"/>
                      <a:gd name="connsiteY4" fmla="*/ 70080 h 360413"/>
                      <a:gd name="connsiteX5" fmla="*/ 156846 w 447179"/>
                      <a:gd name="connsiteY5" fmla="*/ 360413 h 360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179" h="360413">
                        <a:moveTo>
                          <a:pt x="0" y="203567"/>
                        </a:moveTo>
                        <a:lnTo>
                          <a:pt x="70080" y="133486"/>
                        </a:lnTo>
                        <a:lnTo>
                          <a:pt x="156846" y="220252"/>
                        </a:lnTo>
                        <a:lnTo>
                          <a:pt x="377099" y="0"/>
                        </a:lnTo>
                        <a:lnTo>
                          <a:pt x="447179" y="70080"/>
                        </a:lnTo>
                        <a:lnTo>
                          <a:pt x="156846" y="360413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FBA9E176-D2A8-5907-FB3D-C97AB35A2E2B}"/>
              </a:ext>
            </a:extLst>
          </p:cNvPr>
          <p:cNvSpPr/>
          <p:nvPr/>
        </p:nvSpPr>
        <p:spPr>
          <a:xfrm rot="20412995">
            <a:off x="9027455" y="3720051"/>
            <a:ext cx="447179" cy="360413"/>
          </a:xfrm>
          <a:custGeom>
            <a:avLst/>
            <a:gdLst>
              <a:gd name="connsiteX0" fmla="*/ 0 w 447179"/>
              <a:gd name="connsiteY0" fmla="*/ 203567 h 360413"/>
              <a:gd name="connsiteX1" fmla="*/ 70080 w 447179"/>
              <a:gd name="connsiteY1" fmla="*/ 133486 h 360413"/>
              <a:gd name="connsiteX2" fmla="*/ 156846 w 447179"/>
              <a:gd name="connsiteY2" fmla="*/ 220252 h 360413"/>
              <a:gd name="connsiteX3" fmla="*/ 377099 w 447179"/>
              <a:gd name="connsiteY3" fmla="*/ 0 h 360413"/>
              <a:gd name="connsiteX4" fmla="*/ 447179 w 447179"/>
              <a:gd name="connsiteY4" fmla="*/ 70080 h 360413"/>
              <a:gd name="connsiteX5" fmla="*/ 156846 w 447179"/>
              <a:gd name="connsiteY5" fmla="*/ 360413 h 360413"/>
              <a:gd name="connsiteX6" fmla="*/ 0 w 447179"/>
              <a:gd name="connsiteY6" fmla="*/ 203567 h 36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179" h="360413" fill="none" extrusionOk="0">
                <a:moveTo>
                  <a:pt x="0" y="203567"/>
                </a:moveTo>
                <a:cubicBezTo>
                  <a:pt x="24851" y="167736"/>
                  <a:pt x="59314" y="160504"/>
                  <a:pt x="70080" y="133486"/>
                </a:cubicBezTo>
                <a:cubicBezTo>
                  <a:pt x="112451" y="170925"/>
                  <a:pt x="118845" y="197941"/>
                  <a:pt x="156846" y="220252"/>
                </a:cubicBezTo>
                <a:cubicBezTo>
                  <a:pt x="199453" y="174055"/>
                  <a:pt x="309655" y="106277"/>
                  <a:pt x="377099" y="0"/>
                </a:cubicBezTo>
                <a:cubicBezTo>
                  <a:pt x="405622" y="25784"/>
                  <a:pt x="415475" y="51471"/>
                  <a:pt x="447179" y="70080"/>
                </a:cubicBezTo>
                <a:cubicBezTo>
                  <a:pt x="339032" y="179428"/>
                  <a:pt x="234168" y="227628"/>
                  <a:pt x="156846" y="360413"/>
                </a:cubicBezTo>
                <a:cubicBezTo>
                  <a:pt x="94397" y="333546"/>
                  <a:pt x="54149" y="234040"/>
                  <a:pt x="0" y="203567"/>
                </a:cubicBezTo>
                <a:close/>
              </a:path>
              <a:path w="447179" h="360413" stroke="0" extrusionOk="0">
                <a:moveTo>
                  <a:pt x="0" y="203567"/>
                </a:moveTo>
                <a:cubicBezTo>
                  <a:pt x="16812" y="176306"/>
                  <a:pt x="44581" y="168910"/>
                  <a:pt x="70080" y="133486"/>
                </a:cubicBezTo>
                <a:cubicBezTo>
                  <a:pt x="108002" y="169995"/>
                  <a:pt x="116966" y="185858"/>
                  <a:pt x="156846" y="220252"/>
                </a:cubicBezTo>
                <a:cubicBezTo>
                  <a:pt x="231699" y="99533"/>
                  <a:pt x="296623" y="100683"/>
                  <a:pt x="377099" y="0"/>
                </a:cubicBezTo>
                <a:cubicBezTo>
                  <a:pt x="399854" y="15027"/>
                  <a:pt x="409168" y="42322"/>
                  <a:pt x="447179" y="70080"/>
                </a:cubicBezTo>
                <a:cubicBezTo>
                  <a:pt x="400549" y="148610"/>
                  <a:pt x="208082" y="283409"/>
                  <a:pt x="156846" y="360413"/>
                </a:cubicBezTo>
                <a:cubicBezTo>
                  <a:pt x="76819" y="291449"/>
                  <a:pt x="54822" y="258061"/>
                  <a:pt x="0" y="20356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129608800">
                  <a:custGeom>
                    <a:avLst/>
                    <a:gdLst>
                      <a:gd name="connsiteX0" fmla="*/ 0 w 447179"/>
                      <a:gd name="connsiteY0" fmla="*/ 203567 h 360413"/>
                      <a:gd name="connsiteX1" fmla="*/ 70080 w 447179"/>
                      <a:gd name="connsiteY1" fmla="*/ 133486 h 360413"/>
                      <a:gd name="connsiteX2" fmla="*/ 156846 w 447179"/>
                      <a:gd name="connsiteY2" fmla="*/ 220252 h 360413"/>
                      <a:gd name="connsiteX3" fmla="*/ 377099 w 447179"/>
                      <a:gd name="connsiteY3" fmla="*/ 0 h 360413"/>
                      <a:gd name="connsiteX4" fmla="*/ 447179 w 447179"/>
                      <a:gd name="connsiteY4" fmla="*/ 70080 h 360413"/>
                      <a:gd name="connsiteX5" fmla="*/ 156846 w 447179"/>
                      <a:gd name="connsiteY5" fmla="*/ 360413 h 360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179" h="360413">
                        <a:moveTo>
                          <a:pt x="0" y="203567"/>
                        </a:moveTo>
                        <a:lnTo>
                          <a:pt x="70080" y="133486"/>
                        </a:lnTo>
                        <a:lnTo>
                          <a:pt x="156846" y="220252"/>
                        </a:lnTo>
                        <a:lnTo>
                          <a:pt x="377099" y="0"/>
                        </a:lnTo>
                        <a:lnTo>
                          <a:pt x="447179" y="70080"/>
                        </a:lnTo>
                        <a:lnTo>
                          <a:pt x="156846" y="360413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929CADF9-B722-E850-2150-0E256A0A68C2}"/>
              </a:ext>
            </a:extLst>
          </p:cNvPr>
          <p:cNvSpPr/>
          <p:nvPr/>
        </p:nvSpPr>
        <p:spPr>
          <a:xfrm rot="710343">
            <a:off x="9177793" y="1762755"/>
            <a:ext cx="1574016" cy="638038"/>
          </a:xfrm>
          <a:custGeom>
            <a:avLst/>
            <a:gdLst>
              <a:gd name="connsiteX0" fmla="*/ 0 w 1574016"/>
              <a:gd name="connsiteY0" fmla="*/ 0 h 638038"/>
              <a:gd name="connsiteX1" fmla="*/ 0 w 1574016"/>
              <a:gd name="connsiteY1" fmla="*/ 328857 h 638038"/>
              <a:gd name="connsiteX2" fmla="*/ 787008 w 1574016"/>
              <a:gd name="connsiteY2" fmla="*/ 638039 h 638038"/>
              <a:gd name="connsiteX3" fmla="*/ 1574017 w 1574016"/>
              <a:gd name="connsiteY3" fmla="*/ 328857 h 638038"/>
              <a:gd name="connsiteX4" fmla="*/ 1574017 w 1574016"/>
              <a:gd name="connsiteY4" fmla="*/ 0 h 638038"/>
              <a:gd name="connsiteX5" fmla="*/ 1172642 w 1574016"/>
              <a:gd name="connsiteY5" fmla="*/ 141915 h 638038"/>
              <a:gd name="connsiteX6" fmla="*/ 787008 w 1574016"/>
              <a:gd name="connsiteY6" fmla="*/ 278264 h 638038"/>
              <a:gd name="connsiteX7" fmla="*/ 377764 w 1574016"/>
              <a:gd name="connsiteY7" fmla="*/ 133567 h 638038"/>
              <a:gd name="connsiteX8" fmla="*/ 0 w 1574016"/>
              <a:gd name="connsiteY8" fmla="*/ 0 h 63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016" h="638038" fill="none" extrusionOk="0">
                <a:moveTo>
                  <a:pt x="0" y="0"/>
                </a:moveTo>
                <a:cubicBezTo>
                  <a:pt x="27719" y="79363"/>
                  <a:pt x="-23899" y="215174"/>
                  <a:pt x="0" y="328857"/>
                </a:cubicBezTo>
                <a:cubicBezTo>
                  <a:pt x="50700" y="532648"/>
                  <a:pt x="391427" y="620413"/>
                  <a:pt x="787008" y="638039"/>
                </a:cubicBezTo>
                <a:cubicBezTo>
                  <a:pt x="1219709" y="644353"/>
                  <a:pt x="1591230" y="441138"/>
                  <a:pt x="1574017" y="328857"/>
                </a:cubicBezTo>
                <a:cubicBezTo>
                  <a:pt x="1567430" y="189280"/>
                  <a:pt x="1579735" y="84822"/>
                  <a:pt x="1574017" y="0"/>
                </a:cubicBezTo>
                <a:cubicBezTo>
                  <a:pt x="1465484" y="60613"/>
                  <a:pt x="1363079" y="45005"/>
                  <a:pt x="1172642" y="141915"/>
                </a:cubicBezTo>
                <a:cubicBezTo>
                  <a:pt x="982205" y="238825"/>
                  <a:pt x="890504" y="219880"/>
                  <a:pt x="787008" y="278264"/>
                </a:cubicBezTo>
                <a:cubicBezTo>
                  <a:pt x="589793" y="245088"/>
                  <a:pt x="532361" y="162669"/>
                  <a:pt x="377764" y="133567"/>
                </a:cubicBezTo>
                <a:cubicBezTo>
                  <a:pt x="223167" y="104465"/>
                  <a:pt x="160905" y="23965"/>
                  <a:pt x="0" y="0"/>
                </a:cubicBezTo>
                <a:close/>
              </a:path>
              <a:path w="1574016" h="638038" stroke="0" extrusionOk="0">
                <a:moveTo>
                  <a:pt x="0" y="0"/>
                </a:moveTo>
                <a:cubicBezTo>
                  <a:pt x="13165" y="128142"/>
                  <a:pt x="-2099" y="180357"/>
                  <a:pt x="0" y="328857"/>
                </a:cubicBezTo>
                <a:cubicBezTo>
                  <a:pt x="86" y="570235"/>
                  <a:pt x="371219" y="628019"/>
                  <a:pt x="787008" y="638039"/>
                </a:cubicBezTo>
                <a:cubicBezTo>
                  <a:pt x="1206996" y="627032"/>
                  <a:pt x="1577683" y="499429"/>
                  <a:pt x="1574017" y="328857"/>
                </a:cubicBezTo>
                <a:cubicBezTo>
                  <a:pt x="1558937" y="169935"/>
                  <a:pt x="1595775" y="90702"/>
                  <a:pt x="1574017" y="0"/>
                </a:cubicBezTo>
                <a:cubicBezTo>
                  <a:pt x="1402556" y="82953"/>
                  <a:pt x="1296031" y="95820"/>
                  <a:pt x="1204123" y="130784"/>
                </a:cubicBezTo>
                <a:cubicBezTo>
                  <a:pt x="1112215" y="165748"/>
                  <a:pt x="954666" y="204825"/>
                  <a:pt x="787008" y="278264"/>
                </a:cubicBezTo>
                <a:cubicBezTo>
                  <a:pt x="665585" y="252234"/>
                  <a:pt x="519222" y="133347"/>
                  <a:pt x="393504" y="139132"/>
                </a:cubicBezTo>
                <a:cubicBezTo>
                  <a:pt x="267786" y="144917"/>
                  <a:pt x="154047" y="12662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28079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35336371">
                  <a:custGeom>
                    <a:avLst/>
                    <a:gdLst>
                      <a:gd name="connsiteX0" fmla="*/ 0 w 1574016"/>
                      <a:gd name="connsiteY0" fmla="*/ 0 h 638038"/>
                      <a:gd name="connsiteX1" fmla="*/ 0 w 1574016"/>
                      <a:gd name="connsiteY1" fmla="*/ 328857 h 638038"/>
                      <a:gd name="connsiteX2" fmla="*/ 787008 w 1574016"/>
                      <a:gd name="connsiteY2" fmla="*/ 638039 h 638038"/>
                      <a:gd name="connsiteX3" fmla="*/ 1574017 w 1574016"/>
                      <a:gd name="connsiteY3" fmla="*/ 328857 h 638038"/>
                      <a:gd name="connsiteX4" fmla="*/ 1574017 w 1574016"/>
                      <a:gd name="connsiteY4" fmla="*/ 0 h 638038"/>
                      <a:gd name="connsiteX5" fmla="*/ 787008 w 1574016"/>
                      <a:gd name="connsiteY5" fmla="*/ 278264 h 638038"/>
                      <a:gd name="connsiteX6" fmla="*/ 0 w 1574016"/>
                      <a:gd name="connsiteY6" fmla="*/ 0 h 638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74016" h="638038">
                        <a:moveTo>
                          <a:pt x="0" y="0"/>
                        </a:moveTo>
                        <a:lnTo>
                          <a:pt x="0" y="328857"/>
                        </a:lnTo>
                        <a:cubicBezTo>
                          <a:pt x="0" y="483448"/>
                          <a:pt x="351343" y="638039"/>
                          <a:pt x="787008" y="638039"/>
                        </a:cubicBezTo>
                        <a:cubicBezTo>
                          <a:pt x="1222674" y="638039"/>
                          <a:pt x="1574017" y="483448"/>
                          <a:pt x="1574017" y="328857"/>
                        </a:cubicBezTo>
                        <a:lnTo>
                          <a:pt x="1574017" y="0"/>
                        </a:lnTo>
                        <a:lnTo>
                          <a:pt x="787008" y="27826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742C036C-C6FF-129E-F77E-7A376280A629}"/>
              </a:ext>
            </a:extLst>
          </p:cNvPr>
          <p:cNvSpPr/>
          <p:nvPr/>
        </p:nvSpPr>
        <p:spPr>
          <a:xfrm rot="710343">
            <a:off x="8841097" y="1062190"/>
            <a:ext cx="2450968" cy="1068082"/>
          </a:xfrm>
          <a:custGeom>
            <a:avLst/>
            <a:gdLst>
              <a:gd name="connsiteX0" fmla="*/ 1225484 w 2450968"/>
              <a:gd name="connsiteY0" fmla="*/ 868520 h 1068082"/>
              <a:gd name="connsiteX1" fmla="*/ 1609469 w 2450968"/>
              <a:gd name="connsiteY1" fmla="*/ 733773 h 1068082"/>
              <a:gd name="connsiteX2" fmla="*/ 1981200 w 2450968"/>
              <a:gd name="connsiteY2" fmla="*/ 603326 h 1068082"/>
              <a:gd name="connsiteX3" fmla="*/ 2450969 w 2450968"/>
              <a:gd name="connsiteY3" fmla="*/ 438476 h 1068082"/>
              <a:gd name="connsiteX4" fmla="*/ 2054729 w 2450968"/>
              <a:gd name="connsiteY4" fmla="*/ 296702 h 1068082"/>
              <a:gd name="connsiteX5" fmla="*/ 1633979 w 2450968"/>
              <a:gd name="connsiteY5" fmla="*/ 146159 h 1068082"/>
              <a:gd name="connsiteX6" fmla="*/ 1225484 w 2450968"/>
              <a:gd name="connsiteY6" fmla="*/ 0 h 1068082"/>
              <a:gd name="connsiteX7" fmla="*/ 829244 w 2450968"/>
              <a:gd name="connsiteY7" fmla="*/ 141774 h 1068082"/>
              <a:gd name="connsiteX8" fmla="*/ 420750 w 2450968"/>
              <a:gd name="connsiteY8" fmla="*/ 287933 h 1068082"/>
              <a:gd name="connsiteX9" fmla="*/ 0 w 2450968"/>
              <a:gd name="connsiteY9" fmla="*/ 438476 h 1068082"/>
              <a:gd name="connsiteX10" fmla="*/ 157402 w 2450968"/>
              <a:gd name="connsiteY10" fmla="*/ 494691 h 1068082"/>
              <a:gd name="connsiteX11" fmla="*/ 157402 w 2450968"/>
              <a:gd name="connsiteY11" fmla="*/ 1011868 h 1068082"/>
              <a:gd name="connsiteX12" fmla="*/ 213617 w 2450968"/>
              <a:gd name="connsiteY12" fmla="*/ 1068083 h 1068082"/>
              <a:gd name="connsiteX13" fmla="*/ 269831 w 2450968"/>
              <a:gd name="connsiteY13" fmla="*/ 1011868 h 1068082"/>
              <a:gd name="connsiteX14" fmla="*/ 269831 w 2450968"/>
              <a:gd name="connsiteY14" fmla="*/ 534041 h 1068082"/>
              <a:gd name="connsiteX15" fmla="*/ 728544 w 2450968"/>
              <a:gd name="connsiteY15" fmla="*/ 694591 h 1068082"/>
              <a:gd name="connsiteX16" fmla="*/ 1225484 w 2450968"/>
              <a:gd name="connsiteY16" fmla="*/ 868520 h 1068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0968" h="1068082" fill="none" extrusionOk="0">
                <a:moveTo>
                  <a:pt x="1225484" y="868520"/>
                </a:moveTo>
                <a:cubicBezTo>
                  <a:pt x="1328756" y="831020"/>
                  <a:pt x="1442211" y="816863"/>
                  <a:pt x="1609469" y="733773"/>
                </a:cubicBezTo>
                <a:cubicBezTo>
                  <a:pt x="1776727" y="650683"/>
                  <a:pt x="1827810" y="687391"/>
                  <a:pt x="1981200" y="603326"/>
                </a:cubicBezTo>
                <a:cubicBezTo>
                  <a:pt x="2134590" y="519261"/>
                  <a:pt x="2344327" y="496686"/>
                  <a:pt x="2450969" y="438476"/>
                </a:cubicBezTo>
                <a:cubicBezTo>
                  <a:pt x="2352484" y="413105"/>
                  <a:pt x="2262331" y="327684"/>
                  <a:pt x="2054729" y="296702"/>
                </a:cubicBezTo>
                <a:cubicBezTo>
                  <a:pt x="1847127" y="265720"/>
                  <a:pt x="1830201" y="190751"/>
                  <a:pt x="1633979" y="146159"/>
                </a:cubicBezTo>
                <a:cubicBezTo>
                  <a:pt x="1437757" y="101567"/>
                  <a:pt x="1364415" y="10073"/>
                  <a:pt x="1225484" y="0"/>
                </a:cubicBezTo>
                <a:cubicBezTo>
                  <a:pt x="1037909" y="85411"/>
                  <a:pt x="987238" y="61650"/>
                  <a:pt x="829244" y="141774"/>
                </a:cubicBezTo>
                <a:cubicBezTo>
                  <a:pt x="671250" y="221898"/>
                  <a:pt x="538662" y="228474"/>
                  <a:pt x="420750" y="287933"/>
                </a:cubicBezTo>
                <a:cubicBezTo>
                  <a:pt x="302838" y="347392"/>
                  <a:pt x="76578" y="375994"/>
                  <a:pt x="0" y="438476"/>
                </a:cubicBezTo>
                <a:cubicBezTo>
                  <a:pt x="66118" y="457953"/>
                  <a:pt x="102466" y="492534"/>
                  <a:pt x="157402" y="494691"/>
                </a:cubicBezTo>
                <a:cubicBezTo>
                  <a:pt x="192088" y="680064"/>
                  <a:pt x="111268" y="866717"/>
                  <a:pt x="157402" y="1011868"/>
                </a:cubicBezTo>
                <a:cubicBezTo>
                  <a:pt x="152237" y="1038955"/>
                  <a:pt x="188717" y="1072327"/>
                  <a:pt x="213617" y="1068083"/>
                </a:cubicBezTo>
                <a:cubicBezTo>
                  <a:pt x="245801" y="1064349"/>
                  <a:pt x="277684" y="1038784"/>
                  <a:pt x="269831" y="1011868"/>
                </a:cubicBezTo>
                <a:cubicBezTo>
                  <a:pt x="216474" y="914996"/>
                  <a:pt x="315039" y="650206"/>
                  <a:pt x="269831" y="534041"/>
                </a:cubicBezTo>
                <a:cubicBezTo>
                  <a:pt x="386613" y="543380"/>
                  <a:pt x="597742" y="705502"/>
                  <a:pt x="728544" y="694591"/>
                </a:cubicBezTo>
                <a:cubicBezTo>
                  <a:pt x="859346" y="683679"/>
                  <a:pt x="1094379" y="834828"/>
                  <a:pt x="1225484" y="868520"/>
                </a:cubicBezTo>
                <a:close/>
              </a:path>
              <a:path w="2450968" h="1068082" stroke="0" extrusionOk="0">
                <a:moveTo>
                  <a:pt x="1225484" y="868520"/>
                </a:moveTo>
                <a:cubicBezTo>
                  <a:pt x="1310318" y="832527"/>
                  <a:pt x="1444781" y="809831"/>
                  <a:pt x="1621724" y="729472"/>
                </a:cubicBezTo>
                <a:cubicBezTo>
                  <a:pt x="1798667" y="649114"/>
                  <a:pt x="1869022" y="649560"/>
                  <a:pt x="2005709" y="594725"/>
                </a:cubicBezTo>
                <a:cubicBezTo>
                  <a:pt x="2142396" y="539890"/>
                  <a:pt x="2370389" y="502212"/>
                  <a:pt x="2450969" y="438476"/>
                </a:cubicBezTo>
                <a:cubicBezTo>
                  <a:pt x="2296218" y="392763"/>
                  <a:pt x="2198790" y="328302"/>
                  <a:pt x="2066984" y="301087"/>
                </a:cubicBezTo>
                <a:cubicBezTo>
                  <a:pt x="1935178" y="273871"/>
                  <a:pt x="1816695" y="160673"/>
                  <a:pt x="1646234" y="150543"/>
                </a:cubicBezTo>
                <a:cubicBezTo>
                  <a:pt x="1475773" y="140413"/>
                  <a:pt x="1369966" y="47775"/>
                  <a:pt x="1225484" y="0"/>
                </a:cubicBezTo>
                <a:cubicBezTo>
                  <a:pt x="1103654" y="90724"/>
                  <a:pt x="953397" y="45221"/>
                  <a:pt x="804734" y="150543"/>
                </a:cubicBezTo>
                <a:cubicBezTo>
                  <a:pt x="656072" y="255866"/>
                  <a:pt x="549107" y="227905"/>
                  <a:pt x="420750" y="287933"/>
                </a:cubicBezTo>
                <a:cubicBezTo>
                  <a:pt x="292393" y="347960"/>
                  <a:pt x="161460" y="330214"/>
                  <a:pt x="0" y="438476"/>
                </a:cubicBezTo>
                <a:cubicBezTo>
                  <a:pt x="58239" y="443528"/>
                  <a:pt x="103761" y="480820"/>
                  <a:pt x="157402" y="494691"/>
                </a:cubicBezTo>
                <a:cubicBezTo>
                  <a:pt x="205607" y="627066"/>
                  <a:pt x="121831" y="827277"/>
                  <a:pt x="157402" y="1011868"/>
                </a:cubicBezTo>
                <a:cubicBezTo>
                  <a:pt x="161676" y="1044857"/>
                  <a:pt x="177819" y="1061388"/>
                  <a:pt x="213617" y="1068083"/>
                </a:cubicBezTo>
                <a:cubicBezTo>
                  <a:pt x="241394" y="1065862"/>
                  <a:pt x="268145" y="1044629"/>
                  <a:pt x="269831" y="1011868"/>
                </a:cubicBezTo>
                <a:cubicBezTo>
                  <a:pt x="219536" y="820783"/>
                  <a:pt x="270460" y="695755"/>
                  <a:pt x="269831" y="534041"/>
                </a:cubicBezTo>
                <a:cubicBezTo>
                  <a:pt x="404312" y="565972"/>
                  <a:pt x="608517" y="696596"/>
                  <a:pt x="738101" y="697936"/>
                </a:cubicBezTo>
                <a:cubicBezTo>
                  <a:pt x="867685" y="699276"/>
                  <a:pt x="1052676" y="828721"/>
                  <a:pt x="1225484" y="86852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28079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66308384">
                  <a:custGeom>
                    <a:avLst/>
                    <a:gdLst>
                      <a:gd name="connsiteX0" fmla="*/ 1225484 w 2450968"/>
                      <a:gd name="connsiteY0" fmla="*/ 868520 h 1068082"/>
                      <a:gd name="connsiteX1" fmla="*/ 2450969 w 2450968"/>
                      <a:gd name="connsiteY1" fmla="*/ 438476 h 1068082"/>
                      <a:gd name="connsiteX2" fmla="*/ 1225484 w 2450968"/>
                      <a:gd name="connsiteY2" fmla="*/ 0 h 1068082"/>
                      <a:gd name="connsiteX3" fmla="*/ 0 w 2450968"/>
                      <a:gd name="connsiteY3" fmla="*/ 438476 h 1068082"/>
                      <a:gd name="connsiteX4" fmla="*/ 157402 w 2450968"/>
                      <a:gd name="connsiteY4" fmla="*/ 494691 h 1068082"/>
                      <a:gd name="connsiteX5" fmla="*/ 157402 w 2450968"/>
                      <a:gd name="connsiteY5" fmla="*/ 1011868 h 1068082"/>
                      <a:gd name="connsiteX6" fmla="*/ 213617 w 2450968"/>
                      <a:gd name="connsiteY6" fmla="*/ 1068083 h 1068082"/>
                      <a:gd name="connsiteX7" fmla="*/ 269831 w 2450968"/>
                      <a:gd name="connsiteY7" fmla="*/ 1011868 h 1068082"/>
                      <a:gd name="connsiteX8" fmla="*/ 269831 w 2450968"/>
                      <a:gd name="connsiteY8" fmla="*/ 534041 h 1068082"/>
                      <a:gd name="connsiteX9" fmla="*/ 1225484 w 2450968"/>
                      <a:gd name="connsiteY9" fmla="*/ 868520 h 10680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50968" h="1068082">
                        <a:moveTo>
                          <a:pt x="1225484" y="868520"/>
                        </a:moveTo>
                        <a:lnTo>
                          <a:pt x="2450969" y="438476"/>
                        </a:lnTo>
                        <a:lnTo>
                          <a:pt x="1225484" y="0"/>
                        </a:lnTo>
                        <a:lnTo>
                          <a:pt x="0" y="438476"/>
                        </a:lnTo>
                        <a:lnTo>
                          <a:pt x="157402" y="494691"/>
                        </a:lnTo>
                        <a:lnTo>
                          <a:pt x="157402" y="1011868"/>
                        </a:lnTo>
                        <a:cubicBezTo>
                          <a:pt x="157402" y="1042786"/>
                          <a:pt x="182698" y="1068083"/>
                          <a:pt x="213617" y="1068083"/>
                        </a:cubicBezTo>
                        <a:cubicBezTo>
                          <a:pt x="244535" y="1068083"/>
                          <a:pt x="269831" y="1042786"/>
                          <a:pt x="269831" y="1011868"/>
                        </a:cubicBezTo>
                        <a:lnTo>
                          <a:pt x="269831" y="534041"/>
                        </a:lnTo>
                        <a:lnTo>
                          <a:pt x="1225484" y="86852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C80C7D-66CB-CC7E-118F-F5020BCD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EFD9E6-5A4F-3B5D-8BD4-9D3C5A8C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977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r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4A03AB-CEFB-6D2E-7889-0F82599140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prstGeom prst="roundRect">
            <a:avLst/>
          </a:prstGeom>
          <a:solidFill>
            <a:srgbClr val="000000"/>
          </a:solidFill>
        </p:spPr>
        <p:txBody>
          <a:bodyPr/>
          <a:lstStyle>
            <a:lvl1pPr algn="ctr">
              <a:defRPr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WARNING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2" name="Free-form: Shape 41">
            <a:extLst>
              <a:ext uri="{FF2B5EF4-FFF2-40B4-BE49-F238E27FC236}">
                <a16:creationId xmlns:a16="http://schemas.microsoft.com/office/drawing/2014/main" id="{429A6F95-FD8E-8A26-13FA-1E9F915F2376}"/>
              </a:ext>
            </a:extLst>
          </p:cNvPr>
          <p:cNvSpPr/>
          <p:nvPr/>
        </p:nvSpPr>
        <p:spPr>
          <a:xfrm>
            <a:off x="883082" y="5547360"/>
            <a:ext cx="10425830" cy="621032"/>
          </a:xfrm>
          <a:custGeom>
            <a:avLst/>
            <a:gdLst>
              <a:gd name="connsiteX0" fmla="*/ 0 w 10425830"/>
              <a:gd name="connsiteY0" fmla="*/ 0 h 670561"/>
              <a:gd name="connsiteX1" fmla="*/ 10425830 w 10425830"/>
              <a:gd name="connsiteY1" fmla="*/ 0 h 670561"/>
              <a:gd name="connsiteX2" fmla="*/ 10425830 w 10425830"/>
              <a:gd name="connsiteY2" fmla="*/ 514688 h 670561"/>
              <a:gd name="connsiteX3" fmla="*/ 10269957 w 10425830"/>
              <a:gd name="connsiteY3" fmla="*/ 670561 h 670561"/>
              <a:gd name="connsiteX4" fmla="*/ 155873 w 10425830"/>
              <a:gd name="connsiteY4" fmla="*/ 670561 h 670561"/>
              <a:gd name="connsiteX5" fmla="*/ 0 w 10425830"/>
              <a:gd name="connsiteY5" fmla="*/ 514688 h 67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25830" h="670561">
                <a:moveTo>
                  <a:pt x="0" y="0"/>
                </a:moveTo>
                <a:lnTo>
                  <a:pt x="10425830" y="0"/>
                </a:lnTo>
                <a:lnTo>
                  <a:pt x="10425830" y="514688"/>
                </a:lnTo>
                <a:cubicBezTo>
                  <a:pt x="10425830" y="600774"/>
                  <a:pt x="10356043" y="670561"/>
                  <a:pt x="10269957" y="670561"/>
                </a:cubicBezTo>
                <a:lnTo>
                  <a:pt x="155873" y="670561"/>
                </a:lnTo>
                <a:cubicBezTo>
                  <a:pt x="69787" y="670561"/>
                  <a:pt x="0" y="600774"/>
                  <a:pt x="0" y="514688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C5F24F5-D2C2-918C-3BEF-137B1EBA5182}"/>
              </a:ext>
            </a:extLst>
          </p:cNvPr>
          <p:cNvSpPr/>
          <p:nvPr/>
        </p:nvSpPr>
        <p:spPr>
          <a:xfrm>
            <a:off x="883082" y="370761"/>
            <a:ext cx="10425830" cy="5811837"/>
          </a:xfrm>
          <a:prstGeom prst="roundRect">
            <a:avLst>
              <a:gd name="adj" fmla="val 268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1E1A89-8D18-846D-9BD5-968A7028B923}"/>
              </a:ext>
            </a:extLst>
          </p:cNvPr>
          <p:cNvSpPr/>
          <p:nvPr/>
        </p:nvSpPr>
        <p:spPr>
          <a:xfrm>
            <a:off x="883082" y="1136052"/>
            <a:ext cx="10425830" cy="28458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AC750CA-DEBA-4662-54A1-0EA12B92D81B}"/>
              </a:ext>
            </a:extLst>
          </p:cNvPr>
          <p:cNvCxnSpPr>
            <a:cxnSpLocks/>
            <a:stCxn id="42" idx="0"/>
          </p:cNvCxnSpPr>
          <p:nvPr/>
        </p:nvCxnSpPr>
        <p:spPr>
          <a:xfrm>
            <a:off x="883082" y="5547360"/>
            <a:ext cx="1042583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D98CAF-9770-96F0-1DB9-AD6A5F9E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4C8C52-B6A0-CAEE-82BF-E6F598CB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88019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2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4985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2" y="4050837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4691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9090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609600"/>
            <a:ext cx="8463619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22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1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7" r:id="rId8"/>
    <p:sldLayoutId id="2147483688" r:id="rId9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0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0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74E50-53EF-D502-B222-4953DABC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085" y="365126"/>
            <a:ext cx="10425830" cy="1025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E1211-3887-38B1-25CE-25AF8C2D9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083" y="1565753"/>
            <a:ext cx="10425830" cy="4611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B612-8DA1-C250-AAC7-5AF7D3358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3082" y="6356350"/>
            <a:ext cx="269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CA94-D5BD-CE3E-79B5-FBE194125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BA79F-A768-F558-3104-E23D8A3F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698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71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dimecasts.net/Casts/ByTag/SOLID%20Principle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D29E63-3D13-46CA-CD8F-A9359DF53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Improving Software Design – SOLID Principles</a:t>
            </a:r>
            <a:br>
              <a:rPr lang="it-IT" dirty="0"/>
            </a:b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DD23C5-BE75-2B14-0FB8-A1BA5601B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Prof. Sergio Di Martino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4E68CE-9827-7F8C-E1E9-F88C15B97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085" y="974007"/>
            <a:ext cx="10747176" cy="616123"/>
          </a:xfrm>
        </p:spPr>
        <p:txBody>
          <a:bodyPr/>
          <a:lstStyle/>
          <a:p>
            <a:r>
              <a:rPr lang="it-IT" dirty="0"/>
              <a:t>SOFTWARE ENGINEERING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8E7753-E497-2110-E580-836C0E64D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UNIVERSITÀ DEGLI STUDI DI NAPOLI FEDERICO II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842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8AB8-8959-49EF-93E4-624A92EADA5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81200" y="1774826"/>
            <a:ext cx="8229600" cy="4625975"/>
          </a:xfrm>
          <a:prstGeom prst="rect">
            <a:avLst/>
          </a:prstGeom>
        </p:spPr>
        <p:txBody>
          <a:bodyPr/>
          <a:lstStyle/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FA8249-DF64-43B7-82E2-75E75C50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433561"/>
            <a:ext cx="7009757" cy="560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Software “Smells”</a:t>
            </a: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system is rigid </a:t>
            </a:r>
          </a:p>
          <a:p>
            <a:pPr lvl="1"/>
            <a:r>
              <a:rPr lang="en-GB" dirty="0"/>
              <a:t>Hard to change because everything has to change at once</a:t>
            </a:r>
          </a:p>
          <a:p>
            <a:pPr lvl="1"/>
            <a:r>
              <a:rPr lang="en-GB" dirty="0"/>
              <a:t>Shotgun Surgery</a:t>
            </a:r>
          </a:p>
          <a:p>
            <a:r>
              <a:rPr lang="en-GB" dirty="0"/>
              <a:t>The system is fragile </a:t>
            </a:r>
          </a:p>
          <a:p>
            <a:pPr lvl="1"/>
            <a:r>
              <a:rPr lang="en-GB" dirty="0"/>
              <a:t>Changes cause the system to break in the strangest of places.</a:t>
            </a:r>
          </a:p>
          <a:p>
            <a:r>
              <a:rPr lang="en-GB" dirty="0"/>
              <a:t>The system is immobile </a:t>
            </a:r>
          </a:p>
          <a:p>
            <a:pPr lvl="1"/>
            <a:r>
              <a:rPr lang="en-GB" dirty="0"/>
              <a:t>That is, not reusable.</a:t>
            </a:r>
          </a:p>
          <a:p>
            <a:r>
              <a:rPr lang="en-GB" dirty="0"/>
              <a:t>The system is opaque </a:t>
            </a:r>
          </a:p>
          <a:p>
            <a:pPr lvl="1"/>
            <a:r>
              <a:rPr lang="en-GB" dirty="0"/>
              <a:t>Hard to understand.</a:t>
            </a:r>
          </a:p>
          <a:p>
            <a:r>
              <a:rPr lang="en-GB" dirty="0"/>
              <a:t>The system is needlessly complex</a:t>
            </a:r>
          </a:p>
          <a:p>
            <a:r>
              <a:rPr lang="en-GB" dirty="0"/>
              <a:t>The system contains needless repetition.</a:t>
            </a:r>
          </a:p>
          <a:p>
            <a:r>
              <a:rPr lang="en-GB" dirty="0"/>
              <a:t>Have you ever seen software with these problems?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DCB394E-60C0-4149-9010-5D8AB704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SOLID Design </a:t>
            </a:r>
            <a:r>
              <a:rPr lang="it-IT" dirty="0" err="1"/>
              <a:t>Principles</a:t>
            </a:r>
            <a:r>
              <a:rPr lang="it-IT" dirty="0"/>
              <a:t> 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by Robert C. Martin between 2000 and 2003</a:t>
            </a:r>
          </a:p>
          <a:p>
            <a:pPr lvl="1"/>
            <a:r>
              <a:rPr lang="en-US" i="1" dirty="0"/>
              <a:t>Design Principles and Design Patterns, </a:t>
            </a:r>
            <a:r>
              <a:rPr lang="it-IT" i="1" dirty="0"/>
              <a:t>Object Mentor</a:t>
            </a:r>
            <a:r>
              <a:rPr lang="it-IT" dirty="0"/>
              <a:t> 1.34 (2000): 597</a:t>
            </a:r>
            <a:endParaRPr lang="en-US" dirty="0"/>
          </a:p>
          <a:p>
            <a:pPr lvl="1"/>
            <a:r>
              <a:rPr lang="en-US" i="1" dirty="0"/>
              <a:t>Agile Principles, Patterns, and Practices in C#</a:t>
            </a:r>
          </a:p>
          <a:p>
            <a:endParaRPr lang="en-US" dirty="0"/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S</a:t>
            </a:r>
            <a:r>
              <a:rPr lang="en-US" dirty="0">
                <a:latin typeface="Corbel" pitchFamily="34" charset="0"/>
                <a:cs typeface="Tahoma" pitchFamily="34" charset="0"/>
              </a:rPr>
              <a:t>ingle Responsibility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O</a:t>
            </a:r>
            <a:r>
              <a:rPr lang="en-US" dirty="0">
                <a:latin typeface="Corbel" pitchFamily="34" charset="0"/>
                <a:cs typeface="Tahoma" pitchFamily="34" charset="0"/>
              </a:rPr>
              <a:t>pen/Closed Principle 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 err="1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L</a:t>
            </a:r>
            <a:r>
              <a:rPr lang="en-US" dirty="0" err="1">
                <a:latin typeface="Corbel" pitchFamily="34" charset="0"/>
                <a:cs typeface="Tahoma" pitchFamily="34" charset="0"/>
              </a:rPr>
              <a:t>iskov</a:t>
            </a:r>
            <a:r>
              <a:rPr lang="en-US" dirty="0">
                <a:latin typeface="Corbel" pitchFamily="34" charset="0"/>
                <a:cs typeface="Tahoma" pitchFamily="34" charset="0"/>
              </a:rPr>
              <a:t> Substitution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I</a:t>
            </a:r>
            <a:r>
              <a:rPr lang="en-US" dirty="0">
                <a:latin typeface="Corbel" pitchFamily="34" charset="0"/>
                <a:cs typeface="Tahoma" pitchFamily="34" charset="0"/>
              </a:rPr>
              <a:t>nterface Segregation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D</a:t>
            </a:r>
            <a:r>
              <a:rPr lang="en-US" dirty="0">
                <a:latin typeface="Corbel" pitchFamily="34" charset="0"/>
                <a:cs typeface="Tahoma" pitchFamily="34" charset="0"/>
              </a:rPr>
              <a:t>ependency Inversion Principle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ctrTitle"/>
          </p:nvPr>
        </p:nvSpPr>
        <p:spPr>
          <a:xfrm>
            <a:off x="2654597" y="404664"/>
            <a:ext cx="5826719" cy="1646302"/>
          </a:xfrm>
        </p:spPr>
        <p:txBody>
          <a:bodyPr>
            <a:normAutofit/>
          </a:bodyPr>
          <a:lstStyle/>
          <a:p>
            <a:r>
              <a:rPr lang="en-US"/>
              <a:t>Single Responsibility Principle</a:t>
            </a:r>
            <a:endParaRPr lang="en-US" dirty="0"/>
          </a:p>
        </p:txBody>
      </p:sp>
      <p:grpSp>
        <p:nvGrpSpPr>
          <p:cNvPr id="30723" name="Group 5"/>
          <p:cNvGrpSpPr>
            <a:grpSpLocks/>
          </p:cNvGrpSpPr>
          <p:nvPr/>
        </p:nvGrpSpPr>
        <p:grpSpPr bwMode="auto">
          <a:xfrm>
            <a:off x="2981124" y="2333774"/>
            <a:ext cx="5495925" cy="4119563"/>
            <a:chOff x="990600" y="1638300"/>
            <a:chExt cx="6429375" cy="5143500"/>
          </a:xfrm>
        </p:grpSpPr>
        <p:pic>
          <p:nvPicPr>
            <p:cNvPr id="3072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90600" y="1638300"/>
              <a:ext cx="6429375" cy="5143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25" name="TextBox 4"/>
            <p:cNvSpPr txBox="1">
              <a:spLocks noChangeArrowheads="1"/>
            </p:cNvSpPr>
            <p:nvPr/>
          </p:nvSpPr>
          <p:spPr bwMode="auto">
            <a:xfrm>
              <a:off x="990600" y="5943380"/>
              <a:ext cx="6401518" cy="42020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600">
                  <a:solidFill>
                    <a:schemeClr val="bg1"/>
                  </a:solidFill>
                  <a:ea typeface="ＭＳ Ｐゴシック"/>
                  <a:cs typeface="ＭＳ Ｐゴシック"/>
                </a:rPr>
                <a:t>Just because you can, doesn’t mean you should.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class should have only ONE Responsibility</a:t>
            </a:r>
          </a:p>
          <a:p>
            <a:r>
              <a:rPr lang="en-GB" dirty="0"/>
              <a:t>A class should have only </a:t>
            </a:r>
            <a:r>
              <a:rPr lang="en-GB" b="1" dirty="0"/>
              <a:t>ONE</a:t>
            </a:r>
            <a:r>
              <a:rPr lang="en-GB" dirty="0"/>
              <a:t> reason to change</a:t>
            </a:r>
          </a:p>
          <a:p>
            <a:r>
              <a:rPr lang="en-GB" dirty="0"/>
              <a:t>A responsibility is “a reason for change.”</a:t>
            </a:r>
          </a:p>
          <a:p>
            <a:r>
              <a:rPr lang="en-GB" dirty="0"/>
              <a:t>The responsibilities of a class are axes of change.</a:t>
            </a:r>
          </a:p>
          <a:p>
            <a:pPr lvl="1"/>
            <a:r>
              <a:rPr lang="en-GB" dirty="0"/>
              <a:t>If it has two responsibilities, they are coupled in the design, and so have to change together.</a:t>
            </a:r>
          </a:p>
          <a:p>
            <a:endParaRPr lang="en-US" dirty="0"/>
          </a:p>
          <a:p>
            <a:r>
              <a:rPr lang="en-US" dirty="0"/>
              <a:t>If a class has more that one responsibility, it may become fragile when any of the requirements change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Responsibility Principle – Example</a:t>
            </a:r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151314" y="1524000"/>
            <a:ext cx="6372225" cy="5334000"/>
          </a:xfrm>
          <a:prstGeom prst="rect">
            <a:avLst/>
          </a:prstGeom>
          <a:noFill/>
        </p:spPr>
      </p:pic>
      <p:grpSp>
        <p:nvGrpSpPr>
          <p:cNvPr id="57353" name="Group 9"/>
          <p:cNvGrpSpPr>
            <a:grpSpLocks/>
          </p:cNvGrpSpPr>
          <p:nvPr/>
        </p:nvGrpSpPr>
        <p:grpSpPr bwMode="auto">
          <a:xfrm>
            <a:off x="1992313" y="2565401"/>
            <a:ext cx="1871662" cy="1655763"/>
            <a:chOff x="295" y="1253"/>
            <a:chExt cx="1179" cy="1043"/>
          </a:xfrm>
        </p:grpSpPr>
        <p:sp>
          <p:nvSpPr>
            <p:cNvPr id="57350" name="Rectangle 4"/>
            <p:cNvSpPr>
              <a:spLocks noChangeArrowheads="1"/>
            </p:cNvSpPr>
            <p:nvPr/>
          </p:nvSpPr>
          <p:spPr bwMode="auto">
            <a:xfrm>
              <a:off x="295" y="1706"/>
              <a:ext cx="1179" cy="5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  <a:p>
              <a:r>
                <a:rPr lang="en-US"/>
                <a:t>FormatReport()</a:t>
              </a:r>
            </a:p>
            <a:p>
              <a:r>
                <a:rPr lang="en-US"/>
                <a:t>Print()</a:t>
              </a:r>
            </a:p>
          </p:txBody>
        </p:sp>
        <p:sp>
          <p:nvSpPr>
            <p:cNvPr id="57351" name="Rectangle 5"/>
            <p:cNvSpPr>
              <a:spLocks noChangeArrowheads="1"/>
            </p:cNvSpPr>
            <p:nvPr/>
          </p:nvSpPr>
          <p:spPr bwMode="auto">
            <a:xfrm>
              <a:off x="295" y="1253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295" y="1525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4104" y="1841431"/>
            <a:ext cx="7205976" cy="1752645"/>
          </a:xfrm>
          <a:prstGeom prst="rect">
            <a:avLst/>
          </a:prstGeom>
          <a:noFill/>
        </p:spPr>
      </p:pic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6493" y="4005064"/>
            <a:ext cx="7412848" cy="2160240"/>
          </a:xfrm>
          <a:prstGeom prst="rect">
            <a:avLst/>
          </a:prstGeom>
          <a:noFill/>
        </p:spPr>
      </p:pic>
      <p:sp>
        <p:nvSpPr>
          <p:cNvPr id="58376" name="Rectang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 cstate="print"/>
          <a:srcRect b="50500"/>
          <a:stretch>
            <a:fillRect/>
          </a:stretch>
        </p:blipFill>
        <p:spPr bwMode="auto">
          <a:xfrm>
            <a:off x="943711" y="1861745"/>
            <a:ext cx="5183188" cy="1808162"/>
          </a:xfrm>
          <a:prstGeom prst="rect">
            <a:avLst/>
          </a:prstGeom>
          <a:noFill/>
        </p:spPr>
      </p:pic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2" cstate="print"/>
          <a:srcRect t="57365" r="7884"/>
          <a:stretch>
            <a:fillRect/>
          </a:stretch>
        </p:blipFill>
        <p:spPr bwMode="auto">
          <a:xfrm>
            <a:off x="3359943" y="4149080"/>
            <a:ext cx="6438039" cy="2099320"/>
          </a:xfrm>
          <a:prstGeom prst="rect">
            <a:avLst/>
          </a:prstGeom>
          <a:noFill/>
        </p:spPr>
      </p:pic>
      <p:sp>
        <p:nvSpPr>
          <p:cNvPr id="58376" name="Rectang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</a:p>
        </p:txBody>
      </p:sp>
    </p:spTree>
    <p:extLst>
      <p:ext uri="{BB962C8B-B14F-4D97-AF65-F5344CB8AC3E}">
        <p14:creationId xmlns:p14="http://schemas.microsoft.com/office/powerpoint/2010/main" val="205699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1703388" y="3716339"/>
            <a:ext cx="1871662" cy="93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GetData()</a:t>
            </a:r>
          </a:p>
          <a:p>
            <a:r>
              <a:rPr lang="en-US"/>
              <a:t>FormatReport()</a:t>
            </a:r>
          </a:p>
          <a:p>
            <a:r>
              <a:rPr lang="en-US"/>
              <a:t>Print()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1703388" y="2997200"/>
            <a:ext cx="1871662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Report</a:t>
            </a: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1703388" y="3429001"/>
            <a:ext cx="18716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4873626" y="1917701"/>
            <a:ext cx="5254625" cy="3167063"/>
            <a:chOff x="3349625" y="1917700"/>
            <a:chExt cx="5254625" cy="3167063"/>
          </a:xfrm>
        </p:grpSpPr>
        <p:grpSp>
          <p:nvGrpSpPr>
            <p:cNvPr id="32814" name="Group 46"/>
            <p:cNvGrpSpPr>
              <a:grpSpLocks/>
            </p:cNvGrpSpPr>
            <p:nvPr/>
          </p:nvGrpSpPr>
          <p:grpSpPr bwMode="auto">
            <a:xfrm>
              <a:off x="6732588" y="3860800"/>
              <a:ext cx="1871662" cy="1223963"/>
              <a:chOff x="4150" y="1254"/>
              <a:chExt cx="1179" cy="771"/>
            </a:xfrm>
          </p:grpSpPr>
          <p:sp>
            <p:nvSpPr>
              <p:cNvPr id="32793" name="Rectangle 4"/>
              <p:cNvSpPr>
                <a:spLocks noChangeArrowheads="1"/>
              </p:cNvSpPr>
              <p:nvPr/>
            </p:nvSpPr>
            <p:spPr bwMode="auto">
              <a:xfrm>
                <a:off x="4150" y="1707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GetData()</a:t>
                </a:r>
              </a:p>
            </p:txBody>
          </p:sp>
          <p:sp>
            <p:nvSpPr>
              <p:cNvPr id="32794" name="Rectangle 5"/>
              <p:cNvSpPr>
                <a:spLocks noChangeArrowheads="1"/>
              </p:cNvSpPr>
              <p:nvPr/>
            </p:nvSpPr>
            <p:spPr bwMode="auto">
              <a:xfrm>
                <a:off x="4150" y="1254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DataAccess</a:t>
                </a:r>
              </a:p>
            </p:txBody>
          </p:sp>
          <p:sp>
            <p:nvSpPr>
              <p:cNvPr id="32795" name="Rectangle 6"/>
              <p:cNvSpPr>
                <a:spLocks noChangeArrowheads="1"/>
              </p:cNvSpPr>
              <p:nvPr/>
            </p:nvSpPr>
            <p:spPr bwMode="auto">
              <a:xfrm>
                <a:off x="4150" y="1526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2" name="Group 44"/>
            <p:cNvGrpSpPr>
              <a:grpSpLocks/>
            </p:cNvGrpSpPr>
            <p:nvPr/>
          </p:nvGrpSpPr>
          <p:grpSpPr bwMode="auto">
            <a:xfrm>
              <a:off x="4429125" y="3860800"/>
              <a:ext cx="1871663" cy="1223963"/>
              <a:chOff x="4150" y="2251"/>
              <a:chExt cx="1179" cy="771"/>
            </a:xfrm>
          </p:grpSpPr>
          <p:sp>
            <p:nvSpPr>
              <p:cNvPr id="32796" name="Rectangle 4"/>
              <p:cNvSpPr>
                <a:spLocks noChangeArrowheads="1"/>
              </p:cNvSpPr>
              <p:nvPr/>
            </p:nvSpPr>
            <p:spPr bwMode="auto">
              <a:xfrm>
                <a:off x="4150" y="2704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err="1"/>
                  <a:t>FormatReport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2797" name="Rectangle 5"/>
              <p:cNvSpPr>
                <a:spLocks noChangeArrowheads="1"/>
              </p:cNvSpPr>
              <p:nvPr/>
            </p:nvSpPr>
            <p:spPr bwMode="auto">
              <a:xfrm>
                <a:off x="4150" y="2251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ReportFormater</a:t>
                </a:r>
              </a:p>
            </p:txBody>
          </p:sp>
          <p:sp>
            <p:nvSpPr>
              <p:cNvPr id="32798" name="Rectangle 6"/>
              <p:cNvSpPr>
                <a:spLocks noChangeArrowheads="1"/>
              </p:cNvSpPr>
              <p:nvPr/>
            </p:nvSpPr>
            <p:spPr bwMode="auto">
              <a:xfrm>
                <a:off x="4150" y="2523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3" name="Group 45"/>
            <p:cNvGrpSpPr>
              <a:grpSpLocks/>
            </p:cNvGrpSpPr>
            <p:nvPr/>
          </p:nvGrpSpPr>
          <p:grpSpPr bwMode="auto">
            <a:xfrm>
              <a:off x="5581650" y="1989138"/>
              <a:ext cx="1439863" cy="1008062"/>
              <a:chOff x="4150" y="3158"/>
              <a:chExt cx="1179" cy="771"/>
            </a:xfrm>
          </p:grpSpPr>
          <p:sp>
            <p:nvSpPr>
              <p:cNvPr id="32799" name="Rectangle 4"/>
              <p:cNvSpPr>
                <a:spLocks noChangeArrowheads="1"/>
              </p:cNvSpPr>
              <p:nvPr/>
            </p:nvSpPr>
            <p:spPr bwMode="auto">
              <a:xfrm>
                <a:off x="4150" y="3611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Print()</a:t>
                </a:r>
              </a:p>
            </p:txBody>
          </p:sp>
          <p:sp>
            <p:nvSpPr>
              <p:cNvPr id="32800" name="Rectangle 5"/>
              <p:cNvSpPr>
                <a:spLocks noChangeArrowheads="1"/>
              </p:cNvSpPr>
              <p:nvPr/>
            </p:nvSpPr>
            <p:spPr bwMode="auto">
              <a:xfrm>
                <a:off x="4150" y="3158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ReportPrinter</a:t>
                </a:r>
              </a:p>
            </p:txBody>
          </p:sp>
          <p:sp>
            <p:nvSpPr>
              <p:cNvPr id="32801" name="Rectangle 6"/>
              <p:cNvSpPr>
                <a:spLocks noChangeArrowheads="1"/>
              </p:cNvSpPr>
              <p:nvPr/>
            </p:nvSpPr>
            <p:spPr bwMode="auto">
              <a:xfrm>
                <a:off x="4150" y="3430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5" name="Group 47"/>
            <p:cNvGrpSpPr>
              <a:grpSpLocks/>
            </p:cNvGrpSpPr>
            <p:nvPr/>
          </p:nvGrpSpPr>
          <p:grpSpPr bwMode="auto">
            <a:xfrm>
              <a:off x="3349625" y="1917700"/>
              <a:ext cx="1439863" cy="1079500"/>
              <a:chOff x="1610" y="1933"/>
              <a:chExt cx="907" cy="680"/>
            </a:xfrm>
          </p:grpSpPr>
          <p:sp>
            <p:nvSpPr>
              <p:cNvPr id="32802" name="Rectangle 4"/>
              <p:cNvSpPr>
                <a:spLocks noChangeArrowheads="1"/>
              </p:cNvSpPr>
              <p:nvPr/>
            </p:nvSpPr>
            <p:spPr bwMode="auto">
              <a:xfrm>
                <a:off x="1610" y="2386"/>
                <a:ext cx="907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Print()</a:t>
                </a:r>
              </a:p>
            </p:txBody>
          </p:sp>
          <p:sp>
            <p:nvSpPr>
              <p:cNvPr id="32803" name="Rectangle 5"/>
              <p:cNvSpPr>
                <a:spLocks noChangeArrowheads="1"/>
              </p:cNvSpPr>
              <p:nvPr/>
            </p:nvSpPr>
            <p:spPr bwMode="auto">
              <a:xfrm>
                <a:off x="1610" y="1933"/>
                <a:ext cx="907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</a:t>
                </a:r>
              </a:p>
            </p:txBody>
          </p:sp>
          <p:sp>
            <p:nvSpPr>
              <p:cNvPr id="32804" name="Rectangle 6"/>
              <p:cNvSpPr>
                <a:spLocks noChangeArrowheads="1"/>
              </p:cNvSpPr>
              <p:nvPr/>
            </p:nvSpPr>
            <p:spPr bwMode="auto">
              <a:xfrm>
                <a:off x="1610" y="2205"/>
                <a:ext cx="90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6877050" y="29972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>
              <a:off x="5724525" y="29972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4789488" y="2493963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778452F-11BB-4932-BA53-34CB02F4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SRP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Reuse - If all your classes follow the SRP, you are more likely to reuse some of them</a:t>
            </a:r>
          </a:p>
          <a:p>
            <a:r>
              <a:rPr lang="en-US" dirty="0"/>
              <a:t>Clarity - Your code is cleaner as your classes don’t do unexpected things</a:t>
            </a:r>
          </a:p>
          <a:p>
            <a:r>
              <a:rPr lang="en-US" dirty="0"/>
              <a:t>Naming - As all your classes have a single responsibility, choosing a good name is easy</a:t>
            </a:r>
          </a:p>
          <a:p>
            <a:r>
              <a:rPr lang="en-US" dirty="0"/>
              <a:t>Readability - Due to the clarity, better names and shorter files the readability is improved greatly. </a:t>
            </a:r>
            <a:endParaRPr lang="it-IT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ctrTitle"/>
          </p:nvPr>
        </p:nvSpPr>
        <p:spPr>
          <a:xfrm>
            <a:off x="2654597" y="404664"/>
            <a:ext cx="5826719" cy="1646302"/>
          </a:xfrm>
        </p:spPr>
        <p:txBody>
          <a:bodyPr>
            <a:normAutofit/>
          </a:bodyPr>
          <a:lstStyle/>
          <a:p>
            <a:r>
              <a:rPr lang="en-US" dirty="0"/>
              <a:t>Open/Closed Principle</a:t>
            </a:r>
          </a:p>
        </p:txBody>
      </p:sp>
      <p:pic>
        <p:nvPicPr>
          <p:cNvPr id="3" name="Immagine 2" descr="Immagine che contiene fotografia, donna, uomo, tenendo&#10;&#10;Descrizione generata automaticamente">
            <a:extLst>
              <a:ext uri="{FF2B5EF4-FFF2-40B4-BE49-F238E27FC236}">
                <a16:creationId xmlns:a16="http://schemas.microsoft.com/office/drawing/2014/main" id="{AC9BD1F8-DFEC-49D7-ABBA-877907D09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2217802"/>
            <a:ext cx="5294418" cy="42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2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entities (module, classes, functions, etc.) should be open for extension but closed for modification</a:t>
            </a:r>
          </a:p>
          <a:p>
            <a:r>
              <a:rPr lang="en-GB" dirty="0"/>
              <a:t>Classes should be written so that they can be extended without requiring modification. </a:t>
            </a:r>
          </a:p>
          <a:p>
            <a:pPr lvl="1"/>
            <a:r>
              <a:rPr lang="en-GB" dirty="0"/>
              <a:t>extend the behaviour of a system (in response to a requested change)</a:t>
            </a:r>
          </a:p>
          <a:p>
            <a:pPr lvl="1"/>
            <a:r>
              <a:rPr lang="en-GB" dirty="0"/>
              <a:t>add new code</a:t>
            </a:r>
          </a:p>
          <a:p>
            <a:pPr lvl="1"/>
            <a:r>
              <a:rPr lang="en-GB" dirty="0"/>
              <a:t>But not modifying the existing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completed, the implementation of a class should only be modified to correct errors; new or changed features would require that a different class be created</a:t>
            </a:r>
            <a:endParaRPr lang="en-GB" dirty="0"/>
          </a:p>
          <a:p>
            <a:r>
              <a:rPr lang="en-GB" dirty="0"/>
              <a:t>Mechanism: Abstraction and subtype polymorphism are the keys to the OCP</a:t>
            </a:r>
          </a:p>
          <a:p>
            <a:pPr lvl="1"/>
            <a:r>
              <a:rPr lang="en-US" dirty="0"/>
              <a:t>Introducing Abstract Base Classes</a:t>
            </a:r>
          </a:p>
          <a:p>
            <a:pPr lvl="1"/>
            <a:r>
              <a:rPr lang="en-US" dirty="0"/>
              <a:t>Implementing common Interfaces</a:t>
            </a:r>
          </a:p>
          <a:p>
            <a:pPr lvl="1"/>
            <a:r>
              <a:rPr lang="en-US" dirty="0"/>
              <a:t>Deriving from common interfaces or 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46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</a:t>
            </a:r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get a request to change the print requirement</a:t>
            </a:r>
          </a:p>
          <a:p>
            <a:pPr lvl="1"/>
            <a:r>
              <a:rPr lang="en-US" dirty="0"/>
              <a:t>Format the report into Tabloid (instead of 8-1/2 X 11)</a:t>
            </a:r>
          </a:p>
          <a:p>
            <a:pPr lvl="1"/>
            <a:r>
              <a:rPr lang="en-US" dirty="0"/>
              <a:t>Print the report to a dot-matrix (instead of laser) printer</a:t>
            </a:r>
          </a:p>
          <a:p>
            <a:endParaRPr lang="en-US" dirty="0"/>
          </a:p>
          <a:p>
            <a:r>
              <a:rPr lang="en-US" dirty="0"/>
              <a:t>Solution 1: </a:t>
            </a:r>
          </a:p>
          <a:p>
            <a:pPr lvl="1"/>
            <a:r>
              <a:rPr lang="en-US" dirty="0"/>
              <a:t>Modify the code in </a:t>
            </a:r>
            <a:r>
              <a:rPr lang="en-US" dirty="0" err="1"/>
              <a:t>ReportPrinter</a:t>
            </a:r>
            <a:r>
              <a:rPr lang="en-US" dirty="0"/>
              <a:t> and </a:t>
            </a:r>
            <a:r>
              <a:rPr lang="en-US" dirty="0" err="1"/>
              <a:t>ReportFormatter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 some "if" to handle the different possibilities</a:t>
            </a:r>
          </a:p>
          <a:p>
            <a:endParaRPr lang="en-US" dirty="0"/>
          </a:p>
          <a:p>
            <a:r>
              <a:rPr lang="en-US" dirty="0"/>
              <a:t>Solution 2:</a:t>
            </a:r>
          </a:p>
          <a:p>
            <a:pPr lvl="1"/>
            <a:r>
              <a:rPr lang="en-US" dirty="0"/>
              <a:t>Add specialized subclasses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33E2265-9AE7-4879-8CB8-8A907D510A91}"/>
              </a:ext>
            </a:extLst>
          </p:cNvPr>
          <p:cNvGrpSpPr/>
          <p:nvPr/>
        </p:nvGrpSpPr>
        <p:grpSpPr>
          <a:xfrm>
            <a:off x="7320136" y="2204864"/>
            <a:ext cx="4059065" cy="2736304"/>
            <a:chOff x="1837109" y="3430116"/>
            <a:chExt cx="5183163" cy="3167063"/>
          </a:xfrm>
        </p:grpSpPr>
        <p:grpSp>
          <p:nvGrpSpPr>
            <p:cNvPr id="4" name="Group 46"/>
            <p:cNvGrpSpPr>
              <a:grpSpLocks/>
            </p:cNvGrpSpPr>
            <p:nvPr/>
          </p:nvGrpSpPr>
          <p:grpSpPr bwMode="auto">
            <a:xfrm>
              <a:off x="5148610" y="5373216"/>
              <a:ext cx="1871662" cy="1223963"/>
              <a:chOff x="4150" y="1254"/>
              <a:chExt cx="1179" cy="771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4150" y="1707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/>
                  <a:t>GetData()</a:t>
                </a: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4150" y="1254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DataAccess</a:t>
                </a: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4150" y="1526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8" name="Group 44"/>
            <p:cNvGrpSpPr>
              <a:grpSpLocks/>
            </p:cNvGrpSpPr>
            <p:nvPr/>
          </p:nvGrpSpPr>
          <p:grpSpPr bwMode="auto">
            <a:xfrm>
              <a:off x="2916609" y="5373216"/>
              <a:ext cx="1871663" cy="1223963"/>
              <a:chOff x="4150" y="2251"/>
              <a:chExt cx="1179" cy="771"/>
            </a:xfrm>
          </p:grpSpPr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4150" y="2704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 dirty="0" err="1">
                    <a:solidFill>
                      <a:srgbClr val="C00000"/>
                    </a:solidFill>
                  </a:rPr>
                  <a:t>FormatReport</a:t>
                </a:r>
                <a:r>
                  <a:rPr lang="en-US" sz="1050" dirty="0">
                    <a:solidFill>
                      <a:srgbClr val="C00000"/>
                    </a:solidFill>
                  </a:rPr>
                  <a:t>()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4150" y="2251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ReportFormater</a:t>
                </a: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4150" y="2523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12" name="Group 45"/>
            <p:cNvGrpSpPr>
              <a:grpSpLocks/>
            </p:cNvGrpSpPr>
            <p:nvPr/>
          </p:nvGrpSpPr>
          <p:grpSpPr bwMode="auto">
            <a:xfrm>
              <a:off x="4069134" y="3501554"/>
              <a:ext cx="1439863" cy="1008062"/>
              <a:chOff x="4150" y="3158"/>
              <a:chExt cx="1179" cy="771"/>
            </a:xfrm>
          </p:grpSpPr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4150" y="3611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 dirty="0">
                    <a:solidFill>
                      <a:srgbClr val="C00000"/>
                    </a:solidFill>
                  </a:rPr>
                  <a:t>Print()</a:t>
                </a:r>
              </a:p>
            </p:txBody>
          </p:sp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4150" y="3158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dirty="0" err="1"/>
                  <a:t>ReportPrinter</a:t>
                </a:r>
                <a:endParaRPr lang="en-US" sz="1050" dirty="0"/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4150" y="3430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16" name="Group 47"/>
            <p:cNvGrpSpPr>
              <a:grpSpLocks/>
            </p:cNvGrpSpPr>
            <p:nvPr/>
          </p:nvGrpSpPr>
          <p:grpSpPr bwMode="auto">
            <a:xfrm>
              <a:off x="1837109" y="3430116"/>
              <a:ext cx="1439863" cy="1079500"/>
              <a:chOff x="1610" y="1933"/>
              <a:chExt cx="907" cy="680"/>
            </a:xfrm>
          </p:grpSpPr>
          <p:sp>
            <p:nvSpPr>
              <p:cNvPr id="17" name="Rectangle 4"/>
              <p:cNvSpPr>
                <a:spLocks noChangeArrowheads="1"/>
              </p:cNvSpPr>
              <p:nvPr/>
            </p:nvSpPr>
            <p:spPr bwMode="auto">
              <a:xfrm>
                <a:off x="1610" y="2386"/>
                <a:ext cx="907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/>
                  <a:t>Print()</a:t>
                </a:r>
              </a:p>
            </p:txBody>
          </p:sp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1610" y="1933"/>
                <a:ext cx="907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Report</a:t>
                </a:r>
              </a:p>
            </p:txBody>
          </p:sp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1610" y="2205"/>
                <a:ext cx="90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>
              <a:off x="5364534" y="4509616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" name="Line 42"/>
            <p:cNvSpPr>
              <a:spLocks noChangeShapeType="1"/>
            </p:cNvSpPr>
            <p:nvPr/>
          </p:nvSpPr>
          <p:spPr bwMode="auto">
            <a:xfrm>
              <a:off x="4212009" y="4509616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" name="Line 43"/>
            <p:cNvSpPr>
              <a:spLocks noChangeShapeType="1"/>
            </p:cNvSpPr>
            <p:nvPr/>
          </p:nvSpPr>
          <p:spPr bwMode="auto">
            <a:xfrm>
              <a:off x="3276972" y="4006379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OCP – Example ct.</a:t>
            </a:r>
          </a:p>
        </p:txBody>
      </p:sp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3" cstate="print"/>
          <a:srcRect b="55116"/>
          <a:stretch>
            <a:fillRect/>
          </a:stretch>
        </p:blipFill>
        <p:spPr bwMode="auto">
          <a:xfrm>
            <a:off x="612071" y="1805084"/>
            <a:ext cx="6880017" cy="1669243"/>
          </a:xfrm>
          <a:prstGeom prst="rect">
            <a:avLst/>
          </a:prstGeom>
          <a:noFill/>
        </p:spPr>
      </p:pic>
      <p:pic>
        <p:nvPicPr>
          <p:cNvPr id="59398" name="Picture 6"/>
          <p:cNvPicPr>
            <a:picLocks noChangeAspect="1" noChangeArrowheads="1"/>
          </p:cNvPicPr>
          <p:nvPr/>
        </p:nvPicPr>
        <p:blipFill>
          <a:blip r:embed="rId3" cstate="print"/>
          <a:srcRect t="48639"/>
          <a:stretch>
            <a:fillRect/>
          </a:stretch>
        </p:blipFill>
        <p:spPr bwMode="auto">
          <a:xfrm>
            <a:off x="612071" y="3676747"/>
            <a:ext cx="6880017" cy="1910117"/>
          </a:xfrm>
          <a:prstGeom prst="rect">
            <a:avLst/>
          </a:prstGeom>
          <a:noFill/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B5B934AE-1C47-4708-A44B-3149A3FBE8D3}"/>
              </a:ext>
            </a:extLst>
          </p:cNvPr>
          <p:cNvGrpSpPr/>
          <p:nvPr/>
        </p:nvGrpSpPr>
        <p:grpSpPr>
          <a:xfrm>
            <a:off x="6581768" y="1013994"/>
            <a:ext cx="4831172" cy="4140572"/>
            <a:chOff x="6528048" y="368548"/>
            <a:chExt cx="4031432" cy="3455152"/>
          </a:xfrm>
        </p:grpSpPr>
        <p:grpSp>
          <p:nvGrpSpPr>
            <p:cNvPr id="45" name="Group 44"/>
            <p:cNvGrpSpPr/>
            <p:nvPr/>
          </p:nvGrpSpPr>
          <p:grpSpPr>
            <a:xfrm>
              <a:off x="6528048" y="368548"/>
              <a:ext cx="4031432" cy="2564904"/>
              <a:chOff x="5112568" y="0"/>
              <a:chExt cx="4031432" cy="2564904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5112568" y="0"/>
                <a:ext cx="3995936" cy="256490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46"/>
              <p:cNvGrpSpPr>
                <a:grpSpLocks/>
              </p:cNvGrpSpPr>
              <p:nvPr/>
            </p:nvGrpSpPr>
            <p:grpSpPr bwMode="auto">
              <a:xfrm>
                <a:off x="7771972" y="1485297"/>
                <a:ext cx="1372028" cy="935592"/>
                <a:chOff x="4150" y="1254"/>
                <a:chExt cx="1179" cy="771"/>
              </a:xfrm>
              <a:solidFill>
                <a:schemeClr val="bg1"/>
              </a:solidFill>
            </p:grpSpPr>
            <p:sp>
              <p:nvSpPr>
                <p:cNvPr id="41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1707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GetData()</a:t>
                  </a:r>
                </a:p>
              </p:txBody>
            </p:sp>
            <p:sp>
              <p:nvSpPr>
                <p:cNvPr id="42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1254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DataAccess</a:t>
                  </a:r>
                </a:p>
              </p:txBody>
            </p:sp>
            <p:sp>
              <p:nvSpPr>
                <p:cNvPr id="43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1526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6" name="Group 44"/>
              <p:cNvGrpSpPr>
                <a:grpSpLocks/>
              </p:cNvGrpSpPr>
              <p:nvPr/>
            </p:nvGrpSpPr>
            <p:grpSpPr bwMode="auto">
              <a:xfrm>
                <a:off x="6083411" y="1485297"/>
                <a:ext cx="1372029" cy="935592"/>
                <a:chOff x="4150" y="2251"/>
                <a:chExt cx="1179" cy="771"/>
              </a:xfrm>
              <a:solidFill>
                <a:schemeClr val="bg1"/>
              </a:solidFill>
            </p:grpSpPr>
            <p:sp>
              <p:nvSpPr>
                <p:cNvPr id="38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2704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 dirty="0" err="1"/>
                    <a:t>FormatReport</a:t>
                  </a:r>
                  <a:r>
                    <a:rPr lang="en-US" sz="1100" dirty="0"/>
                    <a:t>()</a:t>
                  </a:r>
                </a:p>
              </p:txBody>
            </p:sp>
            <p:sp>
              <p:nvSpPr>
                <p:cNvPr id="39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2251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 dirty="0" err="1"/>
                    <a:t>ReportFormater</a:t>
                  </a:r>
                  <a:endParaRPr lang="en-US" sz="1100" dirty="0"/>
                </a:p>
              </p:txBody>
            </p:sp>
            <p:sp>
              <p:nvSpPr>
                <p:cNvPr id="40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2523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7" name="Group 45"/>
              <p:cNvGrpSpPr>
                <a:grpSpLocks/>
              </p:cNvGrpSpPr>
              <p:nvPr/>
            </p:nvGrpSpPr>
            <p:grpSpPr bwMode="auto">
              <a:xfrm>
                <a:off x="6928273" y="54611"/>
                <a:ext cx="1055496" cy="770559"/>
                <a:chOff x="4150" y="3158"/>
                <a:chExt cx="1179" cy="771"/>
              </a:xfrm>
              <a:solidFill>
                <a:schemeClr val="bg1"/>
              </a:solidFill>
            </p:grpSpPr>
            <p:sp>
              <p:nvSpPr>
                <p:cNvPr id="35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3611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Print()</a:t>
                  </a:r>
                </a:p>
              </p:txBody>
            </p:sp>
            <p:sp>
              <p:nvSpPr>
                <p:cNvPr id="36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3158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ReportPrinter</a:t>
                  </a:r>
                </a:p>
              </p:txBody>
            </p:sp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3430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8" name="Group 47"/>
              <p:cNvGrpSpPr>
                <a:grpSpLocks/>
              </p:cNvGrpSpPr>
              <p:nvPr/>
            </p:nvGrpSpPr>
            <p:grpSpPr bwMode="auto">
              <a:xfrm>
                <a:off x="5292080" y="3"/>
                <a:ext cx="1055496" cy="825165"/>
                <a:chOff x="1610" y="1933"/>
                <a:chExt cx="907" cy="680"/>
              </a:xfrm>
              <a:solidFill>
                <a:schemeClr val="bg1"/>
              </a:solidFill>
            </p:grpSpPr>
            <p:sp>
              <p:nvSpPr>
                <p:cNvPr id="32" name="Rectangle 4"/>
                <p:cNvSpPr>
                  <a:spLocks noChangeArrowheads="1"/>
                </p:cNvSpPr>
                <p:nvPr/>
              </p:nvSpPr>
              <p:spPr bwMode="auto">
                <a:xfrm>
                  <a:off x="1610" y="2386"/>
                  <a:ext cx="907" cy="227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Print()</a:t>
                  </a:r>
                </a:p>
              </p:txBody>
            </p:sp>
            <p:sp>
              <p:nvSpPr>
                <p:cNvPr id="33" name="Rectangle 5"/>
                <p:cNvSpPr>
                  <a:spLocks noChangeArrowheads="1"/>
                </p:cNvSpPr>
                <p:nvPr/>
              </p:nvSpPr>
              <p:spPr bwMode="auto">
                <a:xfrm>
                  <a:off x="1610" y="1933"/>
                  <a:ext cx="907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Report</a:t>
                  </a:r>
                </a:p>
              </p:txBody>
            </p:sp>
            <p:sp>
              <p:nvSpPr>
                <p:cNvPr id="34" name="Rectangle 6"/>
                <p:cNvSpPr>
                  <a:spLocks noChangeArrowheads="1"/>
                </p:cNvSpPr>
                <p:nvPr/>
              </p:nvSpPr>
              <p:spPr bwMode="auto">
                <a:xfrm>
                  <a:off x="1610" y="2205"/>
                  <a:ext cx="907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29" name="Line 41"/>
              <p:cNvSpPr>
                <a:spLocks noChangeShapeType="1"/>
              </p:cNvSpPr>
              <p:nvPr/>
            </p:nvSpPr>
            <p:spPr bwMode="auto">
              <a:xfrm>
                <a:off x="7877870" y="825166"/>
                <a:ext cx="0" cy="660132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30" name="Line 42"/>
              <p:cNvSpPr>
                <a:spLocks noChangeShapeType="1"/>
              </p:cNvSpPr>
              <p:nvPr/>
            </p:nvSpPr>
            <p:spPr bwMode="auto">
              <a:xfrm>
                <a:off x="7033008" y="825166"/>
                <a:ext cx="0" cy="660132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31" name="Line 43"/>
              <p:cNvSpPr>
                <a:spLocks noChangeShapeType="1"/>
              </p:cNvSpPr>
              <p:nvPr/>
            </p:nvSpPr>
            <p:spPr bwMode="auto">
              <a:xfrm>
                <a:off x="6347576" y="440494"/>
                <a:ext cx="580697" cy="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</p:grpSp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EA1DD034-F5C2-43C3-A877-A773F48D9E48}"/>
                </a:ext>
              </a:extLst>
            </p:cNvPr>
            <p:cNvGrpSpPr/>
            <p:nvPr/>
          </p:nvGrpSpPr>
          <p:grpSpPr>
            <a:xfrm>
              <a:off x="7392146" y="2782300"/>
              <a:ext cx="1585520" cy="1041400"/>
              <a:chOff x="5780840" y="2782299"/>
              <a:chExt cx="2124075" cy="1512887"/>
            </a:xfrm>
          </p:grpSpPr>
          <p:grpSp>
            <p:nvGrpSpPr>
              <p:cNvPr id="46" name="Group 32">
                <a:extLst>
                  <a:ext uri="{FF2B5EF4-FFF2-40B4-BE49-F238E27FC236}">
                    <a16:creationId xmlns:a16="http://schemas.microsoft.com/office/drawing/2014/main" id="{72DFA840-7506-45CE-8462-E707F39874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80840" y="3287124"/>
                <a:ext cx="2124075" cy="1008062"/>
                <a:chOff x="4150" y="2251"/>
                <a:chExt cx="1179" cy="771"/>
              </a:xfrm>
            </p:grpSpPr>
            <p:sp>
              <p:nvSpPr>
                <p:cNvPr id="47" name="Rectangle 4">
                  <a:extLst>
                    <a:ext uri="{FF2B5EF4-FFF2-40B4-BE49-F238E27FC236}">
                      <a16:creationId xmlns:a16="http://schemas.microsoft.com/office/drawing/2014/main" id="{85181D9F-82AA-489C-8638-8D9527F9FE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704"/>
                  <a:ext cx="1179" cy="31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 dirty="0" err="1"/>
                    <a:t>FormatReport</a:t>
                  </a:r>
                  <a:r>
                    <a:rPr lang="en-US" sz="1100" dirty="0"/>
                    <a:t>()</a:t>
                  </a:r>
                </a:p>
              </p:txBody>
            </p:sp>
            <p:sp>
              <p:nvSpPr>
                <p:cNvPr id="48" name="Rectangle 5">
                  <a:extLst>
                    <a:ext uri="{FF2B5EF4-FFF2-40B4-BE49-F238E27FC236}">
                      <a16:creationId xmlns:a16="http://schemas.microsoft.com/office/drawing/2014/main" id="{D3E9523D-85D7-4906-A731-6CFB32A36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251"/>
                  <a:ext cx="1179" cy="27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 dirty="0" err="1"/>
                    <a:t>TabloidReportFormater</a:t>
                  </a:r>
                  <a:endParaRPr lang="en-US" sz="1100" dirty="0"/>
                </a:p>
              </p:txBody>
            </p:sp>
            <p:sp>
              <p:nvSpPr>
                <p:cNvPr id="49" name="Rectangle 6">
                  <a:extLst>
                    <a:ext uri="{FF2B5EF4-FFF2-40B4-BE49-F238E27FC236}">
                      <a16:creationId xmlns:a16="http://schemas.microsoft.com/office/drawing/2014/main" id="{2B1DBD8B-B034-4C5D-9758-58C129593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523"/>
                  <a:ext cx="1179" cy="18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50" name="Line 37">
                <a:extLst>
                  <a:ext uri="{FF2B5EF4-FFF2-40B4-BE49-F238E27FC236}">
                    <a16:creationId xmlns:a16="http://schemas.microsoft.com/office/drawing/2014/main" id="{19D71D6C-3F05-4FF7-B79A-6331F5B54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1975" y="2782299"/>
                <a:ext cx="0" cy="5048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lg" len="lg"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cnt.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850" y="4000500"/>
            <a:ext cx="8332788" cy="2857500"/>
          </a:xfrm>
          <a:prstGeom prst="rect">
            <a:avLst/>
          </a:prstGeom>
          <a:noFill/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 cstate="print"/>
          <a:srcRect b="4857"/>
          <a:stretch>
            <a:fillRect/>
          </a:stretch>
        </p:blipFill>
        <p:spPr bwMode="auto">
          <a:xfrm>
            <a:off x="737395" y="1472407"/>
            <a:ext cx="7770812" cy="2519362"/>
          </a:xfrm>
          <a:prstGeom prst="rect">
            <a:avLst/>
          </a:prstGeom>
          <a:noFill/>
        </p:spPr>
      </p:pic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7104064" y="5086350"/>
            <a:ext cx="2808287" cy="5032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OCP – Final Class Diagram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7773764" y="1556792"/>
            <a:ext cx="1368425" cy="1008062"/>
            <a:chOff x="4150" y="1254"/>
            <a:chExt cx="1179" cy="771"/>
          </a:xfrm>
        </p:grpSpPr>
        <p:sp>
          <p:nvSpPr>
            <p:cNvPr id="62469" name="Rectangle 4"/>
            <p:cNvSpPr>
              <a:spLocks noChangeArrowheads="1"/>
            </p:cNvSpPr>
            <p:nvPr/>
          </p:nvSpPr>
          <p:spPr bwMode="auto">
            <a:xfrm>
              <a:off x="4150" y="1707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</p:txBody>
        </p:sp>
        <p:sp>
          <p:nvSpPr>
            <p:cNvPr id="62470" name="Rectangle 5"/>
            <p:cNvSpPr>
              <a:spLocks noChangeArrowheads="1"/>
            </p:cNvSpPr>
            <p:nvPr/>
          </p:nvSpPr>
          <p:spPr bwMode="auto">
            <a:xfrm>
              <a:off x="4150" y="1254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DataAccess</a:t>
              </a:r>
            </a:p>
          </p:txBody>
        </p:sp>
        <p:sp>
          <p:nvSpPr>
            <p:cNvPr id="62471" name="Rectangle 6"/>
            <p:cNvSpPr>
              <a:spLocks noChangeArrowheads="1"/>
            </p:cNvSpPr>
            <p:nvPr/>
          </p:nvSpPr>
          <p:spPr bwMode="auto">
            <a:xfrm>
              <a:off x="4150" y="1526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7773764" y="2707730"/>
            <a:ext cx="1800225" cy="1008063"/>
            <a:chOff x="4150" y="2251"/>
            <a:chExt cx="1179" cy="771"/>
          </a:xfrm>
        </p:grpSpPr>
        <p:sp>
          <p:nvSpPr>
            <p:cNvPr id="62473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/>
                <a:t>FormatReport</a:t>
              </a:r>
              <a:r>
                <a:rPr lang="en-US" dirty="0"/>
                <a:t>()</a:t>
              </a:r>
            </a:p>
          </p:txBody>
        </p:sp>
        <p:sp>
          <p:nvSpPr>
            <p:cNvPr id="62474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ReportFormater</a:t>
              </a:r>
            </a:p>
          </p:txBody>
        </p:sp>
        <p:sp>
          <p:nvSpPr>
            <p:cNvPr id="62475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76" name="Group 12"/>
          <p:cNvGrpSpPr>
            <a:grpSpLocks/>
          </p:cNvGrpSpPr>
          <p:nvPr/>
        </p:nvGrpSpPr>
        <p:grpSpPr bwMode="auto">
          <a:xfrm>
            <a:off x="5325839" y="2204492"/>
            <a:ext cx="1439863" cy="1008062"/>
            <a:chOff x="4150" y="3158"/>
            <a:chExt cx="1179" cy="771"/>
          </a:xfrm>
        </p:grpSpPr>
        <p:sp>
          <p:nvSpPr>
            <p:cNvPr id="62477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78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62479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80" name="Group 16"/>
          <p:cNvGrpSpPr>
            <a:grpSpLocks/>
          </p:cNvGrpSpPr>
          <p:nvPr/>
        </p:nvGrpSpPr>
        <p:grpSpPr bwMode="auto">
          <a:xfrm>
            <a:off x="2157189" y="2133054"/>
            <a:ext cx="1439863" cy="1079500"/>
            <a:chOff x="1610" y="1933"/>
            <a:chExt cx="907" cy="680"/>
          </a:xfrm>
        </p:grpSpPr>
        <p:sp>
          <p:nvSpPr>
            <p:cNvPr id="62481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82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62483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484" name="Line 20"/>
          <p:cNvSpPr>
            <a:spLocks noChangeShapeType="1"/>
          </p:cNvSpPr>
          <p:nvPr/>
        </p:nvSpPr>
        <p:spPr bwMode="auto">
          <a:xfrm>
            <a:off x="6765701" y="2348954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85" name="Line 21"/>
          <p:cNvSpPr>
            <a:spLocks noChangeShapeType="1"/>
          </p:cNvSpPr>
          <p:nvPr/>
        </p:nvSpPr>
        <p:spPr bwMode="auto">
          <a:xfrm>
            <a:off x="6765701" y="2996654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86" name="Line 22"/>
          <p:cNvSpPr>
            <a:spLocks noChangeShapeType="1"/>
          </p:cNvSpPr>
          <p:nvPr/>
        </p:nvSpPr>
        <p:spPr bwMode="auto">
          <a:xfrm>
            <a:off x="3597052" y="2707729"/>
            <a:ext cx="172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2487" name="Group 23"/>
          <p:cNvGrpSpPr>
            <a:grpSpLocks/>
          </p:cNvGrpSpPr>
          <p:nvPr/>
        </p:nvGrpSpPr>
        <p:grpSpPr bwMode="auto">
          <a:xfrm>
            <a:off x="2157189" y="3788817"/>
            <a:ext cx="1439863" cy="1079500"/>
            <a:chOff x="1610" y="1933"/>
            <a:chExt cx="907" cy="680"/>
          </a:xfrm>
        </p:grpSpPr>
        <p:sp>
          <p:nvSpPr>
            <p:cNvPr id="62488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89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62490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491" name="Line 27"/>
          <p:cNvSpPr>
            <a:spLocks noChangeShapeType="1"/>
          </p:cNvSpPr>
          <p:nvPr/>
        </p:nvSpPr>
        <p:spPr bwMode="auto">
          <a:xfrm>
            <a:off x="2877913" y="321255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2492" name="Group 28"/>
          <p:cNvGrpSpPr>
            <a:grpSpLocks/>
          </p:cNvGrpSpPr>
          <p:nvPr/>
        </p:nvGrpSpPr>
        <p:grpSpPr bwMode="auto">
          <a:xfrm>
            <a:off x="4965477" y="4220617"/>
            <a:ext cx="2376487" cy="1008062"/>
            <a:chOff x="4150" y="3158"/>
            <a:chExt cx="1179" cy="771"/>
          </a:xfrm>
        </p:grpSpPr>
        <p:sp>
          <p:nvSpPr>
            <p:cNvPr id="62493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94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err="1"/>
                <a:t>TabloidReportPrinter</a:t>
              </a:r>
              <a:endParaRPr lang="en-US" dirty="0"/>
            </a:p>
          </p:txBody>
        </p:sp>
        <p:sp>
          <p:nvSpPr>
            <p:cNvPr id="62495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96" name="Group 32"/>
          <p:cNvGrpSpPr>
            <a:grpSpLocks/>
          </p:cNvGrpSpPr>
          <p:nvPr/>
        </p:nvGrpSpPr>
        <p:grpSpPr bwMode="auto">
          <a:xfrm>
            <a:off x="7702327" y="4220617"/>
            <a:ext cx="2124075" cy="1008062"/>
            <a:chOff x="4150" y="2251"/>
            <a:chExt cx="1179" cy="771"/>
          </a:xfrm>
        </p:grpSpPr>
        <p:sp>
          <p:nvSpPr>
            <p:cNvPr id="62497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/>
                <a:t>FormatReport</a:t>
              </a:r>
              <a:r>
                <a:rPr lang="en-US" dirty="0"/>
                <a:t>()</a:t>
              </a:r>
            </a:p>
          </p:txBody>
        </p:sp>
        <p:sp>
          <p:nvSpPr>
            <p:cNvPr id="62498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TabloidReportFormater</a:t>
              </a:r>
            </a:p>
          </p:txBody>
        </p:sp>
        <p:sp>
          <p:nvSpPr>
            <p:cNvPr id="62499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500" name="Line 36"/>
          <p:cNvSpPr>
            <a:spLocks noChangeShapeType="1"/>
          </p:cNvSpPr>
          <p:nvPr/>
        </p:nvSpPr>
        <p:spPr bwMode="auto">
          <a:xfrm>
            <a:off x="5902101" y="321255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501" name="Line 37"/>
          <p:cNvSpPr>
            <a:spLocks noChangeShapeType="1"/>
          </p:cNvSpPr>
          <p:nvPr/>
        </p:nvSpPr>
        <p:spPr bwMode="auto">
          <a:xfrm>
            <a:off x="8565926" y="371579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cnt.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B883E5-D1AD-4CC2-A433-C37F8D66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2" y="1247639"/>
            <a:ext cx="7675563" cy="4695825"/>
          </a:xfrm>
          <a:prstGeom prst="rect">
            <a:avLst/>
          </a:prstGeom>
          <a:noFill/>
        </p:spPr>
      </p:pic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1703512" y="6519446"/>
            <a:ext cx="856863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i="1" dirty="0">
                <a:solidFill>
                  <a:srgbClr val="C00000"/>
                </a:solidFill>
              </a:rPr>
              <a:t>Note </a:t>
            </a:r>
            <a:r>
              <a:rPr lang="en-US" sz="1600" i="1" dirty="0">
                <a:solidFill>
                  <a:srgbClr val="C00000"/>
                </a:solidFill>
              </a:rPr>
              <a:t>the extension of the system behaviour without making modification to existing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OCP</a:t>
            </a:r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is more stable</a:t>
            </a:r>
          </a:p>
          <a:p>
            <a:pPr lvl="1"/>
            <a:r>
              <a:rPr lang="en-US" dirty="0"/>
              <a:t>existing (working) code does not change</a:t>
            </a:r>
          </a:p>
          <a:p>
            <a:pPr lvl="1"/>
            <a:r>
              <a:rPr lang="en-US" dirty="0"/>
              <a:t>changes are made by adding, not modifying, code</a:t>
            </a:r>
          </a:p>
          <a:p>
            <a:pPr lvl="1"/>
            <a:r>
              <a:rPr lang="en-US" dirty="0"/>
              <a:t>changes are isolated and do not cascade throughout the code</a:t>
            </a:r>
          </a:p>
          <a:p>
            <a:r>
              <a:rPr lang="en-US" dirty="0"/>
              <a:t>code is potentially easier to test</a:t>
            </a:r>
          </a:p>
          <a:p>
            <a:r>
              <a:rPr lang="en-US" dirty="0"/>
              <a:t>change is easier to manage</a:t>
            </a:r>
          </a:p>
          <a:p>
            <a:pPr lvl="1"/>
            <a:r>
              <a:rPr lang="en-US" dirty="0"/>
              <a:t>code is easier to replace</a:t>
            </a:r>
          </a:p>
          <a:p>
            <a:pPr lvl="1"/>
            <a:r>
              <a:rPr lang="en-US" dirty="0"/>
              <a:t>design is extensible</a:t>
            </a:r>
          </a:p>
          <a:p>
            <a:r>
              <a:rPr lang="en-US" dirty="0"/>
              <a:t>code is potentially reusable</a:t>
            </a:r>
          </a:p>
          <a:p>
            <a:r>
              <a:rPr lang="en-US" dirty="0"/>
              <a:t>Higher abstraction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ctrTitle"/>
          </p:nvPr>
        </p:nvSpPr>
        <p:spPr>
          <a:xfrm>
            <a:off x="2783633" y="332656"/>
            <a:ext cx="5826719" cy="1646302"/>
          </a:xfrm>
        </p:spPr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4577" y="1978958"/>
            <a:ext cx="5565775" cy="445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</a:t>
            </a:r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Subclasses should be substitutable for their base class</a:t>
            </a:r>
          </a:p>
          <a:p>
            <a:r>
              <a:rPr lang="en-US" dirty="0"/>
              <a:t>LSP states that if a program module is using a Base class, then the reference to the Base class can be replaced with a Derived class without affecting the functionality of the program module.</a:t>
            </a:r>
          </a:p>
          <a:p>
            <a:r>
              <a:rPr lang="en-US" dirty="0"/>
              <a:t>“A derived class should have some kind of specialized </a:t>
            </a:r>
            <a:r>
              <a:rPr lang="en-US" dirty="0" err="1"/>
              <a:t>behaviour</a:t>
            </a:r>
            <a:r>
              <a:rPr lang="en-US" dirty="0"/>
              <a:t> (it should provide the same services as the superclass, only some, at least, are provided differently.)”</a:t>
            </a:r>
          </a:p>
          <a:p>
            <a:r>
              <a:rPr lang="en-US" dirty="0"/>
              <a:t>The contract of the base class must be </a:t>
            </a:r>
            <a:r>
              <a:rPr lang="en-US" dirty="0" err="1"/>
              <a:t>honoured</a:t>
            </a:r>
            <a:r>
              <a:rPr lang="en-US" dirty="0"/>
              <a:t> by the derived class.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E4D32-DB29-46C5-96C7-EB771CD6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AC64C5-974E-4475-A058-622F69EE6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basic Object-Oriented principles, “Inheritance” is usually described as an "is a" relationship. </a:t>
            </a:r>
          </a:p>
          <a:p>
            <a:r>
              <a:rPr lang="en-US" dirty="0"/>
              <a:t>If a “Developer” is a “</a:t>
            </a:r>
            <a:r>
              <a:rPr lang="en-US" dirty="0" err="1"/>
              <a:t>SoftwareProfessional</a:t>
            </a:r>
            <a:r>
              <a:rPr lang="en-US" dirty="0"/>
              <a:t>”, then, the “Developer” class should inherit the “</a:t>
            </a:r>
            <a:r>
              <a:rPr lang="en-US" dirty="0" err="1"/>
              <a:t>SoftwareProfessional</a:t>
            </a:r>
            <a:r>
              <a:rPr lang="en-US" dirty="0"/>
              <a:t>” class.</a:t>
            </a:r>
          </a:p>
          <a:p>
            <a:r>
              <a:rPr lang="en-US" dirty="0"/>
              <a:t>Such “Is a” relationship is very important in class designs, but it is easy to get carried away and end up in wrong design with bad inheritance.</a:t>
            </a:r>
          </a:p>
          <a:p>
            <a:r>
              <a:rPr lang="en-US" dirty="0"/>
              <a:t>The “</a:t>
            </a:r>
            <a:r>
              <a:rPr lang="en-US" dirty="0" err="1"/>
              <a:t>Liskov's</a:t>
            </a:r>
            <a:r>
              <a:rPr lang="en-US" dirty="0"/>
              <a:t> Substitution Principle” is a way of ensuring that inheritance is used correctly.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1684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61A6E58-DDE7-4737-9FAA-BD208C6F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Violazione LSP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D65D0E-AF9A-49BD-9EAB-6E0EA35A5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Rectangle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private double </a:t>
            </a:r>
            <a:r>
              <a:rPr lang="it-IT" dirty="0" err="1"/>
              <a:t>height</a:t>
            </a:r>
            <a:r>
              <a:rPr lang="it-IT" dirty="0"/>
              <a:t>;</a:t>
            </a:r>
          </a:p>
          <a:p>
            <a:pPr marL="0" indent="0">
              <a:buNone/>
            </a:pPr>
            <a:r>
              <a:rPr lang="it-IT" dirty="0"/>
              <a:t>    private double </a:t>
            </a:r>
            <a:r>
              <a:rPr lang="it-IT" dirty="0" err="1"/>
              <a:t>width</a:t>
            </a:r>
            <a:r>
              <a:rPr lang="it-IT" dirty="0"/>
              <a:t>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setHeight</a:t>
            </a:r>
            <a:r>
              <a:rPr lang="it-IT" dirty="0"/>
              <a:t>(double h) { </a:t>
            </a:r>
            <a:r>
              <a:rPr lang="it-IT" dirty="0" err="1"/>
              <a:t>height</a:t>
            </a:r>
            <a:r>
              <a:rPr lang="it-IT" dirty="0"/>
              <a:t> = h; 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setWidht</a:t>
            </a:r>
            <a:r>
              <a:rPr lang="it-IT" dirty="0"/>
              <a:t>(double w) { </a:t>
            </a:r>
            <a:r>
              <a:rPr lang="it-IT" dirty="0" err="1"/>
              <a:t>width</a:t>
            </a:r>
            <a:r>
              <a:rPr lang="it-IT" dirty="0"/>
              <a:t> = w; }</a:t>
            </a:r>
          </a:p>
          <a:p>
            <a:pPr marL="0" indent="0">
              <a:buNone/>
            </a:pPr>
            <a:r>
              <a:rPr lang="it-IT" dirty="0"/>
              <a:t>    ...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B4283B-7CBD-41F3-87E6-39C49FA44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Square</a:t>
            </a:r>
            <a:r>
              <a:rPr lang="it-IT" dirty="0"/>
              <a:t> </a:t>
            </a:r>
            <a:r>
              <a:rPr lang="it-IT" dirty="0" err="1"/>
              <a:t>extends</a:t>
            </a:r>
            <a:r>
              <a:rPr lang="it-IT" dirty="0"/>
              <a:t> </a:t>
            </a:r>
            <a:r>
              <a:rPr lang="it-IT" dirty="0" err="1"/>
              <a:t>Rectangle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setHeight</a:t>
            </a:r>
            <a:r>
              <a:rPr lang="it-IT" dirty="0"/>
              <a:t>(double h) {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super.setHeight</a:t>
            </a:r>
            <a:r>
              <a:rPr lang="it-IT" dirty="0"/>
              <a:t>(h);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super.setWidth</a:t>
            </a:r>
            <a:r>
              <a:rPr lang="it-IT" dirty="0"/>
              <a:t>(w);</a:t>
            </a:r>
          </a:p>
          <a:p>
            <a:pPr marL="0" indent="0">
              <a:buNone/>
            </a:pPr>
            <a:r>
              <a:rPr lang="it-IT" dirty="0"/>
              <a:t>    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setWidth</a:t>
            </a:r>
            <a:r>
              <a:rPr lang="it-IT" dirty="0"/>
              <a:t>(double h) {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super.setHeight</a:t>
            </a:r>
            <a:r>
              <a:rPr lang="it-IT" dirty="0"/>
              <a:t>(h);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super.setWidth</a:t>
            </a:r>
            <a:r>
              <a:rPr lang="it-IT" dirty="0"/>
              <a:t>(w);</a:t>
            </a:r>
          </a:p>
          <a:p>
            <a:pPr marL="0" indent="0">
              <a:buNone/>
            </a:pPr>
            <a:r>
              <a:rPr lang="it-IT" dirty="0"/>
              <a:t>    }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5225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 Implementation Inheritance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812801" y="1906588"/>
            <a:ext cx="5427216" cy="4135437"/>
          </a:xfrm>
        </p:spPr>
        <p:txBody>
          <a:bodyPr>
            <a:normAutofit/>
          </a:bodyPr>
          <a:lstStyle/>
          <a:p>
            <a:r>
              <a:rPr lang="en-US" dirty="0"/>
              <a:t>A very similar class is already implemented that does almost the same as the desired class implementation.</a:t>
            </a:r>
          </a:p>
          <a:p>
            <a:r>
              <a:rPr lang="en-US" dirty="0"/>
              <a:t>Example: I have a List class, I need a Stack class. How about </a:t>
            </a:r>
            <a:r>
              <a:rPr lang="en-US" dirty="0" err="1"/>
              <a:t>subclassing</a:t>
            </a:r>
            <a:r>
              <a:rPr lang="en-US" dirty="0"/>
              <a:t> the  Stack class from the List class and providing three methods, Push() and Pop(), Top()?</a:t>
            </a:r>
          </a:p>
          <a:p>
            <a:endParaRPr lang="en-US" dirty="0"/>
          </a:p>
        </p:txBody>
      </p:sp>
      <p:grpSp>
        <p:nvGrpSpPr>
          <p:cNvPr id="28" name="Gruppo 27"/>
          <p:cNvGrpSpPr/>
          <p:nvPr/>
        </p:nvGrpSpPr>
        <p:grpSpPr>
          <a:xfrm>
            <a:off x="7221416" y="2344616"/>
            <a:ext cx="2942492" cy="2633296"/>
            <a:chOff x="5080000" y="1966913"/>
            <a:chExt cx="3187700" cy="2852737"/>
          </a:xfrm>
        </p:grpSpPr>
        <p:sp>
          <p:nvSpPr>
            <p:cNvPr id="120838" name="Rectangle 6"/>
            <p:cNvSpPr>
              <a:spLocks noChangeArrowheads="1"/>
            </p:cNvSpPr>
            <p:nvPr/>
          </p:nvSpPr>
          <p:spPr bwMode="auto">
            <a:xfrm>
              <a:off x="5080000" y="2006600"/>
              <a:ext cx="1130300" cy="9652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 dirty="0"/>
            </a:p>
          </p:txBody>
        </p:sp>
        <p:sp>
          <p:nvSpPr>
            <p:cNvPr id="120839" name="Rectangle 7"/>
            <p:cNvSpPr>
              <a:spLocks noChangeArrowheads="1"/>
            </p:cNvSpPr>
            <p:nvPr/>
          </p:nvSpPr>
          <p:spPr bwMode="auto">
            <a:xfrm>
              <a:off x="5086350" y="2012950"/>
              <a:ext cx="1130300" cy="9652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0" name="Line 8"/>
            <p:cNvSpPr>
              <a:spLocks noChangeShapeType="1"/>
            </p:cNvSpPr>
            <p:nvPr/>
          </p:nvSpPr>
          <p:spPr bwMode="auto">
            <a:xfrm>
              <a:off x="5086350" y="2305050"/>
              <a:ext cx="11303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2" name="Rectangle 10"/>
            <p:cNvSpPr>
              <a:spLocks noChangeArrowheads="1"/>
            </p:cNvSpPr>
            <p:nvPr/>
          </p:nvSpPr>
          <p:spPr bwMode="auto">
            <a:xfrm>
              <a:off x="5091113" y="2254250"/>
              <a:ext cx="533531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Add</a:t>
              </a:r>
            </a:p>
          </p:txBody>
        </p:sp>
        <p:sp>
          <p:nvSpPr>
            <p:cNvPr id="120843" name="Rectangle 11"/>
            <p:cNvSpPr>
              <a:spLocks noChangeArrowheads="1"/>
            </p:cNvSpPr>
            <p:nvPr/>
          </p:nvSpPr>
          <p:spPr bwMode="auto">
            <a:xfrm>
              <a:off x="5522913" y="2254250"/>
              <a:ext cx="332087" cy="582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()</a:t>
              </a:r>
            </a:p>
            <a:p>
              <a:endParaRPr lang="en-US" sz="1477">
                <a:solidFill>
                  <a:srgbClr val="000000"/>
                </a:solidFill>
              </a:endParaRPr>
            </a:p>
          </p:txBody>
        </p:sp>
        <p:sp>
          <p:nvSpPr>
            <p:cNvPr id="120844" name="Rectangle 12"/>
            <p:cNvSpPr>
              <a:spLocks noChangeArrowheads="1"/>
            </p:cNvSpPr>
            <p:nvPr/>
          </p:nvSpPr>
          <p:spPr bwMode="auto">
            <a:xfrm>
              <a:off x="5091113" y="2482850"/>
              <a:ext cx="1046171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Remove()</a:t>
              </a:r>
            </a:p>
          </p:txBody>
        </p:sp>
        <p:sp>
          <p:nvSpPr>
            <p:cNvPr id="120845" name="Rectangle 13"/>
            <p:cNvSpPr>
              <a:spLocks noChangeArrowheads="1"/>
            </p:cNvSpPr>
            <p:nvPr/>
          </p:nvSpPr>
          <p:spPr bwMode="auto">
            <a:xfrm>
              <a:off x="5319714" y="1966913"/>
              <a:ext cx="550897" cy="3668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662">
                  <a:solidFill>
                    <a:srgbClr val="000000"/>
                  </a:solidFill>
                </a:rPr>
                <a:t>List</a:t>
              </a:r>
            </a:p>
          </p:txBody>
        </p:sp>
        <p:sp>
          <p:nvSpPr>
            <p:cNvPr id="120847" name="Freeform 15"/>
            <p:cNvSpPr>
              <a:spLocks/>
            </p:cNvSpPr>
            <p:nvPr/>
          </p:nvSpPr>
          <p:spPr bwMode="auto">
            <a:xfrm>
              <a:off x="5422900" y="3006552"/>
              <a:ext cx="458788" cy="192088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120"/>
                </a:cxn>
                <a:cxn ang="0">
                  <a:pos x="288" y="120"/>
                </a:cxn>
                <a:cxn ang="0">
                  <a:pos x="144" y="0"/>
                </a:cxn>
              </a:cxnLst>
              <a:rect l="0" t="0" r="r" b="b"/>
              <a:pathLst>
                <a:path w="289" h="121">
                  <a:moveTo>
                    <a:pt x="144" y="0"/>
                  </a:moveTo>
                  <a:lnTo>
                    <a:pt x="0" y="120"/>
                  </a:lnTo>
                  <a:lnTo>
                    <a:pt x="288" y="120"/>
                  </a:lnTo>
                  <a:lnTo>
                    <a:pt x="14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it-IT" sz="1662"/>
            </a:p>
          </p:txBody>
        </p:sp>
        <p:sp>
          <p:nvSpPr>
            <p:cNvPr id="120848" name="Line 16"/>
            <p:cNvSpPr>
              <a:spLocks noChangeShapeType="1"/>
            </p:cNvSpPr>
            <p:nvPr/>
          </p:nvSpPr>
          <p:spPr bwMode="auto">
            <a:xfrm>
              <a:off x="5657850" y="3198640"/>
              <a:ext cx="0" cy="4526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9" name="Rectangle 17"/>
            <p:cNvSpPr>
              <a:spLocks noChangeArrowheads="1"/>
            </p:cNvSpPr>
            <p:nvPr/>
          </p:nvSpPr>
          <p:spPr bwMode="auto">
            <a:xfrm>
              <a:off x="5080000" y="3657600"/>
              <a:ext cx="1130300" cy="9652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0" name="Rectangle 18"/>
            <p:cNvSpPr>
              <a:spLocks noChangeArrowheads="1"/>
            </p:cNvSpPr>
            <p:nvPr/>
          </p:nvSpPr>
          <p:spPr bwMode="auto">
            <a:xfrm>
              <a:off x="5086350" y="3663950"/>
              <a:ext cx="1130300" cy="11557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1" name="Line 19"/>
            <p:cNvSpPr>
              <a:spLocks noChangeShapeType="1"/>
            </p:cNvSpPr>
            <p:nvPr/>
          </p:nvSpPr>
          <p:spPr bwMode="auto">
            <a:xfrm>
              <a:off x="5086350" y="3956050"/>
              <a:ext cx="11303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3" name="Rectangle 21"/>
            <p:cNvSpPr>
              <a:spLocks noChangeArrowheads="1"/>
            </p:cNvSpPr>
            <p:nvPr/>
          </p:nvSpPr>
          <p:spPr bwMode="auto">
            <a:xfrm>
              <a:off x="5091113" y="3917950"/>
              <a:ext cx="606467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Push</a:t>
              </a:r>
            </a:p>
          </p:txBody>
        </p:sp>
        <p:sp>
          <p:nvSpPr>
            <p:cNvPr id="120854" name="Rectangle 22"/>
            <p:cNvSpPr>
              <a:spLocks noChangeArrowheads="1"/>
            </p:cNvSpPr>
            <p:nvPr/>
          </p:nvSpPr>
          <p:spPr bwMode="auto">
            <a:xfrm>
              <a:off x="5586413" y="3917950"/>
              <a:ext cx="332087" cy="582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()</a:t>
              </a:r>
            </a:p>
            <a:p>
              <a:endParaRPr lang="en-US" sz="1477">
                <a:solidFill>
                  <a:srgbClr val="000000"/>
                </a:solidFill>
              </a:endParaRPr>
            </a:p>
          </p:txBody>
        </p:sp>
        <p:sp>
          <p:nvSpPr>
            <p:cNvPr id="120855" name="Rectangle 23"/>
            <p:cNvSpPr>
              <a:spLocks noChangeArrowheads="1"/>
            </p:cNvSpPr>
            <p:nvPr/>
          </p:nvSpPr>
          <p:spPr bwMode="auto">
            <a:xfrm>
              <a:off x="5091113" y="4159250"/>
              <a:ext cx="661136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Pop()</a:t>
              </a:r>
            </a:p>
          </p:txBody>
        </p:sp>
        <p:sp>
          <p:nvSpPr>
            <p:cNvPr id="120856" name="Rectangle 24"/>
            <p:cNvSpPr>
              <a:spLocks noChangeArrowheads="1"/>
            </p:cNvSpPr>
            <p:nvPr/>
          </p:nvSpPr>
          <p:spPr bwMode="auto">
            <a:xfrm>
              <a:off x="5218113" y="3605213"/>
              <a:ext cx="738448" cy="3668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662">
                  <a:solidFill>
                    <a:srgbClr val="000000"/>
                  </a:solidFill>
                </a:rPr>
                <a:t>Stack</a:t>
              </a:r>
            </a:p>
          </p:txBody>
        </p:sp>
        <p:sp>
          <p:nvSpPr>
            <p:cNvPr id="120858" name="Rectangle 26"/>
            <p:cNvSpPr>
              <a:spLocks noChangeArrowheads="1"/>
            </p:cNvSpPr>
            <p:nvPr/>
          </p:nvSpPr>
          <p:spPr bwMode="auto">
            <a:xfrm>
              <a:off x="5091113" y="4483100"/>
              <a:ext cx="650368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Top()</a:t>
              </a:r>
            </a:p>
          </p:txBody>
        </p:sp>
        <p:sp>
          <p:nvSpPr>
            <p:cNvPr id="120859" name="AutoShape 27"/>
            <p:cNvSpPr>
              <a:spLocks noChangeArrowheads="1"/>
            </p:cNvSpPr>
            <p:nvPr/>
          </p:nvSpPr>
          <p:spPr bwMode="auto">
            <a:xfrm flipV="1">
              <a:off x="6392863" y="2527300"/>
              <a:ext cx="1874837" cy="1257300"/>
            </a:xfrm>
            <a:prstGeom prst="cloudCallout">
              <a:avLst>
                <a:gd name="adj1" fmla="val -57347"/>
                <a:gd name="adj2" fmla="val 5631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/>
              <a:r>
                <a:rPr lang="en-US" sz="1662" dirty="0"/>
                <a:t>“Already</a:t>
              </a:r>
            </a:p>
            <a:p>
              <a:pPr algn="ctr"/>
              <a:r>
                <a:rPr lang="en-US" sz="1662" dirty="0"/>
                <a:t> implemented”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930776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LSP – Benefits</a:t>
            </a:r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LSP is not maintained:</a:t>
            </a:r>
          </a:p>
          <a:p>
            <a:pPr lvl="1"/>
            <a:r>
              <a:rPr lang="en-US" dirty="0"/>
              <a:t>class hierarchies would be a mess and if subclass instance was passed as parameter to methods method, strange behavior might occur. </a:t>
            </a:r>
          </a:p>
          <a:p>
            <a:pPr lvl="1"/>
            <a:r>
              <a:rPr lang="en-US" dirty="0"/>
              <a:t>unit tests for the Base classes would never succeed for the subclass. </a:t>
            </a:r>
          </a:p>
          <a:p>
            <a:r>
              <a:rPr lang="en-US" dirty="0"/>
              <a:t>If this principle is violated, then it will cause the Open-Closed Principle to be violated also.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D96E2-B92A-49DA-AF2C-BC6447679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480" y="262915"/>
            <a:ext cx="8568952" cy="1221869"/>
          </a:xfrm>
        </p:spPr>
        <p:txBody>
          <a:bodyPr/>
          <a:lstStyle/>
          <a:p>
            <a:r>
              <a:rPr lang="en-US" dirty="0"/>
              <a:t>Interface Segregation Principle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6B3155-AFB1-435E-8989-E7675F184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fotografia, frigorifero, diverso, computer&#10;&#10;Descrizione generata automaticamente">
            <a:extLst>
              <a:ext uri="{FF2B5EF4-FFF2-40B4-BE49-F238E27FC236}">
                <a16:creationId xmlns:a16="http://schemas.microsoft.com/office/drawing/2014/main" id="{A77944F1-BD09-4A4A-925C-4675D970E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1916833"/>
            <a:ext cx="60960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78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 Segregation Principle (ISP)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principle was first defined by Robert C. Martin as: “</a:t>
            </a:r>
            <a:r>
              <a:rPr lang="en-US" b="1" dirty="0"/>
              <a:t>Clients should not be forced to depend upon interfaces that they do not use</a:t>
            </a:r>
            <a:r>
              <a:rPr lang="en-US" dirty="0"/>
              <a:t>“.</a:t>
            </a:r>
          </a:p>
          <a:p>
            <a:r>
              <a:rPr lang="en-GB" dirty="0"/>
              <a:t>Many client-specific interfaces are better than one general purpose interface</a:t>
            </a:r>
          </a:p>
          <a:p>
            <a:pPr lvl="1"/>
            <a:r>
              <a:rPr lang="en-GB" dirty="0"/>
              <a:t>Interfaces should be thin and not fat</a:t>
            </a:r>
          </a:p>
          <a:p>
            <a:pPr lvl="1"/>
            <a:r>
              <a:rPr lang="en-GB" dirty="0"/>
              <a:t>E.g. if you have an interface with 20 methods, then not all implementers of that interface might not implement all of those methods</a:t>
            </a:r>
          </a:p>
          <a:p>
            <a:pPr lvl="2"/>
            <a:r>
              <a:rPr lang="en-GB" dirty="0"/>
              <a:t>Bring large and fat interfaces into smaller ones which classify the related methods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 Segregation Principle (ISP)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you have a class with several different uses, create separate (narrow) interfaces for each use.</a:t>
            </a:r>
          </a:p>
          <a:p>
            <a:r>
              <a:rPr lang="en-GB" dirty="0"/>
              <a:t>The purpose is to make clients use as small and as coherent an interface as possible.</a:t>
            </a:r>
          </a:p>
          <a:p>
            <a:r>
              <a:rPr lang="en-GB" dirty="0"/>
              <a:t>Fat interfaces lead to inadvertent couplings and accidental dependencies between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95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7AC9A4-C063-403F-8F5D-4BB3431E4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ISP – A Bad Design</a:t>
            </a:r>
            <a:endParaRPr lang="en-US" alt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D8E18E-2A8B-4A1E-9D0E-666C8B223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4918075"/>
            <a:ext cx="7218269" cy="112328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problem is that any change in Service introduced by one client (e.g., Client A) causes Service and the other clients (Client A and Client C) to be recompiled.</a:t>
            </a:r>
          </a:p>
          <a:p>
            <a:endParaRPr lang="it-IT" dirty="0"/>
          </a:p>
        </p:txBody>
      </p:sp>
      <p:sp>
        <p:nvSpPr>
          <p:cNvPr id="58371" name="Text Box 14">
            <a:extLst>
              <a:ext uri="{FF2B5EF4-FFF2-40B4-BE49-F238E27FC236}">
                <a16:creationId xmlns:a16="http://schemas.microsoft.com/office/drawing/2014/main" id="{727C2F16-3173-4EE5-A832-688F7BB9E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1974427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A</a:t>
            </a:r>
          </a:p>
        </p:txBody>
      </p:sp>
      <p:sp>
        <p:nvSpPr>
          <p:cNvPr id="58372" name="Text Box 31">
            <a:extLst>
              <a:ext uri="{FF2B5EF4-FFF2-40B4-BE49-F238E27FC236}">
                <a16:creationId xmlns:a16="http://schemas.microsoft.com/office/drawing/2014/main" id="{5C60B002-FF1E-42AB-8735-959D252B6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984" y="1772816"/>
            <a:ext cx="1600200" cy="2308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ea typeface="SimSun" panose="02010600030101010101" pitchFamily="2" charset="-122"/>
              </a:rPr>
              <a:t>Service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ClientA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b="1" dirty="0" err="1">
                <a:solidFill>
                  <a:srgbClr val="FFFF00"/>
                </a:solidFill>
                <a:ea typeface="SimSun" panose="02010600030101010101" pitchFamily="2" charset="-122"/>
              </a:rPr>
              <a:t>ClientB</a:t>
            </a:r>
            <a:endParaRPr lang="en-US" altLang="zh-CN" sz="1600" b="1" dirty="0">
              <a:solidFill>
                <a:srgbClr val="FFFF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ClientC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58373" name="Line 48">
            <a:extLst>
              <a:ext uri="{FF2B5EF4-FFF2-40B4-BE49-F238E27FC236}">
                <a16:creationId xmlns:a16="http://schemas.microsoft.com/office/drawing/2014/main" id="{A9DE4364-4FA4-4282-96A6-130E542AEB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1984" y="207761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4" name="Line 51">
            <a:extLst>
              <a:ext uri="{FF2B5EF4-FFF2-40B4-BE49-F238E27FC236}">
                <a16:creationId xmlns:a16="http://schemas.microsoft.com/office/drawing/2014/main" id="{C4A6935E-4A8A-4625-B748-ED22A5ED21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51984" y="2726902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5" name="Line 51">
            <a:extLst>
              <a:ext uri="{FF2B5EF4-FFF2-40B4-BE49-F238E27FC236}">
                <a16:creationId xmlns:a16="http://schemas.microsoft.com/office/drawing/2014/main" id="{9CAC9BDB-1D26-44AA-8046-F65882A7CD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51984" y="3412702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6" name="Text Box 14">
            <a:extLst>
              <a:ext uri="{FF2B5EF4-FFF2-40B4-BE49-F238E27FC236}">
                <a16:creationId xmlns:a16="http://schemas.microsoft.com/office/drawing/2014/main" id="{E73AD13F-EC5A-4A2B-9D72-E119073E0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2926927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B</a:t>
            </a:r>
          </a:p>
        </p:txBody>
      </p:sp>
      <p:sp>
        <p:nvSpPr>
          <p:cNvPr id="58377" name="Text Box 14">
            <a:extLst>
              <a:ext uri="{FF2B5EF4-FFF2-40B4-BE49-F238E27FC236}">
                <a16:creationId xmlns:a16="http://schemas.microsoft.com/office/drawing/2014/main" id="{230E5CD6-53C6-44E1-B984-DF5FA892D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3888952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C</a:t>
            </a:r>
          </a:p>
        </p:txBody>
      </p:sp>
      <p:cxnSp>
        <p:nvCxnSpPr>
          <p:cNvPr id="58378" name="Straight Arrow Connector 2">
            <a:extLst>
              <a:ext uri="{FF2B5EF4-FFF2-40B4-BE49-F238E27FC236}">
                <a16:creationId xmlns:a16="http://schemas.microsoft.com/office/drawing/2014/main" id="{A5FCE272-12DB-40A1-8C4B-9C5BAC827419}"/>
              </a:ext>
            </a:extLst>
          </p:cNvPr>
          <p:cNvCxnSpPr>
            <a:cxnSpLocks noChangeShapeType="1"/>
            <a:stCxn id="58371" idx="3"/>
          </p:cNvCxnSpPr>
          <p:nvPr/>
        </p:nvCxnSpPr>
        <p:spPr bwMode="auto">
          <a:xfrm>
            <a:off x="4808984" y="2144291"/>
            <a:ext cx="1143000" cy="2111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79" name="Straight Arrow Connector 4">
            <a:extLst>
              <a:ext uri="{FF2B5EF4-FFF2-40B4-BE49-F238E27FC236}">
                <a16:creationId xmlns:a16="http://schemas.microsoft.com/office/drawing/2014/main" id="{1F21214E-A380-4E99-9E38-86C2B328506B}"/>
              </a:ext>
            </a:extLst>
          </p:cNvPr>
          <p:cNvCxnSpPr>
            <a:cxnSpLocks noChangeShapeType="1"/>
            <a:stCxn id="58376" idx="3"/>
          </p:cNvCxnSpPr>
          <p:nvPr/>
        </p:nvCxnSpPr>
        <p:spPr bwMode="auto">
          <a:xfrm flipV="1">
            <a:off x="4808984" y="3049166"/>
            <a:ext cx="1143000" cy="47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0" name="Straight Arrow Connector 34">
            <a:extLst>
              <a:ext uri="{FF2B5EF4-FFF2-40B4-BE49-F238E27FC236}">
                <a16:creationId xmlns:a16="http://schemas.microsoft.com/office/drawing/2014/main" id="{0E86AF67-BA4C-4467-8819-0CECC58FC8BD}"/>
              </a:ext>
            </a:extLst>
          </p:cNvPr>
          <p:cNvCxnSpPr>
            <a:cxnSpLocks noChangeShapeType="1"/>
            <a:stCxn id="58377" idx="3"/>
          </p:cNvCxnSpPr>
          <p:nvPr/>
        </p:nvCxnSpPr>
        <p:spPr bwMode="auto">
          <a:xfrm flipV="1">
            <a:off x="4808984" y="3723853"/>
            <a:ext cx="1143000" cy="3349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2ABE44-108A-4E1F-8C00-C6323A580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ISP – A Good Design</a:t>
            </a:r>
            <a:endParaRPr lang="en-US" alt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4028CA-F767-445E-BB37-5BAF0447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382" y="5256543"/>
            <a:ext cx="7218269" cy="128521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Changes introduced by one client (e.g., Client A) may require its designated interface (</a:t>
            </a:r>
            <a:r>
              <a:rPr lang="en-US" dirty="0" err="1"/>
              <a:t>ServiceA</a:t>
            </a:r>
            <a:r>
              <a:rPr lang="en-US" dirty="0"/>
              <a:t>) and the service implementation to change. </a:t>
            </a:r>
          </a:p>
          <a:p>
            <a:r>
              <a:rPr lang="en-US" dirty="0"/>
              <a:t>However, other clients (Client A &amp; Client C) and their Interfaces (</a:t>
            </a:r>
            <a:r>
              <a:rPr lang="en-US" dirty="0" err="1"/>
              <a:t>ServiceB</a:t>
            </a:r>
            <a:r>
              <a:rPr lang="en-US" dirty="0"/>
              <a:t> &amp; </a:t>
            </a:r>
            <a:r>
              <a:rPr lang="en-US" dirty="0" err="1"/>
              <a:t>ServiceC</a:t>
            </a:r>
            <a:r>
              <a:rPr lang="en-US" dirty="0"/>
              <a:t>) are not required to change or recompile.</a:t>
            </a:r>
          </a:p>
          <a:p>
            <a:endParaRPr lang="it-IT" dirty="0"/>
          </a:p>
        </p:txBody>
      </p:sp>
      <p:sp>
        <p:nvSpPr>
          <p:cNvPr id="60419" name="Text Box 14">
            <a:extLst>
              <a:ext uri="{FF2B5EF4-FFF2-40B4-BE49-F238E27FC236}">
                <a16:creationId xmlns:a16="http://schemas.microsoft.com/office/drawing/2014/main" id="{D564377B-1B44-4A0A-B957-E1FF14990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2533650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A</a:t>
            </a:r>
          </a:p>
        </p:txBody>
      </p:sp>
      <p:sp>
        <p:nvSpPr>
          <p:cNvPr id="60420" name="Text Box 31">
            <a:extLst>
              <a:ext uri="{FF2B5EF4-FFF2-40B4-BE49-F238E27FC236}">
                <a16:creationId xmlns:a16="http://schemas.microsoft.com/office/drawing/2014/main" id="{8B6F760A-2CC4-47A1-A83E-157DB9A77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455864"/>
            <a:ext cx="1600200" cy="2308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err="1">
                <a:solidFill>
                  <a:schemeClr val="bg1"/>
                </a:solidFill>
                <a:ea typeface="SimSun" panose="02010600030101010101" pitchFamily="2" charset="-122"/>
              </a:rPr>
              <a:t>ServiceImpl</a:t>
            </a:r>
            <a:endParaRPr lang="en-US" altLang="zh-CN" sz="1600" b="1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ClientA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b="1" dirty="0" err="1">
                <a:solidFill>
                  <a:srgbClr val="FFFF00"/>
                </a:solidFill>
                <a:ea typeface="SimSun" panose="02010600030101010101" pitchFamily="2" charset="-122"/>
              </a:rPr>
              <a:t>ClientB</a:t>
            </a:r>
            <a:endParaRPr lang="en-US" altLang="zh-CN" sz="1600" b="1" dirty="0">
              <a:solidFill>
                <a:srgbClr val="FFFF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ClientC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60421" name="Line 48">
            <a:extLst>
              <a:ext uri="{FF2B5EF4-FFF2-40B4-BE49-F238E27FC236}">
                <a16:creationId xmlns:a16="http://schemas.microsoft.com/office/drawing/2014/main" id="{4E643682-FF94-466A-8A24-AF2E4BC4EA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27606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2" name="Line 51">
            <a:extLst>
              <a:ext uri="{FF2B5EF4-FFF2-40B4-BE49-F238E27FC236}">
                <a16:creationId xmlns:a16="http://schemas.microsoft.com/office/drawing/2014/main" id="{F32491C6-5F60-4E78-B249-76D338CA49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3409950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3" name="Line 51">
            <a:extLst>
              <a:ext uri="{FF2B5EF4-FFF2-40B4-BE49-F238E27FC236}">
                <a16:creationId xmlns:a16="http://schemas.microsoft.com/office/drawing/2014/main" id="{B41FA46A-E32F-4635-8991-971E126347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4095750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4" name="Text Box 14">
            <a:extLst>
              <a:ext uri="{FF2B5EF4-FFF2-40B4-BE49-F238E27FC236}">
                <a16:creationId xmlns:a16="http://schemas.microsoft.com/office/drawing/2014/main" id="{CC9A3BE8-E127-4798-868A-3D20F73F7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3605214"/>
            <a:ext cx="1676400" cy="338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B</a:t>
            </a:r>
          </a:p>
        </p:txBody>
      </p:sp>
      <p:sp>
        <p:nvSpPr>
          <p:cNvPr id="60425" name="Text Box 14">
            <a:extLst>
              <a:ext uri="{FF2B5EF4-FFF2-40B4-BE49-F238E27FC236}">
                <a16:creationId xmlns:a16="http://schemas.microsoft.com/office/drawing/2014/main" id="{42B907C4-A4A7-42E0-9CE2-39784C1B2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4595814"/>
            <a:ext cx="1676400" cy="338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C</a:t>
            </a:r>
          </a:p>
        </p:txBody>
      </p:sp>
      <p:cxnSp>
        <p:nvCxnSpPr>
          <p:cNvPr id="60426" name="Straight Arrow Connector 2">
            <a:extLst>
              <a:ext uri="{FF2B5EF4-FFF2-40B4-BE49-F238E27FC236}">
                <a16:creationId xmlns:a16="http://schemas.microsoft.com/office/drawing/2014/main" id="{DD505C37-3AC1-47C9-BD4B-2530325392CA}"/>
              </a:ext>
            </a:extLst>
          </p:cNvPr>
          <p:cNvCxnSpPr>
            <a:cxnSpLocks/>
            <a:stCxn id="60419" idx="3"/>
          </p:cNvCxnSpPr>
          <p:nvPr/>
        </p:nvCxnSpPr>
        <p:spPr bwMode="auto">
          <a:xfrm>
            <a:off x="4494213" y="2701925"/>
            <a:ext cx="9017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7" name="Straight Arrow Connector 4">
            <a:extLst>
              <a:ext uri="{FF2B5EF4-FFF2-40B4-BE49-F238E27FC236}">
                <a16:creationId xmlns:a16="http://schemas.microsoft.com/office/drawing/2014/main" id="{7C4778A5-11CC-49D4-B58B-523387D2982B}"/>
              </a:ext>
            </a:extLst>
          </p:cNvPr>
          <p:cNvCxnSpPr>
            <a:cxnSpLocks/>
            <a:stCxn id="60424" idx="3"/>
          </p:cNvCxnSpPr>
          <p:nvPr/>
        </p:nvCxnSpPr>
        <p:spPr bwMode="auto">
          <a:xfrm>
            <a:off x="4494214" y="3773488"/>
            <a:ext cx="903287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8" name="Straight Arrow Connector 34">
            <a:extLst>
              <a:ext uri="{FF2B5EF4-FFF2-40B4-BE49-F238E27FC236}">
                <a16:creationId xmlns:a16="http://schemas.microsoft.com/office/drawing/2014/main" id="{2D49DC37-84B1-4070-B090-7C9C4C3568C5}"/>
              </a:ext>
            </a:extLst>
          </p:cNvPr>
          <p:cNvCxnSpPr>
            <a:cxnSpLocks/>
            <a:stCxn id="60425" idx="3"/>
          </p:cNvCxnSpPr>
          <p:nvPr/>
        </p:nvCxnSpPr>
        <p:spPr bwMode="auto">
          <a:xfrm flipV="1">
            <a:off x="4521201" y="4751388"/>
            <a:ext cx="893763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30" name="Text Box 31">
            <a:extLst>
              <a:ext uri="{FF2B5EF4-FFF2-40B4-BE49-F238E27FC236}">
                <a16:creationId xmlns:a16="http://schemas.microsoft.com/office/drawing/2014/main" id="{01AB597B-0DFA-4C2A-81DE-C0ACFA992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2298701"/>
            <a:ext cx="1600200" cy="83026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ClientA</a:t>
            </a:r>
          </a:p>
        </p:txBody>
      </p:sp>
      <p:sp>
        <p:nvSpPr>
          <p:cNvPr id="60431" name="Line 48">
            <a:extLst>
              <a:ext uri="{FF2B5EF4-FFF2-40B4-BE49-F238E27FC236}">
                <a16:creationId xmlns:a16="http://schemas.microsoft.com/office/drawing/2014/main" id="{2EC7355F-46C8-4039-82A5-63432D1BAE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7500" y="26035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2" name="Text Box 31">
            <a:extLst>
              <a:ext uri="{FF2B5EF4-FFF2-40B4-BE49-F238E27FC236}">
                <a16:creationId xmlns:a16="http://schemas.microsoft.com/office/drawing/2014/main" id="{88445496-0EBB-4857-A680-E4135645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3322638"/>
            <a:ext cx="1600200" cy="83026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ClientB</a:t>
            </a:r>
          </a:p>
        </p:txBody>
      </p:sp>
      <p:sp>
        <p:nvSpPr>
          <p:cNvPr id="60433" name="Line 48">
            <a:extLst>
              <a:ext uri="{FF2B5EF4-FFF2-40B4-BE49-F238E27FC236}">
                <a16:creationId xmlns:a16="http://schemas.microsoft.com/office/drawing/2014/main" id="{1928B852-FFD8-4EB0-B8E5-3E140E67BF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362743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4" name="Text Box 31">
            <a:extLst>
              <a:ext uri="{FF2B5EF4-FFF2-40B4-BE49-F238E27FC236}">
                <a16:creationId xmlns:a16="http://schemas.microsoft.com/office/drawing/2014/main" id="{6FBCAA90-8F11-4292-A83D-4F482053B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4287838"/>
            <a:ext cx="1600200" cy="8318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ClientC</a:t>
            </a:r>
          </a:p>
        </p:txBody>
      </p:sp>
      <p:sp>
        <p:nvSpPr>
          <p:cNvPr id="60435" name="Line 48">
            <a:extLst>
              <a:ext uri="{FF2B5EF4-FFF2-40B4-BE49-F238E27FC236}">
                <a16:creationId xmlns:a16="http://schemas.microsoft.com/office/drawing/2014/main" id="{488F1AD6-A467-4971-A93A-62AB5FE492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6550" y="459263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36" name="Group 39">
            <a:extLst>
              <a:ext uri="{FF2B5EF4-FFF2-40B4-BE49-F238E27FC236}">
                <a16:creationId xmlns:a16="http://schemas.microsoft.com/office/drawing/2014/main" id="{E47457E1-43ED-4689-8F58-E0AD80699F0E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2860675"/>
            <a:ext cx="152400" cy="152400"/>
            <a:chOff x="4128" y="2160"/>
            <a:chExt cx="96" cy="96"/>
          </a:xfrm>
        </p:grpSpPr>
        <p:sp>
          <p:nvSpPr>
            <p:cNvPr id="60448" name="Line 40">
              <a:extLst>
                <a:ext uri="{FF2B5EF4-FFF2-40B4-BE49-F238E27FC236}">
                  <a16:creationId xmlns:a16="http://schemas.microsoft.com/office/drawing/2014/main" id="{51A8D870-DCAB-44C0-B987-3316777F8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9" name="Line 41">
              <a:extLst>
                <a:ext uri="{FF2B5EF4-FFF2-40B4-BE49-F238E27FC236}">
                  <a16:creationId xmlns:a16="http://schemas.microsoft.com/office/drawing/2014/main" id="{276D1AFF-01DC-462D-84B5-027726E24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50" name="Line 42">
              <a:extLst>
                <a:ext uri="{FF2B5EF4-FFF2-40B4-BE49-F238E27FC236}">
                  <a16:creationId xmlns:a16="http://schemas.microsoft.com/office/drawing/2014/main" id="{D5B5014F-03A1-4513-824E-C8CF23B5B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37" name="Line 43">
            <a:extLst>
              <a:ext uri="{FF2B5EF4-FFF2-40B4-BE49-F238E27FC236}">
                <a16:creationId xmlns:a16="http://schemas.microsoft.com/office/drawing/2014/main" id="{52FB0195-8093-4D66-8134-8EE866DC8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4" y="2936875"/>
            <a:ext cx="122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38" name="Group 39">
            <a:extLst>
              <a:ext uri="{FF2B5EF4-FFF2-40B4-BE49-F238E27FC236}">
                <a16:creationId xmlns:a16="http://schemas.microsoft.com/office/drawing/2014/main" id="{65F87CFB-1629-4E26-8EF1-7AC92A582A4D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3773488"/>
            <a:ext cx="152400" cy="152400"/>
            <a:chOff x="4128" y="2160"/>
            <a:chExt cx="96" cy="96"/>
          </a:xfrm>
        </p:grpSpPr>
        <p:sp>
          <p:nvSpPr>
            <p:cNvPr id="60445" name="Line 40">
              <a:extLst>
                <a:ext uri="{FF2B5EF4-FFF2-40B4-BE49-F238E27FC236}">
                  <a16:creationId xmlns:a16="http://schemas.microsoft.com/office/drawing/2014/main" id="{21F83268-7879-4185-BD12-E976CCAC4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6" name="Line 41">
              <a:extLst>
                <a:ext uri="{FF2B5EF4-FFF2-40B4-BE49-F238E27FC236}">
                  <a16:creationId xmlns:a16="http://schemas.microsoft.com/office/drawing/2014/main" id="{FB03A224-6732-41B1-8916-318982913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7" name="Line 42">
              <a:extLst>
                <a:ext uri="{FF2B5EF4-FFF2-40B4-BE49-F238E27FC236}">
                  <a16:creationId xmlns:a16="http://schemas.microsoft.com/office/drawing/2014/main" id="{E954DA26-FB56-40D0-BAB5-CC13BE54D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39" name="Line 43">
            <a:extLst>
              <a:ext uri="{FF2B5EF4-FFF2-40B4-BE49-F238E27FC236}">
                <a16:creationId xmlns:a16="http://schemas.microsoft.com/office/drawing/2014/main" id="{DECFC1AA-E532-4E29-B9F5-FF89DAC91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4" y="3849688"/>
            <a:ext cx="122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40" name="Group 39">
            <a:extLst>
              <a:ext uri="{FF2B5EF4-FFF2-40B4-BE49-F238E27FC236}">
                <a16:creationId xmlns:a16="http://schemas.microsoft.com/office/drawing/2014/main" id="{5339A49D-D185-4B35-A606-6BE7190E6F51}"/>
              </a:ext>
            </a:extLst>
          </p:cNvPr>
          <p:cNvGrpSpPr>
            <a:grpSpLocks/>
          </p:cNvGrpSpPr>
          <p:nvPr/>
        </p:nvGrpSpPr>
        <p:grpSpPr bwMode="auto">
          <a:xfrm>
            <a:off x="7026275" y="4559300"/>
            <a:ext cx="152400" cy="152400"/>
            <a:chOff x="4128" y="2160"/>
            <a:chExt cx="96" cy="96"/>
          </a:xfrm>
        </p:grpSpPr>
        <p:sp>
          <p:nvSpPr>
            <p:cNvPr id="60442" name="Line 40">
              <a:extLst>
                <a:ext uri="{FF2B5EF4-FFF2-40B4-BE49-F238E27FC236}">
                  <a16:creationId xmlns:a16="http://schemas.microsoft.com/office/drawing/2014/main" id="{FE9D312B-D7F1-4AE2-BE4F-CD5DF04EC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3" name="Line 41">
              <a:extLst>
                <a:ext uri="{FF2B5EF4-FFF2-40B4-BE49-F238E27FC236}">
                  <a16:creationId xmlns:a16="http://schemas.microsoft.com/office/drawing/2014/main" id="{15BAF431-2216-438E-A309-861D87517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4" name="Line 42">
              <a:extLst>
                <a:ext uri="{FF2B5EF4-FFF2-40B4-BE49-F238E27FC236}">
                  <a16:creationId xmlns:a16="http://schemas.microsoft.com/office/drawing/2014/main" id="{8A4A518E-6A84-488C-B5FD-4FC197A35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41" name="Line 43">
            <a:extLst>
              <a:ext uri="{FF2B5EF4-FFF2-40B4-BE49-F238E27FC236}">
                <a16:creationId xmlns:a16="http://schemas.microsoft.com/office/drawing/2014/main" id="{CC52501F-CADD-4104-8C10-9905FDC07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8675" y="4635500"/>
            <a:ext cx="1220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712FE5-2D45-441E-A8A6-8A69A34A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CFF305-5E18-479B-AABE-5DD5E5771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public </a:t>
            </a:r>
            <a:r>
              <a:rPr lang="it-IT" dirty="0" err="1"/>
              <a:t>interface</a:t>
            </a:r>
            <a:r>
              <a:rPr lang="it-IT" dirty="0"/>
              <a:t> </a:t>
            </a:r>
            <a:r>
              <a:rPr lang="it-IT" dirty="0" err="1"/>
              <a:t>Vehicle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drive();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stop();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refuel</a:t>
            </a:r>
            <a:r>
              <a:rPr lang="it-IT" dirty="0"/>
              <a:t>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openDoors</a:t>
            </a:r>
            <a:r>
              <a:rPr lang="it-IT" dirty="0"/>
              <a:t>();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D02FC1F-DD57-4BAD-B90C-1FA2F0573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8938" y="2160590"/>
            <a:ext cx="5545573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MotorBike</a:t>
            </a:r>
            <a:r>
              <a:rPr lang="it-IT" dirty="0"/>
              <a:t> </a:t>
            </a:r>
            <a:r>
              <a:rPr lang="it-IT" dirty="0" err="1"/>
              <a:t>implements</a:t>
            </a:r>
            <a:r>
              <a:rPr lang="it-IT" dirty="0"/>
              <a:t> </a:t>
            </a:r>
            <a:r>
              <a:rPr lang="it-IT" dirty="0" err="1"/>
              <a:t>Vehicle</a:t>
            </a:r>
            <a:r>
              <a:rPr lang="it-IT" dirty="0"/>
              <a:t> {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// Can be </a:t>
            </a:r>
            <a:r>
              <a:rPr lang="it-IT" dirty="0" err="1"/>
              <a:t>implemented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drive() {...}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stop() {...}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refuel</a:t>
            </a:r>
            <a:r>
              <a:rPr lang="it-IT" dirty="0"/>
              <a:t>() {...}</a:t>
            </a:r>
          </a:p>
          <a:p>
            <a:pPr marL="0" indent="0">
              <a:buNone/>
            </a:pPr>
            <a:r>
              <a:rPr lang="it-IT" dirty="0"/>
              <a:t>    </a:t>
            </a:r>
          </a:p>
          <a:p>
            <a:pPr marL="0" indent="0">
              <a:buNone/>
            </a:pPr>
            <a:r>
              <a:rPr lang="it-IT" dirty="0"/>
              <a:t>    // Can </a:t>
            </a:r>
            <a:r>
              <a:rPr lang="it-IT" dirty="0" err="1"/>
              <a:t>not</a:t>
            </a:r>
            <a:r>
              <a:rPr lang="it-IT" dirty="0"/>
              <a:t> be </a:t>
            </a:r>
            <a:r>
              <a:rPr lang="it-IT" dirty="0" err="1"/>
              <a:t>implemented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openDoors</a:t>
            </a:r>
            <a:r>
              <a:rPr lang="it-IT" dirty="0"/>
              <a:t>() {...}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341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2E4BCE-DFA2-41CA-8994-92AC3AEB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16632"/>
            <a:ext cx="8463619" cy="1320800"/>
          </a:xfrm>
        </p:spPr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D3A1FD28-9FBE-4942-9BB3-A3C3FF96B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213915"/>
            <a:ext cx="7649906" cy="56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3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4CF161-5C07-4374-86F0-FD82E910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V2</a:t>
            </a:r>
          </a:p>
        </p:txBody>
      </p:sp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7B274ADC-FCE2-4DCC-860E-4B9BC16B3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930400"/>
            <a:ext cx="3724516" cy="3439840"/>
          </a:xfrm>
          <a:prstGeom prst="rect">
            <a:avLst/>
          </a:prstGeom>
        </p:spPr>
      </p:pic>
      <p:pic>
        <p:nvPicPr>
          <p:cNvPr id="6" name="Immagine 5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CF8DADB1-A420-497B-B72B-B87DE5E80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14" y="1954412"/>
            <a:ext cx="4719711" cy="2543329"/>
          </a:xfrm>
          <a:prstGeom prst="rect">
            <a:avLst/>
          </a:prstGeom>
        </p:spPr>
      </p:pic>
      <p:pic>
        <p:nvPicPr>
          <p:cNvPr id="8" name="Immagine 7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8264BAB2-5911-4B81-9E92-D69FCCBF0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14" y="4625250"/>
            <a:ext cx="3688461" cy="16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3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ISP – Benefits </a:t>
            </a:r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Cohesion is increased</a:t>
            </a:r>
          </a:p>
          <a:p>
            <a:pPr lvl="1"/>
            <a:r>
              <a:rPr lang="en-US" dirty="0"/>
              <a:t>clients can demand cohesive interfaces</a:t>
            </a:r>
          </a:p>
          <a:p>
            <a:r>
              <a:rPr lang="en-US" dirty="0"/>
              <a:t>Design is more stable</a:t>
            </a:r>
          </a:p>
          <a:p>
            <a:pPr lvl="1"/>
            <a:r>
              <a:rPr lang="en-US" dirty="0"/>
              <a:t>changes are isolated and do not cascade throughout the code</a:t>
            </a:r>
          </a:p>
          <a:p>
            <a:r>
              <a:rPr lang="en-US" dirty="0"/>
              <a:t>Supports the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831A1-5BC8-4D71-9419-1B4E11734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596" y="188640"/>
            <a:ext cx="5826719" cy="1646302"/>
          </a:xfrm>
        </p:spPr>
        <p:txBody>
          <a:bodyPr/>
          <a:lstStyle/>
          <a:p>
            <a:r>
              <a:rPr lang="en-US" dirty="0"/>
              <a:t>Dependency Inversion Principle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26492C-4D26-45DD-A268-65BF35B8E0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fotografia, sedendo, nero, bianco&#10;&#10;Descrizione generata automaticamente">
            <a:extLst>
              <a:ext uri="{FF2B5EF4-FFF2-40B4-BE49-F238E27FC236}">
                <a16:creationId xmlns:a16="http://schemas.microsoft.com/office/drawing/2014/main" id="{E60E97EC-1954-4C9E-A515-7243EE4C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1988841"/>
            <a:ext cx="59436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24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Inversion Principle (DIP)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 level modules should not depend on low level modules</a:t>
            </a:r>
          </a:p>
          <a:p>
            <a:pPr lvl="1"/>
            <a:r>
              <a:rPr lang="en-GB" dirty="0"/>
              <a:t> both should depend upon abstractions</a:t>
            </a:r>
          </a:p>
          <a:p>
            <a:pPr lvl="2"/>
            <a:r>
              <a:rPr lang="en-US" dirty="0"/>
              <a:t>Dependency upon lower-level components limits the reuse opportunities of the higher-level components</a:t>
            </a:r>
          </a:p>
          <a:p>
            <a:r>
              <a:rPr lang="en-GB" dirty="0"/>
              <a:t>Abstractions should not depend on details</a:t>
            </a:r>
          </a:p>
          <a:p>
            <a:r>
              <a:rPr lang="en-US" dirty="0"/>
              <a:t>Change the relation between concrete classes to relationships among abstractions</a:t>
            </a:r>
          </a:p>
          <a:p>
            <a:pPr lvl="1"/>
            <a:r>
              <a:rPr lang="en-US" dirty="0"/>
              <a:t>Abstraction mechanism: Abstract base classes or Interfaces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Inversion Principle (DIP)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of the dependency inversion principle is to </a:t>
            </a:r>
          </a:p>
          <a:p>
            <a:pPr lvl="1"/>
            <a:r>
              <a:rPr lang="en-US" dirty="0"/>
              <a:t>decouple high-level components from low-level components </a:t>
            </a:r>
          </a:p>
          <a:p>
            <a:pPr lvl="1"/>
            <a:r>
              <a:rPr lang="en-US" dirty="0"/>
              <a:t>such that reuse with different low-level component implementations becomes possible</a:t>
            </a:r>
          </a:p>
          <a:p>
            <a:r>
              <a:rPr lang="en-GB" dirty="0"/>
              <a:t>High level classes should contain the “business logic”, low level classes should contain the details of the (current) implementation. </a:t>
            </a:r>
          </a:p>
          <a:p>
            <a:r>
              <a:rPr lang="en-GB" dirty="0"/>
              <a:t>Access instances using interfaces or abstract classes to avoid dependency inversion.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02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 – Example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288A2A-E85E-4484-8407-E0021D7C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7751764" y="1773238"/>
            <a:ext cx="1368425" cy="1008062"/>
            <a:chOff x="4150" y="1254"/>
            <a:chExt cx="1179" cy="771"/>
          </a:xfrm>
        </p:grpSpPr>
        <p:sp>
          <p:nvSpPr>
            <p:cNvPr id="67592" name="Rectangle 4"/>
            <p:cNvSpPr>
              <a:spLocks noChangeArrowheads="1"/>
            </p:cNvSpPr>
            <p:nvPr/>
          </p:nvSpPr>
          <p:spPr bwMode="auto">
            <a:xfrm>
              <a:off x="4150" y="1707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</p:txBody>
        </p:sp>
        <p:sp>
          <p:nvSpPr>
            <p:cNvPr id="67593" name="Rectangle 5"/>
            <p:cNvSpPr>
              <a:spLocks noChangeArrowheads="1"/>
            </p:cNvSpPr>
            <p:nvPr/>
          </p:nvSpPr>
          <p:spPr bwMode="auto">
            <a:xfrm>
              <a:off x="4150" y="1254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DataAccess</a:t>
              </a:r>
            </a:p>
          </p:txBody>
        </p:sp>
        <p:sp>
          <p:nvSpPr>
            <p:cNvPr id="67594" name="Rectangle 6"/>
            <p:cNvSpPr>
              <a:spLocks noChangeArrowheads="1"/>
            </p:cNvSpPr>
            <p:nvPr/>
          </p:nvSpPr>
          <p:spPr bwMode="auto">
            <a:xfrm>
              <a:off x="4150" y="1526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595" name="Group 11"/>
          <p:cNvGrpSpPr>
            <a:grpSpLocks/>
          </p:cNvGrpSpPr>
          <p:nvPr/>
        </p:nvGrpSpPr>
        <p:grpSpPr bwMode="auto">
          <a:xfrm>
            <a:off x="7751764" y="2924176"/>
            <a:ext cx="1800225" cy="1008063"/>
            <a:chOff x="4150" y="2251"/>
            <a:chExt cx="1179" cy="771"/>
          </a:xfrm>
        </p:grpSpPr>
        <p:sp>
          <p:nvSpPr>
            <p:cNvPr id="67596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Format()</a:t>
              </a:r>
            </a:p>
          </p:txBody>
        </p:sp>
        <p:sp>
          <p:nvSpPr>
            <p:cNvPr id="67597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ReportFormater</a:t>
              </a:r>
            </a:p>
          </p:txBody>
        </p:sp>
        <p:sp>
          <p:nvSpPr>
            <p:cNvPr id="67598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599" name="Group 15"/>
          <p:cNvGrpSpPr>
            <a:grpSpLocks/>
          </p:cNvGrpSpPr>
          <p:nvPr/>
        </p:nvGrpSpPr>
        <p:grpSpPr bwMode="auto">
          <a:xfrm>
            <a:off x="5303838" y="2420938"/>
            <a:ext cx="1439862" cy="1008062"/>
            <a:chOff x="4150" y="3158"/>
            <a:chExt cx="1179" cy="771"/>
          </a:xfrm>
        </p:grpSpPr>
        <p:sp>
          <p:nvSpPr>
            <p:cNvPr id="67600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01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67602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603" name="Group 19"/>
          <p:cNvGrpSpPr>
            <a:grpSpLocks/>
          </p:cNvGrpSpPr>
          <p:nvPr/>
        </p:nvGrpSpPr>
        <p:grpSpPr bwMode="auto">
          <a:xfrm>
            <a:off x="2135188" y="2349500"/>
            <a:ext cx="1439862" cy="1079500"/>
            <a:chOff x="1610" y="1933"/>
            <a:chExt cx="907" cy="680"/>
          </a:xfrm>
        </p:grpSpPr>
        <p:sp>
          <p:nvSpPr>
            <p:cNvPr id="67604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05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67606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07" name="Line 23"/>
          <p:cNvSpPr>
            <a:spLocks noChangeShapeType="1"/>
          </p:cNvSpPr>
          <p:nvPr/>
        </p:nvSpPr>
        <p:spPr bwMode="auto">
          <a:xfrm>
            <a:off x="6743701" y="256540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08" name="Line 24"/>
          <p:cNvSpPr>
            <a:spLocks noChangeShapeType="1"/>
          </p:cNvSpPr>
          <p:nvPr/>
        </p:nvSpPr>
        <p:spPr bwMode="auto">
          <a:xfrm>
            <a:off x="6743701" y="321310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3575050" y="2924175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7610" name="Group 26"/>
          <p:cNvGrpSpPr>
            <a:grpSpLocks/>
          </p:cNvGrpSpPr>
          <p:nvPr/>
        </p:nvGrpSpPr>
        <p:grpSpPr bwMode="auto">
          <a:xfrm>
            <a:off x="2135188" y="4005263"/>
            <a:ext cx="1439862" cy="1079500"/>
            <a:chOff x="1610" y="1933"/>
            <a:chExt cx="907" cy="680"/>
          </a:xfrm>
        </p:grpSpPr>
        <p:sp>
          <p:nvSpPr>
            <p:cNvPr id="67611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12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67613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14" name="Line 30"/>
          <p:cNvSpPr>
            <a:spLocks noChangeShapeType="1"/>
          </p:cNvSpPr>
          <p:nvPr/>
        </p:nvSpPr>
        <p:spPr bwMode="auto">
          <a:xfrm>
            <a:off x="2855913" y="34290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7615" name="Group 31"/>
          <p:cNvGrpSpPr>
            <a:grpSpLocks/>
          </p:cNvGrpSpPr>
          <p:nvPr/>
        </p:nvGrpSpPr>
        <p:grpSpPr bwMode="auto">
          <a:xfrm>
            <a:off x="4943475" y="4437063"/>
            <a:ext cx="2376488" cy="1008062"/>
            <a:chOff x="4150" y="3158"/>
            <a:chExt cx="1179" cy="771"/>
          </a:xfrm>
        </p:grpSpPr>
        <p:sp>
          <p:nvSpPr>
            <p:cNvPr id="67616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17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TabloidReportPrinter</a:t>
              </a:r>
            </a:p>
          </p:txBody>
        </p:sp>
        <p:sp>
          <p:nvSpPr>
            <p:cNvPr id="67618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619" name="Group 35"/>
          <p:cNvGrpSpPr>
            <a:grpSpLocks/>
          </p:cNvGrpSpPr>
          <p:nvPr/>
        </p:nvGrpSpPr>
        <p:grpSpPr bwMode="auto">
          <a:xfrm>
            <a:off x="7680326" y="4437063"/>
            <a:ext cx="2124075" cy="1008062"/>
            <a:chOff x="4150" y="2251"/>
            <a:chExt cx="1179" cy="771"/>
          </a:xfrm>
        </p:grpSpPr>
        <p:sp>
          <p:nvSpPr>
            <p:cNvPr id="67620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Format()</a:t>
              </a:r>
            </a:p>
          </p:txBody>
        </p:sp>
        <p:sp>
          <p:nvSpPr>
            <p:cNvPr id="67621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TabloidReportFormater</a:t>
              </a:r>
            </a:p>
          </p:txBody>
        </p:sp>
        <p:sp>
          <p:nvSpPr>
            <p:cNvPr id="67622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23" name="Line 39"/>
          <p:cNvSpPr>
            <a:spLocks noChangeShapeType="1"/>
          </p:cNvSpPr>
          <p:nvPr/>
        </p:nvSpPr>
        <p:spPr bwMode="auto">
          <a:xfrm>
            <a:off x="5880100" y="3429001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24" name="Line 40"/>
          <p:cNvSpPr>
            <a:spLocks noChangeShapeType="1"/>
          </p:cNvSpPr>
          <p:nvPr/>
        </p:nvSpPr>
        <p:spPr bwMode="auto">
          <a:xfrm>
            <a:off x="8543925" y="3932239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3994" y="80224"/>
            <a:ext cx="7523162" cy="2171700"/>
          </a:xfrm>
          <a:prstGeom prst="rect">
            <a:avLst/>
          </a:prstGeom>
          <a:noFill/>
        </p:spPr>
      </p:pic>
      <p:grpSp>
        <p:nvGrpSpPr>
          <p:cNvPr id="74758" name="Group 6"/>
          <p:cNvGrpSpPr>
            <a:grpSpLocks/>
          </p:cNvGrpSpPr>
          <p:nvPr/>
        </p:nvGrpSpPr>
        <p:grpSpPr bwMode="auto">
          <a:xfrm>
            <a:off x="6960096" y="2180376"/>
            <a:ext cx="1439863" cy="1008063"/>
            <a:chOff x="4150" y="3158"/>
            <a:chExt cx="1179" cy="771"/>
          </a:xfrm>
        </p:grpSpPr>
        <p:sp>
          <p:nvSpPr>
            <p:cNvPr id="74759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60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74761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74763" name="Group 11"/>
          <p:cNvGrpSpPr>
            <a:grpSpLocks/>
          </p:cNvGrpSpPr>
          <p:nvPr/>
        </p:nvGrpSpPr>
        <p:grpSpPr bwMode="auto">
          <a:xfrm>
            <a:off x="3791446" y="2108938"/>
            <a:ext cx="1439863" cy="1079500"/>
            <a:chOff x="1610" y="1933"/>
            <a:chExt cx="907" cy="680"/>
          </a:xfrm>
        </p:grpSpPr>
        <p:sp>
          <p:nvSpPr>
            <p:cNvPr id="74764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65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74766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74768" name="Rectangle 4"/>
          <p:cNvSpPr>
            <a:spLocks noChangeArrowheads="1"/>
          </p:cNvSpPr>
          <p:nvPr/>
        </p:nvSpPr>
        <p:spPr bwMode="auto">
          <a:xfrm>
            <a:off x="6887071" y="4499714"/>
            <a:ext cx="1439863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i="1"/>
              <a:t>Print()</a:t>
            </a:r>
          </a:p>
        </p:txBody>
      </p:sp>
      <p:sp>
        <p:nvSpPr>
          <p:cNvPr id="74769" name="Rectangle 5"/>
          <p:cNvSpPr>
            <a:spLocks noChangeArrowheads="1"/>
          </p:cNvSpPr>
          <p:nvPr/>
        </p:nvSpPr>
        <p:spPr bwMode="auto">
          <a:xfrm>
            <a:off x="6887071" y="3620239"/>
            <a:ext cx="1439863" cy="6429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i="1" dirty="0" err="1"/>
              <a:t>IReportPrinter</a:t>
            </a:r>
            <a:endParaRPr lang="en-US" sz="1600" i="1" dirty="0"/>
          </a:p>
          <a:p>
            <a:pPr algn="ctr"/>
            <a:r>
              <a:rPr lang="en-US" sz="1200" i="1" dirty="0"/>
              <a:t>&lt;&lt;Interface&gt;&gt;</a:t>
            </a:r>
          </a:p>
        </p:txBody>
      </p:sp>
      <p:sp>
        <p:nvSpPr>
          <p:cNvPr id="74770" name="Rectangle 6"/>
          <p:cNvSpPr>
            <a:spLocks noChangeArrowheads="1"/>
          </p:cNvSpPr>
          <p:nvPr/>
        </p:nvSpPr>
        <p:spPr bwMode="auto">
          <a:xfrm>
            <a:off x="6887071" y="4263176"/>
            <a:ext cx="1439863" cy="238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74772" name="Group 20"/>
          <p:cNvGrpSpPr>
            <a:grpSpLocks/>
          </p:cNvGrpSpPr>
          <p:nvPr/>
        </p:nvGrpSpPr>
        <p:grpSpPr bwMode="auto">
          <a:xfrm>
            <a:off x="3718421" y="3836138"/>
            <a:ext cx="1439863" cy="1079500"/>
            <a:chOff x="1610" y="1933"/>
            <a:chExt cx="907" cy="680"/>
          </a:xfrm>
        </p:grpSpPr>
        <p:sp>
          <p:nvSpPr>
            <p:cNvPr id="74773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74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err="1"/>
                <a:t>TabloidReport</a:t>
              </a:r>
              <a:endParaRPr lang="en-US" dirty="0"/>
            </a:p>
          </p:txBody>
        </p:sp>
        <p:sp>
          <p:nvSpPr>
            <p:cNvPr id="74775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74776" name="Group 24"/>
          <p:cNvGrpSpPr>
            <a:grpSpLocks/>
          </p:cNvGrpSpPr>
          <p:nvPr/>
        </p:nvGrpSpPr>
        <p:grpSpPr bwMode="auto">
          <a:xfrm>
            <a:off x="6887071" y="5753838"/>
            <a:ext cx="1439863" cy="1008062"/>
            <a:chOff x="4150" y="3158"/>
            <a:chExt cx="1179" cy="771"/>
          </a:xfrm>
        </p:grpSpPr>
        <p:sp>
          <p:nvSpPr>
            <p:cNvPr id="74777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i="1"/>
                <a:t>Print()</a:t>
              </a:r>
            </a:p>
          </p:txBody>
        </p:sp>
        <p:sp>
          <p:nvSpPr>
            <p:cNvPr id="74778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ReportPrinter</a:t>
              </a:r>
            </a:p>
          </p:txBody>
        </p:sp>
        <p:sp>
          <p:nvSpPr>
            <p:cNvPr id="74779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74780" name="Line 28"/>
          <p:cNvSpPr>
            <a:spLocks noChangeShapeType="1"/>
          </p:cNvSpPr>
          <p:nvPr/>
        </p:nvSpPr>
        <p:spPr bwMode="auto">
          <a:xfrm flipH="1" flipV="1">
            <a:off x="7534770" y="491722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5159126" y="4413021"/>
            <a:ext cx="172819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5231134" y="2684828"/>
            <a:ext cx="172819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8" grpId="0" animBg="1"/>
      <p:bldP spid="74769" grpId="0" animBg="1"/>
      <p:bldP spid="74770" grpId="0" animBg="1"/>
      <p:bldP spid="74780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67DF0E-7CDC-4329-9D42-EE2EA736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4838" y="0"/>
            <a:ext cx="7523162" cy="2171700"/>
          </a:xfrm>
          <a:prstGeom prst="rect">
            <a:avLst/>
          </a:prstGeom>
          <a:noFill/>
        </p:spPr>
      </p:pic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1" y="2349501"/>
            <a:ext cx="5419725" cy="2066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87664" y="4724400"/>
            <a:ext cx="7780337" cy="2133600"/>
          </a:xfrm>
          <a:prstGeom prst="rect">
            <a:avLst/>
          </a:prstGeom>
          <a:noFill/>
        </p:spPr>
      </p:pic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3575050" y="5589588"/>
            <a:ext cx="1944688" cy="431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665" name="Oval 9"/>
          <p:cNvSpPr>
            <a:spLocks noChangeArrowheads="1"/>
          </p:cNvSpPr>
          <p:nvPr/>
        </p:nvSpPr>
        <p:spPr bwMode="auto">
          <a:xfrm>
            <a:off x="3792539" y="908050"/>
            <a:ext cx="1944687" cy="431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 –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design by contract</a:t>
            </a:r>
          </a:p>
          <a:p>
            <a:r>
              <a:rPr lang="en-US" dirty="0"/>
              <a:t>change is easier to manage</a:t>
            </a:r>
          </a:p>
          <a:p>
            <a:pPr lvl="1"/>
            <a:r>
              <a:rPr lang="en-US" dirty="0"/>
              <a:t>code is easier to replace</a:t>
            </a:r>
          </a:p>
          <a:p>
            <a:pPr lvl="1"/>
            <a:r>
              <a:rPr lang="en-US" dirty="0"/>
              <a:t>design is extensible</a:t>
            </a:r>
          </a:p>
          <a:p>
            <a:r>
              <a:rPr lang="en-US" dirty="0"/>
              <a:t>code is potentially easier to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9509A-ADF3-4E5F-94E9-914D03412EC0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slides are partly adopted from </a:t>
            </a:r>
            <a:endParaRPr lang="fa-IR" dirty="0"/>
          </a:p>
          <a:p>
            <a:pPr lvl="1"/>
            <a:r>
              <a:rPr lang="en-US" dirty="0">
                <a:hlinkClick r:id="rId2"/>
              </a:rPr>
              <a:t>http://dimecasts.net/Casts/ByTag/SOLID%20Principle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9509A-ADF3-4E5F-94E9-914D03412EC0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Blu">
  <a:themeElements>
    <a:clrScheme name="Equinozi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ema1">
  <a:themeElements>
    <a:clrScheme name="luistar">
      <a:dk1>
        <a:srgbClr val="112035"/>
      </a:dk1>
      <a:lt1>
        <a:srgbClr val="FFFFFF"/>
      </a:lt1>
      <a:dk2>
        <a:srgbClr val="004352"/>
      </a:dk2>
      <a:lt2>
        <a:srgbClr val="FBFBFF"/>
      </a:lt2>
      <a:accent1>
        <a:srgbClr val="00647A"/>
      </a:accent1>
      <a:accent2>
        <a:srgbClr val="EC4E20"/>
      </a:accent2>
      <a:accent3>
        <a:srgbClr val="FF9505"/>
      </a:accent3>
      <a:accent4>
        <a:srgbClr val="F2CD5D"/>
      </a:accent4>
      <a:accent5>
        <a:srgbClr val="D80032"/>
      </a:accent5>
      <a:accent6>
        <a:srgbClr val="00916E"/>
      </a:accent6>
      <a:hlink>
        <a:srgbClr val="00647A"/>
      </a:hlink>
      <a:folHlink>
        <a:srgbClr val="004352"/>
      </a:folHlink>
    </a:clrScheme>
    <a:fontScheme name="Software Engineering - theme">
      <a:majorFont>
        <a:latin typeface="Aptos Narrow"/>
        <a:ea typeface=""/>
        <a:cs typeface=""/>
      </a:majorFont>
      <a:minorFont>
        <a:latin typeface="Aptos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C3AA5EB2-D3A6-453C-BF51-9A57B4A6C020}" vid="{2D6743D8-F446-4427-B8DF-1CCEFEA1EDD7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007D52904BD74F8C5582A7107A4A2A" ma:contentTypeVersion="3" ma:contentTypeDescription="Create a new document." ma:contentTypeScope="" ma:versionID="6ad40702f405b5a6dd23013f91de1c2b">
  <xsd:schema xmlns:xsd="http://www.w3.org/2001/XMLSchema" xmlns:xs="http://www.w3.org/2001/XMLSchema" xmlns:p="http://schemas.microsoft.com/office/2006/metadata/properties" xmlns:ns2="072a0499-d33f-41cc-a7ec-627aec1c7bf1" targetNamespace="http://schemas.microsoft.com/office/2006/metadata/properties" ma:root="true" ma:fieldsID="66102c625022b671a09beaed7e6f73b5" ns2:_="">
    <xsd:import namespace="072a0499-d33f-41cc-a7ec-627aec1c7b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2a0499-d33f-41cc-a7ec-627aec1c7b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6A85C4-4A3E-45B6-A0C5-B73B9078E806}"/>
</file>

<file path=customXml/itemProps2.xml><?xml version="1.0" encoding="utf-8"?>
<ds:datastoreItem xmlns:ds="http://schemas.openxmlformats.org/officeDocument/2006/customXml" ds:itemID="{1F19B571-ABD1-4BBD-8A7F-A17B94A359B5}"/>
</file>

<file path=customXml/itemProps3.xml><?xml version="1.0" encoding="utf-8"?>
<ds:datastoreItem xmlns:ds="http://schemas.openxmlformats.org/officeDocument/2006/customXml" ds:itemID="{96FAEE12-33CC-4963-BB7C-46A688F26CAD}"/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2473</TotalTime>
  <Words>1904</Words>
  <Application>Microsoft Office PowerPoint</Application>
  <PresentationFormat>Widescreen</PresentationFormat>
  <Paragraphs>328</Paragraphs>
  <Slides>43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43</vt:i4>
      </vt:variant>
    </vt:vector>
  </HeadingPairs>
  <TitlesOfParts>
    <vt:vector size="55" baseType="lpstr">
      <vt:lpstr>ＭＳ Ｐゴシック</vt:lpstr>
      <vt:lpstr>SimSun</vt:lpstr>
      <vt:lpstr>Aptos Narrow</vt:lpstr>
      <vt:lpstr>Arial</vt:lpstr>
      <vt:lpstr>Calibri</vt:lpstr>
      <vt:lpstr>Corbel</vt:lpstr>
      <vt:lpstr>Segoe UI</vt:lpstr>
      <vt:lpstr>Wingdings 2</vt:lpstr>
      <vt:lpstr>Tema1</vt:lpstr>
      <vt:lpstr>1_Blu</vt:lpstr>
      <vt:lpstr>2_Blu</vt:lpstr>
      <vt:lpstr>1_Tema1</vt:lpstr>
      <vt:lpstr>Improving Software Design – SOLID Principles </vt:lpstr>
      <vt:lpstr>Presentazione standard di PowerPoint</vt:lpstr>
      <vt:lpstr>Software “Smells”</vt:lpstr>
      <vt:lpstr>SOLID Design Principles </vt:lpstr>
      <vt:lpstr>Single Responsibility Principle</vt:lpstr>
      <vt:lpstr>Single Responsibility Principle</vt:lpstr>
      <vt:lpstr>Single Responsibility Principle – Example</vt:lpstr>
      <vt:lpstr>Single Responsibility Principle –  Example V2</vt:lpstr>
      <vt:lpstr>Single Responsibility Principle –  Example V2</vt:lpstr>
      <vt:lpstr>Single Responsibility Principle –  Example v2</vt:lpstr>
      <vt:lpstr>Benefits of SRP</vt:lpstr>
      <vt:lpstr>Open/Closed Principle</vt:lpstr>
      <vt:lpstr>Open/Closed Principle</vt:lpstr>
      <vt:lpstr>Open/Closed Principle</vt:lpstr>
      <vt:lpstr>OCP – Example </vt:lpstr>
      <vt:lpstr>OCP – Example ct.</vt:lpstr>
      <vt:lpstr>OCP – Example cnt.</vt:lpstr>
      <vt:lpstr>OCP – Final Class Diagram</vt:lpstr>
      <vt:lpstr>OCP – Example cnt.</vt:lpstr>
      <vt:lpstr>Benefits of OCP</vt:lpstr>
      <vt:lpstr>Liskov Substitution Principle</vt:lpstr>
      <vt:lpstr>Liskov Substitution Principle (LSP)</vt:lpstr>
      <vt:lpstr>Liskov Substitution Principle (LSP)</vt:lpstr>
      <vt:lpstr>Violazione LSP</vt:lpstr>
      <vt:lpstr>Wrong Implementation Inheritance</vt:lpstr>
      <vt:lpstr>LSP – Benefits</vt:lpstr>
      <vt:lpstr>Interface Segregation Principle</vt:lpstr>
      <vt:lpstr>Interface Segregation Principle (ISP)</vt:lpstr>
      <vt:lpstr>Interface Segregation Principle (ISP)</vt:lpstr>
      <vt:lpstr>ISP – A Bad Design</vt:lpstr>
      <vt:lpstr>ISP – A Good Design</vt:lpstr>
      <vt:lpstr>ISP – Another Example</vt:lpstr>
      <vt:lpstr>ISP – Yet Another Example</vt:lpstr>
      <vt:lpstr>ISP – Another Example V2</vt:lpstr>
      <vt:lpstr>ISP – Benefits </vt:lpstr>
      <vt:lpstr>Dependency Inversion Principle</vt:lpstr>
      <vt:lpstr>Dependency Inversion Principle (DIP)</vt:lpstr>
      <vt:lpstr>Dependency Inversion Principle (DIP)</vt:lpstr>
      <vt:lpstr>DIP – Example </vt:lpstr>
      <vt:lpstr>DIP</vt:lpstr>
      <vt:lpstr>DIP</vt:lpstr>
      <vt:lpstr>DIP – Benefits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Metriche nel Software</dc:title>
  <dc:creator>Sergio</dc:creator>
  <cp:lastModifiedBy>SERGIO DI MARTINO</cp:lastModifiedBy>
  <cp:revision>111</cp:revision>
  <dcterms:created xsi:type="dcterms:W3CDTF">2010-04-21T08:22:36Z</dcterms:created>
  <dcterms:modified xsi:type="dcterms:W3CDTF">2025-11-06T07:40:13Z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2025-11-06T07:37:48Z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ec9a4b45-d3a9-478f-ad20-844b883441ff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  <property fmtid="{D5CDD505-2E9C-101B-9397-08002B2CF9AE}" pid="10" name="ContentTypeId">
    <vt:lpwstr>0x01010029007D52904BD74F8C5582A7107A4A2A</vt:lpwstr>
  </property>
</Properties>
</file>